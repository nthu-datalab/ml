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12192000" cy="6858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000000"/>
          </p15:clr>
        </p15:guide>
        <p15:guide id="2" pos="2160">
          <p15:clr>
            <a:srgbClr val="000000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2" roundtripDataSignature="AMtx7mhv3wL8V6es6X+22fqzwOWqVsoAn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3" d="100"/>
          <a:sy n="73" d="100"/>
        </p:scale>
        <p:origin x="854" y="51"/>
      </p:cViewPr>
      <p:guideLst>
        <p:guide orient="horz" pos="288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customschemas.google.com/relationships/presentationmetadata" Target="metadata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蕭伃君" userId="010bb5c6-97a1-4a05-bbcd-485d312b36ae" providerId="ADAL" clId="{551E3940-BDBC-4D0A-BD5C-6C5DE031D32A}"/>
    <pc:docChg chg="modSld">
      <pc:chgData name="蕭伃君" userId="010bb5c6-97a1-4a05-bbcd-485d312b36ae" providerId="ADAL" clId="{551E3940-BDBC-4D0A-BD5C-6C5DE031D32A}" dt="2026-10-01T05:15:08.497" v="11" actId="20577"/>
      <pc:docMkLst>
        <pc:docMk/>
      </pc:docMkLst>
      <pc:sldChg chg="modSp mod">
        <pc:chgData name="蕭伃君" userId="010bb5c6-97a1-4a05-bbcd-485d312b36ae" providerId="ADAL" clId="{551E3940-BDBC-4D0A-BD5C-6C5DE031D32A}" dt="2026-10-01T05:15:08.497" v="11" actId="20577"/>
        <pc:sldMkLst>
          <pc:docMk/>
          <pc:sldMk cId="0" sldId="256"/>
        </pc:sldMkLst>
        <pc:spChg chg="mod">
          <ac:chgData name="蕭伃君" userId="010bb5c6-97a1-4a05-bbcd-485d312b36ae" providerId="ADAL" clId="{551E3940-BDBC-4D0A-BD5C-6C5DE031D32A}" dt="2026-10-01T05:15:08.497" v="11" actId="20577"/>
          <ac:spMkLst>
            <pc:docMk/>
            <pc:sldMk cId="0" sldId="256"/>
            <ac:spMk id="43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032400" y="514350"/>
            <a:ext cx="81284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1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1" name="Google Shape;4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0" y="514350"/>
            <a:ext cx="4573588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6" name="Google Shape;4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032400" y="514350"/>
            <a:ext cx="81284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3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52" name="Google Shape;5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032400" y="514350"/>
            <a:ext cx="81284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0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58" name="Google Shape;58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032400" y="514350"/>
            <a:ext cx="81284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1607bf38590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2032400" y="514350"/>
            <a:ext cx="8128500" cy="25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4" name="Google Shape;64;g1607bf38590_0_25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1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71" name="Google Shape;71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032400" y="514350"/>
            <a:ext cx="81284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2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77" name="Google Shape;77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032400" y="514350"/>
            <a:ext cx="81284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29018e25af8_0_1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4" name="Google Shape;84;g29018e25af8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032400" y="514350"/>
            <a:ext cx="8128500" cy="25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1607bf38590_0_38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2" name="Google Shape;92;g1607bf38590_0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032400" y="514350"/>
            <a:ext cx="8128500" cy="25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29018e25af8_0_11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4" name="Google Shape;104;g29018e25af8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032400" y="514350"/>
            <a:ext cx="8128500" cy="25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4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6" name="Google Shape;116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2032400" y="514350"/>
            <a:ext cx="81284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5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22" name="Google Shape;122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2032400" y="514350"/>
            <a:ext cx="81284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29018e25af8_0_22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31" name="Google Shape;131;g29018e25af8_0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032400" y="514350"/>
            <a:ext cx="8128500" cy="25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7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1" name="Google Shape;141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032400" y="514350"/>
            <a:ext cx="81284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8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53" name="Google Shape;153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032400" y="514350"/>
            <a:ext cx="81284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9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59" name="Google Shape;159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032400" y="514350"/>
            <a:ext cx="81284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obj">
  <p:cSld name="OBJECT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1"/>
          <p:cNvSpPr txBox="1">
            <a:spLocks noGrp="1"/>
          </p:cNvSpPr>
          <p:nvPr>
            <p:ph type="title"/>
          </p:nvPr>
        </p:nvSpPr>
        <p:spPr>
          <a:xfrm>
            <a:off x="3714750" y="609676"/>
            <a:ext cx="4762500" cy="697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1"/>
          <p:cNvSpPr txBox="1">
            <a:spLocks noGrp="1"/>
          </p:cNvSpPr>
          <p:nvPr>
            <p:ph type="ftr" idx="11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1"/>
          <p:cNvSpPr txBox="1">
            <a:spLocks noGrp="1"/>
          </p:cNvSpPr>
          <p:nvPr>
            <p:ph type="dt" idx="10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1"/>
          <p:cNvSpPr txBox="1">
            <a:spLocks noGrp="1"/>
          </p:cNvSpPr>
          <p:nvPr>
            <p:ph type="sldNum" idx="12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22"/>
          <p:cNvSpPr txBox="1">
            <a:spLocks noGrp="1"/>
          </p:cNvSpPr>
          <p:nvPr>
            <p:ph type="title"/>
          </p:nvPr>
        </p:nvSpPr>
        <p:spPr>
          <a:xfrm>
            <a:off x="1578600" y="609675"/>
            <a:ext cx="8923200" cy="69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22"/>
          <p:cNvSpPr txBox="1">
            <a:spLocks noGrp="1"/>
          </p:cNvSpPr>
          <p:nvPr>
            <p:ph type="body" idx="1"/>
          </p:nvPr>
        </p:nvSpPr>
        <p:spPr>
          <a:xfrm>
            <a:off x="941854" y="1699510"/>
            <a:ext cx="10308300" cy="42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800" b="0" i="0">
                <a:solidFill>
                  <a:srgbClr val="7E7E7E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2"/>
          <p:cNvSpPr txBox="1">
            <a:spLocks noGrp="1"/>
          </p:cNvSpPr>
          <p:nvPr>
            <p:ph type="ftr" idx="11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22"/>
          <p:cNvSpPr txBox="1">
            <a:spLocks noGrp="1"/>
          </p:cNvSpPr>
          <p:nvPr>
            <p:ph type="dt" idx="10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22"/>
          <p:cNvSpPr txBox="1">
            <a:spLocks noGrp="1"/>
          </p:cNvSpPr>
          <p:nvPr>
            <p:ph type="sldNum" idx="12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3"/>
          <p:cNvSpPr txBox="1"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23"/>
          <p:cNvSpPr txBox="1">
            <a:spLocks noGrp="1"/>
          </p:cNvSpPr>
          <p:nvPr>
            <p:ph type="subTitle" idx="1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23"/>
          <p:cNvSpPr txBox="1">
            <a:spLocks noGrp="1"/>
          </p:cNvSpPr>
          <p:nvPr>
            <p:ph type="ftr" idx="11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23"/>
          <p:cNvSpPr txBox="1">
            <a:spLocks noGrp="1"/>
          </p:cNvSpPr>
          <p:nvPr>
            <p:ph type="dt" idx="10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23"/>
          <p:cNvSpPr txBox="1">
            <a:spLocks noGrp="1"/>
          </p:cNvSpPr>
          <p:nvPr>
            <p:ph type="sldNum" idx="12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>
  <p:cSld name="Two Conten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4"/>
          <p:cNvSpPr txBox="1">
            <a:spLocks noGrp="1"/>
          </p:cNvSpPr>
          <p:nvPr>
            <p:ph type="title"/>
          </p:nvPr>
        </p:nvSpPr>
        <p:spPr>
          <a:xfrm>
            <a:off x="3714750" y="609676"/>
            <a:ext cx="4762500" cy="697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24"/>
          <p:cNvSpPr txBox="1">
            <a:spLocks noGrp="1"/>
          </p:cNvSpPr>
          <p:nvPr>
            <p:ph type="body" idx="1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24"/>
          <p:cNvSpPr txBox="1">
            <a:spLocks noGrp="1"/>
          </p:cNvSpPr>
          <p:nvPr>
            <p:ph type="body" idx="2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24"/>
          <p:cNvSpPr txBox="1">
            <a:spLocks noGrp="1"/>
          </p:cNvSpPr>
          <p:nvPr>
            <p:ph type="ftr" idx="11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24"/>
          <p:cNvSpPr txBox="1">
            <a:spLocks noGrp="1"/>
          </p:cNvSpPr>
          <p:nvPr>
            <p:ph type="dt" idx="10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24"/>
          <p:cNvSpPr txBox="1">
            <a:spLocks noGrp="1"/>
          </p:cNvSpPr>
          <p:nvPr>
            <p:ph type="sldNum" idx="12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5"/>
          <p:cNvSpPr txBox="1">
            <a:spLocks noGrp="1"/>
          </p:cNvSpPr>
          <p:nvPr>
            <p:ph type="ftr" idx="11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25"/>
          <p:cNvSpPr txBox="1">
            <a:spLocks noGrp="1"/>
          </p:cNvSpPr>
          <p:nvPr>
            <p:ph type="dt" idx="10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5"/>
          <p:cNvSpPr txBox="1">
            <a:spLocks noGrp="1"/>
          </p:cNvSpPr>
          <p:nvPr>
            <p:ph type="sldNum" idx="12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0"/>
          <p:cNvSpPr txBox="1">
            <a:spLocks noGrp="1"/>
          </p:cNvSpPr>
          <p:nvPr>
            <p:ph type="title"/>
          </p:nvPr>
        </p:nvSpPr>
        <p:spPr>
          <a:xfrm>
            <a:off x="3714750" y="609676"/>
            <a:ext cx="4762500" cy="697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20"/>
          <p:cNvSpPr txBox="1">
            <a:spLocks noGrp="1"/>
          </p:cNvSpPr>
          <p:nvPr>
            <p:ph type="body" idx="1"/>
          </p:nvPr>
        </p:nvSpPr>
        <p:spPr>
          <a:xfrm>
            <a:off x="916939" y="1682261"/>
            <a:ext cx="7782559" cy="34143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00" b="0" i="0" u="none" strike="noStrike" cap="none">
                <a:solidFill>
                  <a:srgbClr val="7E7E7E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20"/>
          <p:cNvSpPr txBox="1">
            <a:spLocks noGrp="1"/>
          </p:cNvSpPr>
          <p:nvPr>
            <p:ph type="ftr" idx="11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Google Shape;9;p20"/>
          <p:cNvSpPr txBox="1">
            <a:spLocks noGrp="1"/>
          </p:cNvSpPr>
          <p:nvPr>
            <p:ph type="dt" idx="10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Google Shape;10;p20"/>
          <p:cNvSpPr txBox="1">
            <a:spLocks noGrp="1"/>
          </p:cNvSpPr>
          <p:nvPr>
            <p:ph type="sldNum" idx="12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jp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hyperlink" Target="https://commons.wikimedia.org/w/index.php?curid=109730045" TargetMode="External"/><Relationship Id="rId3" Type="http://schemas.openxmlformats.org/officeDocument/2006/relationships/hyperlink" Target="https://bookdown.org/ccwang/medical_statistics6/section-43.html" TargetMode="External"/><Relationship Id="rId7" Type="http://schemas.openxmlformats.org/officeDocument/2006/relationships/hyperlink" Target="https://en.wikipedia.org/wiki/Sensitivity_and_specificity" TargetMode="Externa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bookdown.org/ccwang/medical_statistics6/likelihood-definition.html" TargetMode="External"/><Relationship Id="rId11" Type="http://schemas.openxmlformats.org/officeDocument/2006/relationships/hyperlink" Target="https://github.com/dariyasydykova/open_projects/tree/master/ROC_animation" TargetMode="External"/><Relationship Id="rId5" Type="http://schemas.openxmlformats.org/officeDocument/2006/relationships/hyperlink" Target="https://bookdown.org/ccwang/medical_statistics6/binomial.html" TargetMode="External"/><Relationship Id="rId10" Type="http://schemas.openxmlformats.org/officeDocument/2006/relationships/hyperlink" Target="https://medium.com/acing-ai/what-is-auc-446a71810df9" TargetMode="External"/><Relationship Id="rId4" Type="http://schemas.openxmlformats.org/officeDocument/2006/relationships/hyperlink" Target="https://bookdown.org/ccwang/medical_statistics6/bernoulli.html" TargetMode="External"/><Relationship Id="rId9" Type="http://schemas.openxmlformats.org/officeDocument/2006/relationships/hyperlink" Target="https://developers.google.com/machine-learning/crash-course/classification/roc-and-auc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"/>
          <p:cNvSpPr txBox="1">
            <a:spLocks noGrp="1"/>
          </p:cNvSpPr>
          <p:nvPr>
            <p:ph type="title"/>
          </p:nvPr>
        </p:nvSpPr>
        <p:spPr>
          <a:xfrm>
            <a:off x="2251654" y="1883554"/>
            <a:ext cx="7688700" cy="31889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6200" rIns="0" bIns="0" anchor="t" anchorCtr="0">
            <a:spAutoFit/>
          </a:bodyPr>
          <a:lstStyle/>
          <a:p>
            <a:pPr marL="12065" marR="5080" lvl="0" indent="0" algn="ctr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6000" dirty="0"/>
              <a:t>Lab6: Logistic Regression and Metrics</a:t>
            </a:r>
            <a:endParaRPr sz="6000" dirty="0"/>
          </a:p>
          <a:p>
            <a:pPr marL="2383790" marR="2372995" lvl="0" indent="0" algn="ctr" rtl="0">
              <a:lnSpc>
                <a:spcPct val="125000"/>
              </a:lnSpc>
              <a:spcBef>
                <a:spcPts val="575"/>
              </a:spcBef>
              <a:spcAft>
                <a:spcPts val="0"/>
              </a:spcAft>
              <a:buSzPts val="1400"/>
              <a:buNone/>
            </a:pPr>
            <a:r>
              <a:rPr lang="en-US" sz="2400" dirty="0" err="1">
                <a:solidFill>
                  <a:srgbClr val="7E7E7E"/>
                </a:solidFill>
              </a:rPr>
              <a:t>DataLab</a:t>
            </a:r>
            <a:endParaRPr sz="2400" dirty="0">
              <a:solidFill>
                <a:srgbClr val="7E7E7E"/>
              </a:solidFill>
            </a:endParaRPr>
          </a:p>
          <a:p>
            <a:pPr marL="2383790" marR="2372995" lvl="0" indent="0" algn="ctr" rtl="0">
              <a:lnSpc>
                <a:spcPct val="125000"/>
              </a:lnSpc>
              <a:spcBef>
                <a:spcPts val="575"/>
              </a:spcBef>
              <a:spcAft>
                <a:spcPts val="0"/>
              </a:spcAft>
              <a:buSzPts val="1400"/>
              <a:buNone/>
            </a:pPr>
            <a:r>
              <a:rPr lang="en-US" sz="2400">
                <a:solidFill>
                  <a:srgbClr val="7E7E7E"/>
                </a:solidFill>
              </a:rPr>
              <a:t>2026.10.01</a:t>
            </a:r>
            <a:endParaRPr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2"/>
          <p:cNvSpPr txBox="1">
            <a:spLocks noGrp="1"/>
          </p:cNvSpPr>
          <p:nvPr>
            <p:ph type="title"/>
          </p:nvPr>
        </p:nvSpPr>
        <p:spPr>
          <a:xfrm>
            <a:off x="3714750" y="609675"/>
            <a:ext cx="6787200" cy="6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1541145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Outline</a:t>
            </a:r>
            <a:endParaRPr/>
          </a:p>
        </p:txBody>
      </p:sp>
      <p:sp>
        <p:nvSpPr>
          <p:cNvPr id="49" name="Google Shape;49;p2"/>
          <p:cNvSpPr txBox="1">
            <a:spLocks noGrp="1"/>
          </p:cNvSpPr>
          <p:nvPr>
            <p:ph type="body" idx="1"/>
          </p:nvPr>
        </p:nvSpPr>
        <p:spPr>
          <a:xfrm>
            <a:off x="916939" y="1682261"/>
            <a:ext cx="7782600" cy="250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3175" rIns="0" bIns="0" anchor="t" anchorCtr="0">
            <a:spAutoFit/>
          </a:bodyPr>
          <a:lstStyle/>
          <a:p>
            <a:pPr marL="2413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lang="en-US">
                <a:solidFill>
                  <a:srgbClr val="000000"/>
                </a:solidFill>
              </a:rPr>
              <a:t>Brief Review: Logistic Regression</a:t>
            </a:r>
            <a:endParaRPr sz="2400"/>
          </a:p>
          <a:p>
            <a:pPr marL="45720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Calibri"/>
              <a:buNone/>
            </a:pPr>
            <a:endParaRPr sz="2400"/>
          </a:p>
          <a:p>
            <a:pPr marL="241300" lvl="0" indent="-228600" algn="l" rtl="0">
              <a:lnSpc>
                <a:spcPct val="100000"/>
              </a:lnSpc>
              <a:spcBef>
                <a:spcPts val="1735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lang="en-US">
                <a:solidFill>
                  <a:srgbClr val="000000"/>
                </a:solidFill>
              </a:rPr>
              <a:t>Common Evaluation Metrics for Binary Classification</a:t>
            </a:r>
            <a:endParaRPr/>
          </a:p>
          <a:p>
            <a:pPr marL="443865" lvl="1" indent="-229235" algn="l" rtl="0">
              <a:lnSpc>
                <a:spcPct val="100000"/>
              </a:lnSpc>
              <a:spcBef>
                <a:spcPts val="735"/>
              </a:spcBef>
              <a:spcAft>
                <a:spcPts val="0"/>
              </a:spcAft>
              <a:buSzPts val="2400"/>
              <a:buFont typeface="Calibri"/>
              <a:buChar char="-"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Confusion Matrix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marL="443865" lvl="1" indent="-229235" algn="l" rtl="0">
              <a:lnSpc>
                <a:spcPct val="100000"/>
              </a:lnSpc>
              <a:spcBef>
                <a:spcPts val="710"/>
              </a:spcBef>
              <a:spcAft>
                <a:spcPts val="0"/>
              </a:spcAft>
              <a:buSzPts val="2400"/>
              <a:buFont typeface="Calibri"/>
              <a:buChar char="-"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Soft Classifiers – ROC Curve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3"/>
          <p:cNvSpPr txBox="1">
            <a:spLocks noGrp="1"/>
          </p:cNvSpPr>
          <p:nvPr>
            <p:ph type="title"/>
          </p:nvPr>
        </p:nvSpPr>
        <p:spPr>
          <a:xfrm>
            <a:off x="3714750" y="609675"/>
            <a:ext cx="6787200" cy="6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1541145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Outline</a:t>
            </a:r>
            <a:endParaRPr/>
          </a:p>
        </p:txBody>
      </p:sp>
      <p:sp>
        <p:nvSpPr>
          <p:cNvPr id="55" name="Google Shape;55;p3"/>
          <p:cNvSpPr txBox="1">
            <a:spLocks noGrp="1"/>
          </p:cNvSpPr>
          <p:nvPr>
            <p:ph type="body" idx="1"/>
          </p:nvPr>
        </p:nvSpPr>
        <p:spPr>
          <a:xfrm>
            <a:off x="916939" y="1682261"/>
            <a:ext cx="7782600" cy="250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3175" rIns="0" bIns="0" anchor="t" anchorCtr="0">
            <a:spAutoFit/>
          </a:bodyPr>
          <a:lstStyle/>
          <a:p>
            <a:pPr marL="2413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lang="en-US">
                <a:solidFill>
                  <a:srgbClr val="000000"/>
                </a:solidFill>
              </a:rPr>
              <a:t>Brief Review: Logistic Regression</a:t>
            </a:r>
            <a:endParaRPr sz="2400">
              <a:solidFill>
                <a:srgbClr val="7E7E7E"/>
              </a:solidFill>
            </a:endParaRPr>
          </a:p>
          <a:p>
            <a:pPr marL="45720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Calibri"/>
              <a:buNone/>
            </a:pPr>
            <a:endParaRPr sz="2400"/>
          </a:p>
          <a:p>
            <a:pPr marL="241300" lvl="0" indent="-228600" algn="l" rtl="0">
              <a:lnSpc>
                <a:spcPct val="100000"/>
              </a:lnSpc>
              <a:spcBef>
                <a:spcPts val="1735"/>
              </a:spcBef>
              <a:spcAft>
                <a:spcPts val="0"/>
              </a:spcAft>
              <a:buClr>
                <a:srgbClr val="7E7E7E"/>
              </a:buClr>
              <a:buSzPts val="2800"/>
              <a:buFont typeface="Arial"/>
              <a:buChar char="•"/>
            </a:pPr>
            <a:r>
              <a:rPr lang="en-US"/>
              <a:t>Common Evaluation Metrics for Binary Classification</a:t>
            </a:r>
            <a:endParaRPr/>
          </a:p>
          <a:p>
            <a:pPr marL="443865" lvl="1" indent="-229235" algn="l" rtl="0">
              <a:lnSpc>
                <a:spcPct val="100000"/>
              </a:lnSpc>
              <a:spcBef>
                <a:spcPts val="735"/>
              </a:spcBef>
              <a:spcAft>
                <a:spcPts val="0"/>
              </a:spcAft>
              <a:buClr>
                <a:srgbClr val="7E7E7E"/>
              </a:buClr>
              <a:buSzPts val="2400"/>
              <a:buFont typeface="Calibri"/>
              <a:buChar char="-"/>
            </a:pPr>
            <a:r>
              <a:rPr lang="en-US" sz="2400">
                <a:solidFill>
                  <a:srgbClr val="7E7E7E"/>
                </a:solidFill>
                <a:latin typeface="Calibri"/>
                <a:ea typeface="Calibri"/>
                <a:cs typeface="Calibri"/>
                <a:sym typeface="Calibri"/>
              </a:rPr>
              <a:t>Confusion Matrix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marL="443865" lvl="1" indent="-229235" algn="l" rtl="0">
              <a:lnSpc>
                <a:spcPct val="100000"/>
              </a:lnSpc>
              <a:spcBef>
                <a:spcPts val="710"/>
              </a:spcBef>
              <a:spcAft>
                <a:spcPts val="0"/>
              </a:spcAft>
              <a:buClr>
                <a:srgbClr val="7E7E7E"/>
              </a:buClr>
              <a:buSzPts val="2400"/>
              <a:buFont typeface="Calibri"/>
              <a:buChar char="-"/>
            </a:pPr>
            <a:r>
              <a:rPr lang="en-US" sz="2400">
                <a:solidFill>
                  <a:srgbClr val="7E7E7E"/>
                </a:solidFill>
                <a:latin typeface="Calibri"/>
                <a:ea typeface="Calibri"/>
                <a:cs typeface="Calibri"/>
                <a:sym typeface="Calibri"/>
              </a:rPr>
              <a:t>Soft Classifiers – ROC Curve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0"/>
          <p:cNvSpPr txBox="1">
            <a:spLocks noGrp="1"/>
          </p:cNvSpPr>
          <p:nvPr>
            <p:ph type="title"/>
          </p:nvPr>
        </p:nvSpPr>
        <p:spPr>
          <a:xfrm>
            <a:off x="3714750" y="609676"/>
            <a:ext cx="4762500" cy="697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24384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Logistic Regression</a:t>
            </a:r>
            <a:endParaRPr/>
          </a:p>
        </p:txBody>
      </p:sp>
      <p:pic>
        <p:nvPicPr>
          <p:cNvPr id="61" name="Google Shape;61;p1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878732" y="2129282"/>
            <a:ext cx="8460488" cy="41520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1607bf38590_0_25"/>
          <p:cNvSpPr txBox="1">
            <a:spLocks noGrp="1"/>
          </p:cNvSpPr>
          <p:nvPr>
            <p:ph type="title"/>
          </p:nvPr>
        </p:nvSpPr>
        <p:spPr>
          <a:xfrm>
            <a:off x="1473300" y="609675"/>
            <a:ext cx="9028800" cy="6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24384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Logistic Regression + Regularization</a:t>
            </a:r>
            <a:endParaRPr/>
          </a:p>
        </p:txBody>
      </p:sp>
      <p:sp>
        <p:nvSpPr>
          <p:cNvPr id="67" name="Google Shape;67;g1607bf38590_0_25"/>
          <p:cNvSpPr txBox="1">
            <a:spLocks noGrp="1"/>
          </p:cNvSpPr>
          <p:nvPr>
            <p:ph type="body" idx="1"/>
          </p:nvPr>
        </p:nvSpPr>
        <p:spPr>
          <a:xfrm>
            <a:off x="916950" y="1801750"/>
            <a:ext cx="10318200" cy="145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3175" rIns="0" bIns="0" anchor="t" anchorCtr="0">
            <a:spAutoFit/>
          </a:bodyPr>
          <a:lstStyle/>
          <a:p>
            <a:pPr marL="241300" lvl="0" indent="-203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</a:rPr>
              <a:t>把 regularization term 加到 loss 內，讓模型在學 weights 的時候，會傾向選擇比較簡單的模型。</a:t>
            </a:r>
            <a:endParaRPr sz="24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1735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8" name="Google Shape;68;g1607bf38590_0_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85113" y="3257050"/>
            <a:ext cx="3605175" cy="650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>
            <a:spLocks noGrp="1"/>
          </p:cNvSpPr>
          <p:nvPr>
            <p:ph type="title"/>
          </p:nvPr>
        </p:nvSpPr>
        <p:spPr>
          <a:xfrm>
            <a:off x="3714750" y="609675"/>
            <a:ext cx="6787200" cy="6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1541145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Outline</a:t>
            </a:r>
            <a:endParaRPr/>
          </a:p>
        </p:txBody>
      </p:sp>
      <p:sp>
        <p:nvSpPr>
          <p:cNvPr id="74" name="Google Shape;74;p11"/>
          <p:cNvSpPr txBox="1">
            <a:spLocks noGrp="1"/>
          </p:cNvSpPr>
          <p:nvPr>
            <p:ph type="body" idx="1"/>
          </p:nvPr>
        </p:nvSpPr>
        <p:spPr>
          <a:xfrm>
            <a:off x="916939" y="1682261"/>
            <a:ext cx="7782600" cy="250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3175" rIns="0" bIns="0" anchor="t" anchorCtr="0">
            <a:spAutoFit/>
          </a:bodyPr>
          <a:lstStyle/>
          <a:p>
            <a:pPr marL="2413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E7E7E"/>
              </a:buClr>
              <a:buSzPts val="2800"/>
              <a:buFont typeface="Arial"/>
              <a:buChar char="•"/>
            </a:pPr>
            <a:r>
              <a:rPr lang="en-US"/>
              <a:t>Brief Review: Logistic Regression</a:t>
            </a:r>
            <a:endParaRPr sz="2400">
              <a:solidFill>
                <a:srgbClr val="7E7E7E"/>
              </a:solidFill>
            </a:endParaRPr>
          </a:p>
          <a:p>
            <a:pPr marL="45720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Calibri"/>
              <a:buNone/>
            </a:pPr>
            <a:endParaRPr sz="2400"/>
          </a:p>
          <a:p>
            <a:pPr marL="241300" lvl="0" indent="-228600" algn="l" rtl="0">
              <a:lnSpc>
                <a:spcPct val="100000"/>
              </a:lnSpc>
              <a:spcBef>
                <a:spcPts val="1735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lang="en-US">
                <a:solidFill>
                  <a:srgbClr val="000000"/>
                </a:solidFill>
              </a:rPr>
              <a:t>Common Evaluation Metrics for Binary Classification</a:t>
            </a:r>
            <a:endParaRPr/>
          </a:p>
          <a:p>
            <a:pPr marL="443865" lvl="1" indent="-229235" algn="l" rtl="0">
              <a:lnSpc>
                <a:spcPct val="100000"/>
              </a:lnSpc>
              <a:spcBef>
                <a:spcPts val="735"/>
              </a:spcBef>
              <a:spcAft>
                <a:spcPts val="0"/>
              </a:spcAft>
              <a:buSzPts val="2400"/>
              <a:buFont typeface="Calibri"/>
              <a:buChar char="-"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Confusion Matrix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marL="443865" lvl="1" indent="-229235" algn="l" rtl="0">
              <a:lnSpc>
                <a:spcPct val="100000"/>
              </a:lnSpc>
              <a:spcBef>
                <a:spcPts val="710"/>
              </a:spcBef>
              <a:spcAft>
                <a:spcPts val="0"/>
              </a:spcAft>
              <a:buClr>
                <a:srgbClr val="7E7E7E"/>
              </a:buClr>
              <a:buSzPts val="2400"/>
              <a:buFont typeface="Calibri"/>
              <a:buChar char="-"/>
            </a:pPr>
            <a:r>
              <a:rPr lang="en-US" sz="2400">
                <a:solidFill>
                  <a:srgbClr val="7E7E7E"/>
                </a:solidFill>
                <a:latin typeface="Calibri"/>
                <a:ea typeface="Calibri"/>
                <a:cs typeface="Calibri"/>
                <a:sym typeface="Calibri"/>
              </a:rPr>
              <a:t>Soft Classifiers – ROC Curve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>
            <a:spLocks noGrp="1"/>
          </p:cNvSpPr>
          <p:nvPr>
            <p:ph type="title"/>
          </p:nvPr>
        </p:nvSpPr>
        <p:spPr>
          <a:xfrm>
            <a:off x="3714750" y="609675"/>
            <a:ext cx="6787200" cy="6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428625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Confusion Matrix</a:t>
            </a:r>
            <a:endParaRPr/>
          </a:p>
        </p:txBody>
      </p:sp>
      <p:sp>
        <p:nvSpPr>
          <p:cNvPr id="80" name="Google Shape;80;p12"/>
          <p:cNvSpPr txBox="1"/>
          <p:nvPr/>
        </p:nvSpPr>
        <p:spPr>
          <a:xfrm>
            <a:off x="916950" y="1793500"/>
            <a:ext cx="6054300" cy="298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9675" rIns="0" bIns="0" anchor="t" anchorCtr="0">
            <a:spAutoFit/>
          </a:bodyPr>
          <a:lstStyle/>
          <a:p>
            <a:pPr marL="241300" marR="203834" lvl="0" indent="-228600" algn="l" rtl="0">
              <a:lnSpc>
                <a:spcPct val="1082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lang="en-US"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It is important to know how the model make wrong prediction</a:t>
            </a:r>
            <a:endParaRPr sz="2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Arial"/>
              <a:buNone/>
            </a:pPr>
            <a:endParaRPr sz="41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41300" marR="5080" lvl="0" indent="-228600" algn="l" rtl="0">
              <a:lnSpc>
                <a:spcPct val="1082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lang="en-US"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 </a:t>
            </a:r>
            <a:r>
              <a:rPr lang="en-US" sz="2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binary classification</a:t>
            </a:r>
            <a:r>
              <a:rPr lang="en-US"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, confusion matrix is a common tool to analyze the predictions</a:t>
            </a:r>
            <a:endParaRPr sz="2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1" name="Google Shape;81;p1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344803" y="1709167"/>
            <a:ext cx="3857254" cy="42771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29018e25af8_0_1"/>
          <p:cNvSpPr txBox="1">
            <a:spLocks noGrp="1"/>
          </p:cNvSpPr>
          <p:nvPr>
            <p:ph type="title"/>
          </p:nvPr>
        </p:nvSpPr>
        <p:spPr>
          <a:xfrm>
            <a:off x="3714750" y="609675"/>
            <a:ext cx="6787200" cy="6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428625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Confusion Matrix</a:t>
            </a:r>
            <a:endParaRPr/>
          </a:p>
        </p:txBody>
      </p:sp>
      <p:sp>
        <p:nvSpPr>
          <p:cNvPr id="87" name="Google Shape;87;g29018e25af8_0_1"/>
          <p:cNvSpPr txBox="1"/>
          <p:nvPr/>
        </p:nvSpPr>
        <p:spPr>
          <a:xfrm>
            <a:off x="916950" y="1793500"/>
            <a:ext cx="5676900" cy="305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9675" rIns="0" bIns="0" anchor="t" anchorCtr="0">
            <a:spAutoFit/>
          </a:bodyPr>
          <a:lstStyle/>
          <a:p>
            <a:pPr marL="241300" marR="203833" lvl="0" indent="-228600" algn="l" rtl="0">
              <a:lnSpc>
                <a:spcPct val="1082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lang="en-US"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It is important to know how the model make wrong prediction.</a:t>
            </a:r>
            <a:endParaRPr sz="41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41300" marR="5080" lvl="0" indent="-228600" algn="l" rtl="0">
              <a:lnSpc>
                <a:spcPct val="108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lang="en-US"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e.g. </a:t>
            </a:r>
            <a:r>
              <a:rPr lang="en-US" sz="27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檢測絕症</a:t>
            </a:r>
            <a:endParaRPr sz="27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marR="5080" lvl="0" indent="-374650" algn="l" rtl="0">
              <a:lnSpc>
                <a:spcPct val="108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Calibri"/>
              <a:buChar char="-"/>
            </a:pPr>
            <a:r>
              <a:rPr lang="en-US" sz="2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寧可讓多一點人到 TP &amp; FP，也不要讓 FN 很高</a:t>
            </a:r>
            <a:endParaRPr sz="2300">
              <a:latin typeface="Calibri"/>
              <a:ea typeface="Calibri"/>
              <a:cs typeface="Calibri"/>
              <a:sym typeface="Calibri"/>
            </a:endParaRPr>
          </a:p>
          <a:p>
            <a:pPr marL="914400" marR="5080" lvl="0" indent="-381000" algn="l" rtl="0">
              <a:lnSpc>
                <a:spcPct val="108000"/>
              </a:lnSpc>
              <a:spcBef>
                <a:spcPts val="1000"/>
              </a:spcBef>
              <a:spcAft>
                <a:spcPts val="0"/>
              </a:spcAft>
              <a:buSzPts val="2400"/>
              <a:buFont typeface="Calibri"/>
              <a:buChar char="-"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i.e. TPR higher</a:t>
            </a:r>
            <a:endParaRPr sz="2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8" name="Google Shape;88;g29018e25af8_0_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018375" y="1793500"/>
            <a:ext cx="4162875" cy="3848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g29018e25af8_0_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559125" y="5093126"/>
            <a:ext cx="4714125" cy="632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g1607bf38590_0_3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018375" y="1793500"/>
            <a:ext cx="4162875" cy="3848575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g1607bf38590_0_38"/>
          <p:cNvSpPr txBox="1">
            <a:spLocks noGrp="1"/>
          </p:cNvSpPr>
          <p:nvPr>
            <p:ph type="title"/>
          </p:nvPr>
        </p:nvSpPr>
        <p:spPr>
          <a:xfrm>
            <a:off x="3714750" y="609675"/>
            <a:ext cx="6787200" cy="6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428625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Confusion Matrix</a:t>
            </a:r>
            <a:endParaRPr/>
          </a:p>
        </p:txBody>
      </p:sp>
      <p:sp>
        <p:nvSpPr>
          <p:cNvPr id="96" name="Google Shape;96;g1607bf38590_0_38"/>
          <p:cNvSpPr txBox="1"/>
          <p:nvPr/>
        </p:nvSpPr>
        <p:spPr>
          <a:xfrm>
            <a:off x="916951" y="1793500"/>
            <a:ext cx="5569200" cy="375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9675" rIns="0" bIns="0" anchor="t" anchorCtr="0">
            <a:spAutoFit/>
          </a:bodyPr>
          <a:lstStyle/>
          <a:p>
            <a:pPr marL="241300" marR="203833" lvl="0" indent="-228600" algn="l" rtl="0">
              <a:lnSpc>
                <a:spcPct val="1082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lang="en-US"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Precision(PRE)</a:t>
            </a: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 &amp;</a:t>
            </a:r>
            <a:r>
              <a:rPr lang="en-US"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Recall Rate(REC)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marL="0" marR="203834" lvl="0" indent="0" algn="l" rtl="0">
              <a:lnSpc>
                <a:spcPct val="1082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203834" lvl="0" indent="0" algn="l" rtl="0">
              <a:lnSpc>
                <a:spcPct val="1082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203834" lvl="0" indent="0" algn="l" rtl="0">
              <a:lnSpc>
                <a:spcPct val="1082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203834" lvl="0" indent="0" algn="l" rtl="0">
              <a:lnSpc>
                <a:spcPct val="1082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41300" marR="203834" lvl="0" indent="-228600" algn="l" rtl="0">
              <a:lnSpc>
                <a:spcPct val="1082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Char char="•"/>
            </a:pPr>
            <a:r>
              <a:rPr lang="en-US"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F-1 Score</a:t>
            </a:r>
            <a:endParaRPr sz="2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5080" lvl="0" indent="0" algn="l" rtl="0">
              <a:lnSpc>
                <a:spcPct val="1082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7" name="Google Shape;97;g1607bf38590_0_38"/>
          <p:cNvPicPr preferRelativeResize="0"/>
          <p:nvPr/>
        </p:nvPicPr>
        <p:blipFill rotWithShape="1">
          <a:blip r:embed="rId4">
            <a:alphaModFix/>
          </a:blip>
          <a:srcRect b="51941"/>
          <a:stretch/>
        </p:blipFill>
        <p:spPr>
          <a:xfrm>
            <a:off x="789075" y="2490975"/>
            <a:ext cx="5438599" cy="574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g1607bf38590_0_38"/>
          <p:cNvPicPr preferRelativeResize="0"/>
          <p:nvPr/>
        </p:nvPicPr>
        <p:blipFill rotWithShape="1">
          <a:blip r:embed="rId5">
            <a:alphaModFix/>
          </a:blip>
          <a:srcRect t="8248"/>
          <a:stretch/>
        </p:blipFill>
        <p:spPr>
          <a:xfrm>
            <a:off x="1233463" y="4858900"/>
            <a:ext cx="4994219" cy="690600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g1607bf38590_0_38"/>
          <p:cNvSpPr/>
          <p:nvPr/>
        </p:nvSpPr>
        <p:spPr>
          <a:xfrm>
            <a:off x="8376625" y="2773000"/>
            <a:ext cx="1190100" cy="2649000"/>
          </a:xfrm>
          <a:prstGeom prst="rect">
            <a:avLst/>
          </a:prstGeom>
          <a:solidFill>
            <a:srgbClr val="4A86E8">
              <a:alpha val="2152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g1607bf38590_0_38"/>
          <p:cNvSpPr/>
          <p:nvPr/>
        </p:nvSpPr>
        <p:spPr>
          <a:xfrm>
            <a:off x="1176600" y="2423160"/>
            <a:ext cx="4622100" cy="738900"/>
          </a:xfrm>
          <a:prstGeom prst="rect">
            <a:avLst/>
          </a:prstGeom>
          <a:noFill/>
          <a:ln w="28575" cap="flat" cmpd="sng">
            <a:solidFill>
              <a:srgbClr val="4A86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1" name="Google Shape;101;g1607bf38590_0_38"/>
          <p:cNvPicPr preferRelativeResize="0"/>
          <p:nvPr/>
        </p:nvPicPr>
        <p:blipFill rotWithShape="1">
          <a:blip r:embed="rId4">
            <a:alphaModFix/>
          </a:blip>
          <a:srcRect t="47930"/>
          <a:stretch/>
        </p:blipFill>
        <p:spPr>
          <a:xfrm>
            <a:off x="1233475" y="3291840"/>
            <a:ext cx="5438599" cy="622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" name="Google Shape;106;g29018e25af8_0_1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018375" y="1793500"/>
            <a:ext cx="4162875" cy="3848575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g29018e25af8_0_11"/>
          <p:cNvSpPr txBox="1">
            <a:spLocks noGrp="1"/>
          </p:cNvSpPr>
          <p:nvPr>
            <p:ph type="title"/>
          </p:nvPr>
        </p:nvSpPr>
        <p:spPr>
          <a:xfrm>
            <a:off x="3714750" y="609675"/>
            <a:ext cx="6787200" cy="6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428625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Confusion Matrix</a:t>
            </a:r>
            <a:endParaRPr/>
          </a:p>
        </p:txBody>
      </p:sp>
      <p:sp>
        <p:nvSpPr>
          <p:cNvPr id="108" name="Google Shape;108;g29018e25af8_0_11"/>
          <p:cNvSpPr txBox="1"/>
          <p:nvPr/>
        </p:nvSpPr>
        <p:spPr>
          <a:xfrm>
            <a:off x="916951" y="1793500"/>
            <a:ext cx="5569200" cy="375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9675" rIns="0" bIns="0" anchor="t" anchorCtr="0">
            <a:spAutoFit/>
          </a:bodyPr>
          <a:lstStyle/>
          <a:p>
            <a:pPr marL="241300" marR="203833" lvl="0" indent="-228600" algn="l" rtl="0">
              <a:lnSpc>
                <a:spcPct val="1082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lang="en-US"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Precision(PRE)</a:t>
            </a: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 &amp;</a:t>
            </a:r>
            <a:r>
              <a:rPr lang="en-US"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Recall Rate(REC)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marL="0" marR="203833" lvl="0" indent="0" algn="l" rtl="0">
              <a:lnSpc>
                <a:spcPct val="1082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203833" lvl="0" indent="0" algn="l" rtl="0">
              <a:lnSpc>
                <a:spcPct val="1082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203833" lvl="0" indent="0" algn="l" rtl="0">
              <a:lnSpc>
                <a:spcPct val="1082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203833" lvl="0" indent="0" algn="l" rtl="0">
              <a:lnSpc>
                <a:spcPct val="1082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41300" marR="203833" lvl="0" indent="-228600" algn="l" rtl="0">
              <a:lnSpc>
                <a:spcPct val="1082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Char char="•"/>
            </a:pPr>
            <a:r>
              <a:rPr lang="en-US"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F-1 Score</a:t>
            </a:r>
            <a:endParaRPr sz="2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5080" lvl="0" indent="0" algn="l" rtl="0">
              <a:lnSpc>
                <a:spcPct val="1082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9" name="Google Shape;109;g29018e25af8_0_11"/>
          <p:cNvPicPr preferRelativeResize="0"/>
          <p:nvPr/>
        </p:nvPicPr>
        <p:blipFill rotWithShape="1">
          <a:blip r:embed="rId4">
            <a:alphaModFix/>
          </a:blip>
          <a:srcRect b="51941"/>
          <a:stretch/>
        </p:blipFill>
        <p:spPr>
          <a:xfrm>
            <a:off x="789075" y="2490975"/>
            <a:ext cx="5438599" cy="574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g29018e25af8_0_11"/>
          <p:cNvPicPr preferRelativeResize="0"/>
          <p:nvPr/>
        </p:nvPicPr>
        <p:blipFill rotWithShape="1">
          <a:blip r:embed="rId5">
            <a:alphaModFix/>
          </a:blip>
          <a:srcRect t="8248"/>
          <a:stretch/>
        </p:blipFill>
        <p:spPr>
          <a:xfrm>
            <a:off x="1233463" y="4858900"/>
            <a:ext cx="4994219" cy="69060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g29018e25af8_0_11"/>
          <p:cNvSpPr/>
          <p:nvPr/>
        </p:nvSpPr>
        <p:spPr>
          <a:xfrm rot="5400000">
            <a:off x="9137175" y="2033425"/>
            <a:ext cx="1176300" cy="2649000"/>
          </a:xfrm>
          <a:prstGeom prst="rect">
            <a:avLst/>
          </a:prstGeom>
          <a:solidFill>
            <a:srgbClr val="4A86E8">
              <a:alpha val="2152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2" name="Google Shape;112;g29018e25af8_0_11"/>
          <p:cNvPicPr preferRelativeResize="0"/>
          <p:nvPr/>
        </p:nvPicPr>
        <p:blipFill rotWithShape="1">
          <a:blip r:embed="rId4">
            <a:alphaModFix/>
          </a:blip>
          <a:srcRect t="47930"/>
          <a:stretch/>
        </p:blipFill>
        <p:spPr>
          <a:xfrm>
            <a:off x="1233475" y="3291840"/>
            <a:ext cx="5438599" cy="62280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g29018e25af8_0_11"/>
          <p:cNvSpPr/>
          <p:nvPr/>
        </p:nvSpPr>
        <p:spPr>
          <a:xfrm>
            <a:off x="1176600" y="3200400"/>
            <a:ext cx="5495400" cy="738900"/>
          </a:xfrm>
          <a:prstGeom prst="rect">
            <a:avLst/>
          </a:prstGeom>
          <a:noFill/>
          <a:ln w="28575" cap="flat" cmpd="sng">
            <a:solidFill>
              <a:srgbClr val="4A86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4"/>
          <p:cNvSpPr txBox="1">
            <a:spLocks noGrp="1"/>
          </p:cNvSpPr>
          <p:nvPr>
            <p:ph type="title"/>
          </p:nvPr>
        </p:nvSpPr>
        <p:spPr>
          <a:xfrm>
            <a:off x="3714750" y="609675"/>
            <a:ext cx="6787200" cy="6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1541145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Outline</a:t>
            </a:r>
            <a:endParaRPr/>
          </a:p>
        </p:txBody>
      </p:sp>
      <p:sp>
        <p:nvSpPr>
          <p:cNvPr id="119" name="Google Shape;119;p14"/>
          <p:cNvSpPr txBox="1">
            <a:spLocks noGrp="1"/>
          </p:cNvSpPr>
          <p:nvPr>
            <p:ph type="body" idx="1"/>
          </p:nvPr>
        </p:nvSpPr>
        <p:spPr>
          <a:xfrm>
            <a:off x="916939" y="1682261"/>
            <a:ext cx="7782600" cy="250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3175" rIns="0" bIns="0" anchor="t" anchorCtr="0">
            <a:spAutoFit/>
          </a:bodyPr>
          <a:lstStyle/>
          <a:p>
            <a:pPr marL="2413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E7E7E"/>
              </a:buClr>
              <a:buSzPts val="2800"/>
              <a:buFont typeface="Arial"/>
              <a:buChar char="•"/>
            </a:pPr>
            <a:r>
              <a:rPr lang="en-US"/>
              <a:t>Brief Review: Logistic Regression</a:t>
            </a:r>
            <a:endParaRPr/>
          </a:p>
          <a:p>
            <a:pPr marL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Calibri"/>
              <a:buNone/>
            </a:pPr>
            <a:endParaRPr sz="2400"/>
          </a:p>
          <a:p>
            <a:pPr marL="241300" lvl="0" indent="-228600" algn="l" rtl="0">
              <a:lnSpc>
                <a:spcPct val="100000"/>
              </a:lnSpc>
              <a:spcBef>
                <a:spcPts val="1735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lang="en-US">
                <a:solidFill>
                  <a:srgbClr val="000000"/>
                </a:solidFill>
              </a:rPr>
              <a:t>Common Evaluation Metrics for Binary Classification</a:t>
            </a:r>
            <a:endParaRPr/>
          </a:p>
          <a:p>
            <a:pPr marL="443865" lvl="1" indent="-229235" algn="l" rtl="0">
              <a:lnSpc>
                <a:spcPct val="100000"/>
              </a:lnSpc>
              <a:spcBef>
                <a:spcPts val="735"/>
              </a:spcBef>
              <a:spcAft>
                <a:spcPts val="0"/>
              </a:spcAft>
              <a:buClr>
                <a:srgbClr val="7E7E7E"/>
              </a:buClr>
              <a:buSzPts val="2400"/>
              <a:buFont typeface="Calibri"/>
              <a:buChar char="-"/>
            </a:pPr>
            <a:r>
              <a:rPr lang="en-US" sz="2400">
                <a:solidFill>
                  <a:srgbClr val="7E7E7E"/>
                </a:solidFill>
                <a:latin typeface="Calibri"/>
                <a:ea typeface="Calibri"/>
                <a:cs typeface="Calibri"/>
                <a:sym typeface="Calibri"/>
              </a:rPr>
              <a:t>Confusion Matrix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marL="443865" lvl="1" indent="-229235" algn="l" rtl="0">
              <a:lnSpc>
                <a:spcPct val="100000"/>
              </a:lnSpc>
              <a:spcBef>
                <a:spcPts val="710"/>
              </a:spcBef>
              <a:spcAft>
                <a:spcPts val="0"/>
              </a:spcAft>
              <a:buSzPts val="2400"/>
              <a:buFont typeface="Calibri"/>
              <a:buChar char="-"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Soft Classifiers – ROC Curve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5"/>
          <p:cNvSpPr txBox="1">
            <a:spLocks noGrp="1"/>
          </p:cNvSpPr>
          <p:nvPr>
            <p:ph type="title"/>
          </p:nvPr>
        </p:nvSpPr>
        <p:spPr>
          <a:xfrm>
            <a:off x="3714750" y="609675"/>
            <a:ext cx="6787200" cy="6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1175385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ROC Curve</a:t>
            </a:r>
            <a:endParaRPr/>
          </a:p>
        </p:txBody>
      </p:sp>
      <p:sp>
        <p:nvSpPr>
          <p:cNvPr id="125" name="Google Shape;125;p15"/>
          <p:cNvSpPr txBox="1"/>
          <p:nvPr/>
        </p:nvSpPr>
        <p:spPr>
          <a:xfrm>
            <a:off x="916939" y="1793493"/>
            <a:ext cx="5910000" cy="281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9675" rIns="0" bIns="0" anchor="t" anchorCtr="0">
            <a:spAutoFit/>
          </a:bodyPr>
          <a:lstStyle/>
          <a:p>
            <a:pPr marL="241300" marR="5080" lvl="0" indent="-228600" algn="l" rtl="0">
              <a:lnSpc>
                <a:spcPct val="1082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lang="en-US"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ROC curve analyze the performance for </a:t>
            </a:r>
            <a:r>
              <a:rPr lang="en-US" sz="2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every threshold in soft classifiers</a:t>
            </a:r>
            <a:endParaRPr sz="3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41300" marR="0" lvl="0" indent="-228600" algn="l" rtl="0">
              <a:lnSpc>
                <a:spcPct val="100000"/>
              </a:lnSpc>
              <a:spcBef>
                <a:spcPts val="25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lang="en-US"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 X-axis </a:t>
            </a:r>
            <a:endParaRPr sz="2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41300" lvl="0" indent="-228600" algn="l" rtl="0">
              <a:spcBef>
                <a:spcPts val="5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 Y-axis 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6" name="Google Shape;126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551584" y="1823466"/>
            <a:ext cx="2038691" cy="4019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1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852601" y="4089324"/>
            <a:ext cx="2038700" cy="649564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15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852600" y="3058860"/>
            <a:ext cx="2038700" cy="6355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29018e25af8_0_22"/>
          <p:cNvSpPr txBox="1">
            <a:spLocks noGrp="1"/>
          </p:cNvSpPr>
          <p:nvPr>
            <p:ph type="title"/>
          </p:nvPr>
        </p:nvSpPr>
        <p:spPr>
          <a:xfrm>
            <a:off x="3714750" y="609675"/>
            <a:ext cx="6787200" cy="6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1175385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ROC Curve</a:t>
            </a:r>
            <a:endParaRPr/>
          </a:p>
        </p:txBody>
      </p:sp>
      <p:sp>
        <p:nvSpPr>
          <p:cNvPr id="134" name="Google Shape;134;g29018e25af8_0_22"/>
          <p:cNvSpPr txBox="1"/>
          <p:nvPr/>
        </p:nvSpPr>
        <p:spPr>
          <a:xfrm>
            <a:off x="916939" y="1793493"/>
            <a:ext cx="5910000" cy="281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9675" rIns="0" bIns="0" anchor="t" anchorCtr="0">
            <a:spAutoFit/>
          </a:bodyPr>
          <a:lstStyle/>
          <a:p>
            <a:pPr marL="241300" marR="5080" lvl="0" indent="-228600" algn="l" rtl="0">
              <a:lnSpc>
                <a:spcPct val="1082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lang="en-US"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ROC curve analyze the performance for </a:t>
            </a:r>
            <a:r>
              <a:rPr lang="en-US" sz="2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every threshold in soft classifiers</a:t>
            </a:r>
            <a:endParaRPr sz="3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41300" marR="0" lvl="0" indent="-228600" algn="l" rtl="0">
              <a:lnSpc>
                <a:spcPct val="100000"/>
              </a:lnSpc>
              <a:spcBef>
                <a:spcPts val="25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lang="en-US"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 X-axis </a:t>
            </a:r>
            <a:endParaRPr sz="2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41300" lvl="0" indent="-228600" algn="l" rtl="0">
              <a:spcBef>
                <a:spcPts val="5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 Y-axis 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5" name="Google Shape;135;g29018e25af8_0_2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852601" y="4089324"/>
            <a:ext cx="2038700" cy="649564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g29018e25af8_0_2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852600" y="3058860"/>
            <a:ext cx="2038700" cy="63559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g29018e25af8_0_22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091288" y="1793505"/>
            <a:ext cx="4023843" cy="4185307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g29018e25af8_0_22"/>
          <p:cNvSpPr txBox="1"/>
          <p:nvPr/>
        </p:nvSpPr>
        <p:spPr>
          <a:xfrm>
            <a:off x="5285875" y="6589400"/>
            <a:ext cx="6787200" cy="16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marR="508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By cmglee, MartinThoma - Roc-draft-xkcd-style.svg, CC BY-SA 4.0,</a:t>
            </a:r>
            <a:r>
              <a:rPr lang="en-US" sz="100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000" b="0" i="0" u="none" strike="noStrike" cap="non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https://commons.wikimedia.org/w/index.php?curid=109730045</a:t>
            </a:r>
            <a:endParaRPr sz="1000" b="0" i="0" u="none" strike="noStrike" cap="none">
              <a:solidFill>
                <a:srgbClr val="66666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3" name="Google Shape;143;p17"/>
          <p:cNvGrpSpPr/>
          <p:nvPr/>
        </p:nvGrpSpPr>
        <p:grpSpPr>
          <a:xfrm>
            <a:off x="6162350" y="1300276"/>
            <a:ext cx="5620817" cy="4965437"/>
            <a:chOff x="6392325" y="1217075"/>
            <a:chExt cx="4974174" cy="4393025"/>
          </a:xfrm>
        </p:grpSpPr>
        <p:pic>
          <p:nvPicPr>
            <p:cNvPr id="144" name="Google Shape;144;p17"/>
            <p:cNvPicPr preferRelativeResize="0"/>
            <p:nvPr/>
          </p:nvPicPr>
          <p:blipFill rotWithShape="1">
            <a:blip r:embed="rId3">
              <a:alphaModFix/>
            </a:blip>
            <a:srcRect l="1635" t="13012" r="26633" b="49509"/>
            <a:stretch/>
          </p:blipFill>
          <p:spPr>
            <a:xfrm>
              <a:off x="6392325" y="1217075"/>
              <a:ext cx="4974174" cy="2205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5" name="Google Shape;145;p17"/>
            <p:cNvPicPr preferRelativeResize="0"/>
            <p:nvPr/>
          </p:nvPicPr>
          <p:blipFill rotWithShape="1">
            <a:blip r:embed="rId3">
              <a:alphaModFix/>
            </a:blip>
            <a:srcRect l="1635" t="59169" r="26633" b="3640"/>
            <a:stretch/>
          </p:blipFill>
          <p:spPr>
            <a:xfrm>
              <a:off x="6392325" y="3422075"/>
              <a:ext cx="4974174" cy="218802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46" name="Google Shape;146;p17"/>
          <p:cNvSpPr txBox="1">
            <a:spLocks noGrp="1"/>
          </p:cNvSpPr>
          <p:nvPr>
            <p:ph type="title"/>
          </p:nvPr>
        </p:nvSpPr>
        <p:spPr>
          <a:xfrm>
            <a:off x="3714750" y="609675"/>
            <a:ext cx="6787200" cy="6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1175385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AUC</a:t>
            </a:r>
            <a:endParaRPr/>
          </a:p>
        </p:txBody>
      </p:sp>
      <p:sp>
        <p:nvSpPr>
          <p:cNvPr id="147" name="Google Shape;147;p17"/>
          <p:cNvSpPr txBox="1"/>
          <p:nvPr/>
        </p:nvSpPr>
        <p:spPr>
          <a:xfrm>
            <a:off x="916939" y="1682261"/>
            <a:ext cx="5144700" cy="102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3175" rIns="0" bIns="0" anchor="t" anchorCtr="0">
            <a:spAutoFit/>
          </a:bodyPr>
          <a:lstStyle/>
          <a:p>
            <a:pPr marL="2413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lang="en-US"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AUC</a:t>
            </a: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 (</a:t>
            </a:r>
            <a:r>
              <a:rPr lang="en-US" sz="2800" b="0" i="0" u="none" strike="noStrike" cap="none">
                <a:solidFill>
                  <a:srgbClr val="292929"/>
                </a:solidFill>
                <a:latin typeface="Calibri"/>
                <a:ea typeface="Calibri"/>
                <a:cs typeface="Calibri"/>
                <a:sym typeface="Calibri"/>
              </a:rPr>
              <a:t>Area Under the ROC Curve)</a:t>
            </a:r>
            <a:endParaRPr sz="2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15265" marR="0" lvl="0" indent="0" algn="l" rtl="0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rgbClr val="292929"/>
                </a:solidFill>
                <a:latin typeface="Calibri"/>
                <a:ea typeface="Calibri"/>
                <a:cs typeface="Calibri"/>
                <a:sym typeface="Calibri"/>
              </a:rPr>
              <a:t>-	ROC can be quantified using AUC</a:t>
            </a:r>
            <a:endParaRPr sz="2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7"/>
          <p:cNvSpPr txBox="1"/>
          <p:nvPr/>
        </p:nvSpPr>
        <p:spPr>
          <a:xfrm>
            <a:off x="7295525" y="6414525"/>
            <a:ext cx="47103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marR="508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https://developers.google.com/machine-learning/crash- course/classification/roc-and-auc https://medium.com/acing-ai/what-is-auc-446a71810df9</a:t>
            </a:r>
            <a:endParaRPr sz="1000" b="0" i="0" u="none" strike="noStrike" cap="none">
              <a:solidFill>
                <a:srgbClr val="66666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9" name="Google Shape;149;p1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749887" y="3316825"/>
            <a:ext cx="3478825" cy="277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17"/>
          <p:cNvSpPr txBox="1"/>
          <p:nvPr/>
        </p:nvSpPr>
        <p:spPr>
          <a:xfrm>
            <a:off x="9972325" y="1169396"/>
            <a:ext cx="1377900" cy="28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Random guess</a:t>
            </a:r>
            <a:endParaRPr sz="1800" b="0" i="0" u="none" strike="noStrike" cap="none">
              <a:solidFill>
                <a:schemeClr val="accent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8"/>
          <p:cNvSpPr txBox="1">
            <a:spLocks noGrp="1"/>
          </p:cNvSpPr>
          <p:nvPr>
            <p:ph type="title"/>
          </p:nvPr>
        </p:nvSpPr>
        <p:spPr>
          <a:xfrm>
            <a:off x="3714750" y="609675"/>
            <a:ext cx="6787200" cy="6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112776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Homework</a:t>
            </a:r>
            <a:endParaRPr/>
          </a:p>
        </p:txBody>
      </p:sp>
      <p:sp>
        <p:nvSpPr>
          <p:cNvPr id="156" name="Google Shape;156;p18"/>
          <p:cNvSpPr txBox="1"/>
          <p:nvPr/>
        </p:nvSpPr>
        <p:spPr>
          <a:xfrm>
            <a:off x="916950" y="1682250"/>
            <a:ext cx="9934800" cy="102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3175" rIns="0" bIns="0" anchor="t" anchorCtr="0">
            <a:spAutoFit/>
          </a:bodyPr>
          <a:lstStyle/>
          <a:p>
            <a:pPr marL="2413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lang="en-US"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Homework: Lab06</a:t>
            </a:r>
            <a:endParaRPr sz="2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43865" marR="0" lvl="1" indent="-229235" algn="l" rtl="0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Char char="-"/>
            </a:pPr>
            <a:r>
              <a:rPr lang="en-US"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Lab06: Logistic Regression, Metrics</a:t>
            </a:r>
            <a:endParaRPr sz="2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9"/>
          <p:cNvSpPr txBox="1">
            <a:spLocks noGrp="1"/>
          </p:cNvSpPr>
          <p:nvPr>
            <p:ph type="title"/>
          </p:nvPr>
        </p:nvSpPr>
        <p:spPr>
          <a:xfrm>
            <a:off x="3714750" y="609675"/>
            <a:ext cx="6787200" cy="6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124206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Reference</a:t>
            </a:r>
            <a:endParaRPr/>
          </a:p>
        </p:txBody>
      </p:sp>
      <p:sp>
        <p:nvSpPr>
          <p:cNvPr id="162" name="Google Shape;162;p19"/>
          <p:cNvSpPr txBox="1"/>
          <p:nvPr/>
        </p:nvSpPr>
        <p:spPr>
          <a:xfrm>
            <a:off x="916939" y="1720699"/>
            <a:ext cx="10343400" cy="393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5400" rIns="0" bIns="0" anchor="t" anchorCtr="0">
            <a:spAutoFit/>
          </a:bodyPr>
          <a:lstStyle/>
          <a:p>
            <a:pPr marL="241300" marR="0" lvl="0" indent="-215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2200"/>
              <a:buFont typeface="Arial"/>
              <a:buChar char="•"/>
            </a:pPr>
            <a:r>
              <a:rPr lang="en-US" sz="2200" b="0" i="0" u="sng" strike="noStrike" cap="non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https://bookdown.org/ccwang/medical_statistics6/section-43.html</a:t>
            </a:r>
            <a:endParaRPr sz="2200" b="0" i="0" u="none" strike="noStrike" cap="none">
              <a:solidFill>
                <a:srgbClr val="66666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41300" marR="0" lvl="0" indent="-215900" algn="l" rtl="0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Clr>
                <a:srgbClr val="666666"/>
              </a:buClr>
              <a:buSzPts val="2200"/>
              <a:buFont typeface="Arial"/>
              <a:buChar char="•"/>
            </a:pPr>
            <a:r>
              <a:rPr lang="en-US" sz="2200" b="0" i="0" u="sng" strike="noStrike" cap="non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https://bookdown.org/ccwang/medical_statistics6/bernoulli.html</a:t>
            </a:r>
            <a:endParaRPr sz="2200" b="0" i="0" u="none" strike="noStrike" cap="none">
              <a:solidFill>
                <a:srgbClr val="66666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41300" marR="0" lvl="0" indent="-215900" algn="l" rtl="0">
              <a:lnSpc>
                <a:spcPct val="100000"/>
              </a:lnSpc>
              <a:spcBef>
                <a:spcPts val="434"/>
              </a:spcBef>
              <a:spcAft>
                <a:spcPts val="0"/>
              </a:spcAft>
              <a:buClr>
                <a:srgbClr val="666666"/>
              </a:buClr>
              <a:buSzPts val="2200"/>
              <a:buFont typeface="Arial"/>
              <a:buChar char="•"/>
            </a:pPr>
            <a:r>
              <a:rPr lang="en-US" sz="2200" b="0" i="0" u="sng" strike="noStrike" cap="non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https://bookdown.org/ccwang/medical_statistics6/binomial.html</a:t>
            </a:r>
            <a:endParaRPr sz="2200" b="0" i="0" u="none" strike="noStrike" cap="none">
              <a:solidFill>
                <a:srgbClr val="66666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41300" marR="0" lvl="0" indent="-215900" algn="l" rtl="0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Clr>
                <a:srgbClr val="666666"/>
              </a:buClr>
              <a:buSzPts val="2200"/>
              <a:buFont typeface="Arial"/>
              <a:buChar char="•"/>
            </a:pPr>
            <a:r>
              <a:rPr lang="en-US" sz="2200" b="0" i="0" u="sng" strike="noStrike" cap="non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https://bookdown.org/ccwang/medical_statistics6/likelihood-definition.html</a:t>
            </a:r>
            <a:endParaRPr sz="2200" b="0" i="0" u="none" strike="noStrike" cap="none">
              <a:solidFill>
                <a:srgbClr val="66666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41300" marR="0" lvl="0" indent="-215900" algn="l" rtl="0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Clr>
                <a:srgbClr val="666666"/>
              </a:buClr>
              <a:buSzPts val="2200"/>
              <a:buFont typeface="Arial"/>
              <a:buChar char="•"/>
            </a:pPr>
            <a:r>
              <a:rPr lang="en-US" sz="2200" b="0" i="0" u="sng" strike="noStrike" cap="non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https://en.wikipedia.org/wiki/Sensitivity_and_specificity</a:t>
            </a:r>
            <a:endParaRPr sz="2200" b="0" i="0" u="none" strike="noStrike" cap="none">
              <a:solidFill>
                <a:srgbClr val="66666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41300" marR="0" lvl="0" indent="-215900" algn="l" rtl="0">
              <a:lnSpc>
                <a:spcPct val="100000"/>
              </a:lnSpc>
              <a:spcBef>
                <a:spcPts val="434"/>
              </a:spcBef>
              <a:spcAft>
                <a:spcPts val="0"/>
              </a:spcAft>
              <a:buClr>
                <a:srgbClr val="666666"/>
              </a:buClr>
              <a:buSzPts val="2200"/>
              <a:buFont typeface="Arial"/>
              <a:buChar char="•"/>
            </a:pPr>
            <a:r>
              <a:rPr lang="en-US" sz="2200" b="0" i="0" u="sng" strike="noStrike" cap="non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https://commons.wikimedia.org/w/index.php?curid=109730045</a:t>
            </a:r>
            <a:endParaRPr sz="2200" b="0" i="0" u="none" strike="noStrike" cap="none">
              <a:solidFill>
                <a:srgbClr val="66666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41300" marR="5080" lvl="0" indent="-215900" algn="l" rtl="0">
              <a:lnSpc>
                <a:spcPct val="95833"/>
              </a:lnSpc>
              <a:spcBef>
                <a:spcPts val="980"/>
              </a:spcBef>
              <a:spcAft>
                <a:spcPts val="0"/>
              </a:spcAft>
              <a:buClr>
                <a:srgbClr val="666666"/>
              </a:buClr>
              <a:buSzPts val="2200"/>
              <a:buFont typeface="Arial"/>
              <a:buChar char="•"/>
            </a:pPr>
            <a:r>
              <a:rPr lang="en-US" sz="2200" b="0" i="0" u="sng" strike="noStrike" cap="non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  <a:hlinkClick r:id="rId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https://developers.google.com/machine-learning/crash-course/classification/roc- and-auc</a:t>
            </a:r>
            <a:endParaRPr sz="2200" b="0" i="0" u="none" strike="noStrike" cap="none">
              <a:solidFill>
                <a:srgbClr val="66666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41300" marR="0" lvl="0" indent="-215900" algn="l" rtl="0">
              <a:lnSpc>
                <a:spcPct val="100000"/>
              </a:lnSpc>
              <a:spcBef>
                <a:spcPts val="445"/>
              </a:spcBef>
              <a:spcAft>
                <a:spcPts val="0"/>
              </a:spcAft>
              <a:buClr>
                <a:srgbClr val="666666"/>
              </a:buClr>
              <a:buSzPts val="2200"/>
              <a:buFont typeface="Arial"/>
              <a:buChar char="•"/>
            </a:pPr>
            <a:r>
              <a:rPr lang="en-US" sz="2200" b="0" i="0" u="sng" strike="noStrike" cap="non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https://medium.com/acing-ai/what-is-auc-446a71810df9</a:t>
            </a:r>
            <a:endParaRPr sz="2200" b="0" i="0" u="none" strike="noStrike" cap="none">
              <a:solidFill>
                <a:srgbClr val="66666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41300" marR="0" lvl="0" indent="-215900" algn="l" rtl="0">
              <a:lnSpc>
                <a:spcPct val="100000"/>
              </a:lnSpc>
              <a:spcBef>
                <a:spcPts val="434"/>
              </a:spcBef>
              <a:spcAft>
                <a:spcPts val="0"/>
              </a:spcAft>
              <a:buClr>
                <a:srgbClr val="666666"/>
              </a:buClr>
              <a:buSzPts val="2200"/>
              <a:buFont typeface="Arial"/>
              <a:buChar char="•"/>
            </a:pPr>
            <a:r>
              <a:rPr lang="en-US" sz="2200" b="0" i="0" u="sng" strike="noStrike" cap="non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  <a:hlinkClick r:id="rId11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https://github.com/dariyasydykova/open_projects/tree/master/ROC_animation</a:t>
            </a:r>
            <a:endParaRPr sz="2200" b="0" i="0" u="none" strike="noStrike" cap="none">
              <a:solidFill>
                <a:srgbClr val="66666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446</Words>
  <Application>Microsoft Office PowerPoint</Application>
  <PresentationFormat>寬螢幕</PresentationFormat>
  <Paragraphs>80</Paragraphs>
  <Slides>16</Slides>
  <Notes>16</Notes>
  <HiddenSlides>0</HiddenSlides>
  <MMClips>0</MMClips>
  <ScaleCrop>false</ScaleCrop>
  <HeadingPairs>
    <vt:vector size="6" baseType="variant">
      <vt:variant>
        <vt:lpstr>使用字型</vt:lpstr>
      </vt:variant>
      <vt:variant>
        <vt:i4>2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Lab6: Logistic Regression and Metrics DataLab 2026.10.01</vt:lpstr>
      <vt:lpstr>Outline</vt:lpstr>
      <vt:lpstr>Outline</vt:lpstr>
      <vt:lpstr>Logistic Regression</vt:lpstr>
      <vt:lpstr>Logistic Regression + Regularization</vt:lpstr>
      <vt:lpstr>Outline</vt:lpstr>
      <vt:lpstr>Confusion Matrix</vt:lpstr>
      <vt:lpstr>Confusion Matrix</vt:lpstr>
      <vt:lpstr>Confusion Matrix</vt:lpstr>
      <vt:lpstr>Confusion Matrix</vt:lpstr>
      <vt:lpstr>Outline</vt:lpstr>
      <vt:lpstr>ROC Curve</vt:lpstr>
      <vt:lpstr>ROC Curve</vt:lpstr>
      <vt:lpstr>AUC</vt:lpstr>
      <vt:lpstr>Homework</vt:lpstr>
      <vt:lpstr>Reference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'' ''</dc:creator>
  <cp:lastModifiedBy>蕭伃君</cp:lastModifiedBy>
  <cp:revision>1</cp:revision>
  <dcterms:created xsi:type="dcterms:W3CDTF">2022-10-04T16:44:41Z</dcterms:created>
  <dcterms:modified xsi:type="dcterms:W3CDTF">2026-10-01T05:15:09Z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2021-10-13T00:00:00Z</vt:filetime>
  </property>
  <property fmtid="{D5CDD505-2E9C-101B-9397-08002B2CF9AE}" pid="3" name="Creator">
    <vt:lpwstr>適用於 Microsoft 365 的 Microsoft® PowerPoint®</vt:lpwstr>
  </property>
  <property fmtid="{D5CDD505-2E9C-101B-9397-08002B2CF9AE}" pid="4" name="LastSaved">
    <vt:filetime>2022-10-04T00:00:00Z</vt:filetime>
  </property>
  <property fmtid="{D5CDD505-2E9C-101B-9397-08002B2CF9AE}" pid="5" name="Producer">
    <vt:lpwstr>適用於 Microsoft 365 的 Microsoft® PowerPoint®</vt:lpwstr>
  </property>
</Properties>
</file>