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3004800" cy="9753600"/>
  <p:notesSz cx="130048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94630"/>
  </p:normalViewPr>
  <p:slideViewPr>
    <p:cSldViewPr>
      <p:cViewPr>
        <p:scale>
          <a:sx n="83" d="100"/>
          <a:sy n="83" d="100"/>
        </p:scale>
        <p:origin x="1416" y="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75360" y="3023616"/>
            <a:ext cx="1105408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50720" y="5462016"/>
            <a:ext cx="910336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8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8890" y="4237470"/>
            <a:ext cx="8266296" cy="493514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50240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697472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46971" y="654248"/>
            <a:ext cx="10910857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334543" y="2842155"/>
            <a:ext cx="6335712" cy="2476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21632" y="9070848"/>
            <a:ext cx="416153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50240" y="9070848"/>
            <a:ext cx="299110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63456" y="9070848"/>
            <a:ext cx="299110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kavita-ganesan.com/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lilianweng.github.i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lilianweng.github.io/lil-log/2017/10/15/learning-word-embedding.html" TargetMode="External"/><Relationship Id="rId2" Type="http://schemas.openxmlformats.org/officeDocument/2006/relationships/hyperlink" Target="https://ruder.io/word-embeddings-softmax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apers.nips.cc/paper/5165-learning-word-embeddings-efficiently-with-" TargetMode="External"/><Relationship Id="rId5" Type="http://schemas.openxmlformats.org/officeDocument/2006/relationships/hyperlink" Target="http://proceedings.mlr.press/v9/gutmann10a/gutmann10a.pdf" TargetMode="External"/><Relationship Id="rId4" Type="http://schemas.openxmlformats.org/officeDocument/2006/relationships/hyperlink" Target="https://aegis4048.github.io/optimize_computational_efficiency_of_skip-gram_with_negative_sampl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body" idx="1"/>
          </p:nvPr>
        </p:nvSpPr>
        <p:spPr>
          <a:xfrm>
            <a:off x="3334543" y="3673457"/>
            <a:ext cx="6335712" cy="12033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22960" marR="5080" indent="-810895" algn="ctr">
              <a:lnSpc>
                <a:spcPct val="101000"/>
              </a:lnSpc>
            </a:pPr>
            <a:r>
              <a:rPr spc="-70" dirty="0"/>
              <a:t>Word2Vec</a:t>
            </a:r>
            <a:endParaRPr spc="65" dirty="0"/>
          </a:p>
        </p:txBody>
      </p:sp>
      <p:sp>
        <p:nvSpPr>
          <p:cNvPr id="3" name="object 3"/>
          <p:cNvSpPr txBox="1"/>
          <p:nvPr/>
        </p:nvSpPr>
        <p:spPr>
          <a:xfrm>
            <a:off x="4075090" y="5966324"/>
            <a:ext cx="4855210" cy="1549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22000"/>
              </a:lnSpc>
              <a:spcBef>
                <a:spcPts val="95"/>
              </a:spcBef>
            </a:pPr>
            <a:r>
              <a:rPr sz="2050" dirty="0">
                <a:latin typeface="Lucida Sans"/>
                <a:cs typeface="Lucida Sans"/>
              </a:rPr>
              <a:t>Department</a:t>
            </a:r>
            <a:r>
              <a:rPr sz="2050" spc="320" dirty="0">
                <a:latin typeface="Lucida Sans"/>
                <a:cs typeface="Lucida Sans"/>
              </a:rPr>
              <a:t> </a:t>
            </a:r>
            <a:r>
              <a:rPr sz="2050" spc="70" dirty="0">
                <a:latin typeface="Lucida Sans"/>
                <a:cs typeface="Lucida Sans"/>
              </a:rPr>
              <a:t>of</a:t>
            </a:r>
            <a:r>
              <a:rPr sz="2050" spc="330" dirty="0">
                <a:latin typeface="Lucida Sans"/>
                <a:cs typeface="Lucida Sans"/>
              </a:rPr>
              <a:t> </a:t>
            </a:r>
            <a:r>
              <a:rPr sz="2050" dirty="0">
                <a:latin typeface="Lucida Sans"/>
                <a:cs typeface="Lucida Sans"/>
              </a:rPr>
              <a:t>Computer</a:t>
            </a:r>
            <a:r>
              <a:rPr sz="2050" spc="330" dirty="0">
                <a:latin typeface="Lucida Sans"/>
                <a:cs typeface="Lucida Sans"/>
              </a:rPr>
              <a:t> </a:t>
            </a:r>
            <a:r>
              <a:rPr sz="2050" spc="45" dirty="0">
                <a:latin typeface="Lucida Sans"/>
                <a:cs typeface="Lucida Sans"/>
              </a:rPr>
              <a:t>Science, </a:t>
            </a:r>
            <a:r>
              <a:rPr sz="2050" dirty="0">
                <a:latin typeface="Lucida Sans"/>
                <a:cs typeface="Lucida Sans"/>
              </a:rPr>
              <a:t>National</a:t>
            </a:r>
            <a:r>
              <a:rPr sz="2050" spc="30" dirty="0">
                <a:latin typeface="Lucida Sans"/>
                <a:cs typeface="Lucida Sans"/>
              </a:rPr>
              <a:t> </a:t>
            </a:r>
            <a:r>
              <a:rPr sz="2050" dirty="0">
                <a:latin typeface="Lucida Sans"/>
                <a:cs typeface="Lucida Sans"/>
              </a:rPr>
              <a:t>Tsing</a:t>
            </a:r>
            <a:r>
              <a:rPr sz="2050" spc="35" dirty="0">
                <a:latin typeface="Lucida Sans"/>
                <a:cs typeface="Lucida Sans"/>
              </a:rPr>
              <a:t> </a:t>
            </a:r>
            <a:r>
              <a:rPr sz="2050" spc="50" dirty="0">
                <a:latin typeface="Lucida Sans"/>
                <a:cs typeface="Lucida Sans"/>
              </a:rPr>
              <a:t>Hua</a:t>
            </a:r>
            <a:r>
              <a:rPr sz="2050" spc="40" dirty="0">
                <a:latin typeface="Lucida Sans"/>
                <a:cs typeface="Lucida Sans"/>
              </a:rPr>
              <a:t> </a:t>
            </a:r>
            <a:r>
              <a:rPr sz="2050" dirty="0">
                <a:latin typeface="Lucida Sans"/>
                <a:cs typeface="Lucida Sans"/>
              </a:rPr>
              <a:t>University,</a:t>
            </a:r>
            <a:r>
              <a:rPr sz="2050" spc="40" dirty="0">
                <a:latin typeface="Lucida Sans"/>
                <a:cs typeface="Lucida Sans"/>
              </a:rPr>
              <a:t> </a:t>
            </a:r>
            <a:r>
              <a:rPr sz="2050" spc="-10" dirty="0">
                <a:latin typeface="Lucida Sans"/>
                <a:cs typeface="Lucida Sans"/>
              </a:rPr>
              <a:t>Taiwan</a:t>
            </a:r>
            <a:endParaRPr sz="20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1125"/>
              </a:spcBef>
            </a:pPr>
            <a:endParaRPr sz="2050">
              <a:latin typeface="Lucida Sans"/>
              <a:cs typeface="Lucida Sans"/>
            </a:endParaRPr>
          </a:p>
          <a:p>
            <a:pPr algn="ctr">
              <a:lnSpc>
                <a:spcPct val="100000"/>
              </a:lnSpc>
            </a:pPr>
            <a:r>
              <a:rPr sz="2050" spc="50" dirty="0">
                <a:latin typeface="Lucida Sans"/>
                <a:cs typeface="Lucida Sans"/>
              </a:rPr>
              <a:t>Deep</a:t>
            </a:r>
            <a:r>
              <a:rPr sz="2050" spc="40" dirty="0">
                <a:latin typeface="Lucida Sans"/>
                <a:cs typeface="Lucida Sans"/>
              </a:rPr>
              <a:t> </a:t>
            </a:r>
            <a:r>
              <a:rPr sz="2050" spc="-10" dirty="0">
                <a:latin typeface="Lucida Sans"/>
                <a:cs typeface="Lucida Sans"/>
              </a:rPr>
              <a:t>Learning</a:t>
            </a:r>
            <a:endParaRPr sz="205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70075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Word</a:t>
            </a:r>
            <a:r>
              <a:rPr spc="-380" dirty="0"/>
              <a:t> </a:t>
            </a:r>
            <a:r>
              <a:rPr spc="-10" dirty="0"/>
              <a:t>embedding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600" y="2608658"/>
            <a:ext cx="10598150" cy="6112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834" indent="-445134">
              <a:lnSpc>
                <a:spcPct val="100000"/>
              </a:lnSpc>
              <a:spcBef>
                <a:spcPts val="100"/>
              </a:spcBef>
              <a:buSzPct val="120312"/>
              <a:buChar char="•"/>
              <a:tabLst>
                <a:tab pos="457834" algn="l"/>
              </a:tabLst>
            </a:pPr>
            <a:r>
              <a:rPr sz="3200" dirty="0">
                <a:latin typeface="Calibri"/>
                <a:cs typeface="Calibri"/>
              </a:rPr>
              <a:t>How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represent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words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machine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learning?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10"/>
              </a:spcBef>
              <a:buFont typeface="Calibri"/>
              <a:buChar char="•"/>
            </a:pPr>
            <a:endParaRPr sz="3200">
              <a:latin typeface="Calibri"/>
              <a:cs typeface="Calibri"/>
            </a:endParaRPr>
          </a:p>
          <a:p>
            <a:pPr marL="355600" algn="ctr">
              <a:lnSpc>
                <a:spcPct val="100000"/>
              </a:lnSpc>
            </a:pPr>
            <a:r>
              <a:rPr sz="3700" i="1" dirty="0">
                <a:solidFill>
                  <a:srgbClr val="0076BA"/>
                </a:solidFill>
                <a:latin typeface="Times New Roman"/>
                <a:cs typeface="Times New Roman"/>
              </a:rPr>
              <a:t>My</a:t>
            </a:r>
            <a:r>
              <a:rPr sz="3700" i="1" spc="310" dirty="0">
                <a:solidFill>
                  <a:srgbClr val="0076BA"/>
                </a:solidFill>
                <a:latin typeface="Times New Roman"/>
                <a:cs typeface="Times New Roman"/>
              </a:rPr>
              <a:t> </a:t>
            </a:r>
            <a:r>
              <a:rPr sz="3700" i="1" dirty="0">
                <a:solidFill>
                  <a:srgbClr val="0076BA"/>
                </a:solidFill>
                <a:latin typeface="Times New Roman"/>
                <a:cs typeface="Times New Roman"/>
              </a:rPr>
              <a:t>favorite</a:t>
            </a:r>
            <a:r>
              <a:rPr sz="3700" i="1" spc="310" dirty="0">
                <a:solidFill>
                  <a:srgbClr val="0076BA"/>
                </a:solidFill>
                <a:latin typeface="Times New Roman"/>
                <a:cs typeface="Times New Roman"/>
              </a:rPr>
              <a:t> </a:t>
            </a:r>
            <a:r>
              <a:rPr sz="3700" i="1" dirty="0">
                <a:solidFill>
                  <a:srgbClr val="0076BA"/>
                </a:solidFill>
                <a:latin typeface="Times New Roman"/>
                <a:cs typeface="Times New Roman"/>
              </a:rPr>
              <a:t>pet</a:t>
            </a:r>
            <a:r>
              <a:rPr sz="3700" i="1" spc="330" dirty="0">
                <a:solidFill>
                  <a:srgbClr val="0076BA"/>
                </a:solidFill>
                <a:latin typeface="Times New Roman"/>
                <a:cs typeface="Times New Roman"/>
              </a:rPr>
              <a:t> </a:t>
            </a:r>
            <a:r>
              <a:rPr sz="3700" i="1" dirty="0">
                <a:solidFill>
                  <a:srgbClr val="0076BA"/>
                </a:solidFill>
                <a:latin typeface="Times New Roman"/>
                <a:cs typeface="Times New Roman"/>
              </a:rPr>
              <a:t>is</a:t>
            </a:r>
            <a:r>
              <a:rPr sz="3700" i="1" spc="310" dirty="0">
                <a:solidFill>
                  <a:srgbClr val="0076BA"/>
                </a:solidFill>
                <a:latin typeface="Times New Roman"/>
                <a:cs typeface="Times New Roman"/>
              </a:rPr>
              <a:t> </a:t>
            </a:r>
            <a:r>
              <a:rPr sz="3700" i="1" dirty="0">
                <a:solidFill>
                  <a:srgbClr val="0076BA"/>
                </a:solidFill>
                <a:latin typeface="Times New Roman"/>
                <a:cs typeface="Times New Roman"/>
              </a:rPr>
              <a:t>cat</a:t>
            </a:r>
            <a:r>
              <a:rPr sz="3700" i="1" spc="-310" dirty="0">
                <a:solidFill>
                  <a:srgbClr val="0076BA"/>
                </a:solidFill>
                <a:latin typeface="Times New Roman"/>
                <a:cs typeface="Times New Roman"/>
              </a:rPr>
              <a:t> </a:t>
            </a:r>
            <a:r>
              <a:rPr sz="3700" spc="-310" dirty="0">
                <a:solidFill>
                  <a:srgbClr val="0076BA"/>
                </a:solidFill>
                <a:latin typeface="Lucida Sans Unicode"/>
                <a:cs typeface="Lucida Sans Unicode"/>
              </a:rPr>
              <a:t>.</a:t>
            </a:r>
            <a:endParaRPr sz="3700">
              <a:latin typeface="Lucida Sans Unicode"/>
              <a:cs typeface="Lucida Sans Unicode"/>
            </a:endParaRPr>
          </a:p>
          <a:p>
            <a:pPr marL="901700" marR="5080" lvl="1" indent="-444500">
              <a:lnSpc>
                <a:spcPct val="94400"/>
              </a:lnSpc>
              <a:spcBef>
                <a:spcPts val="2265"/>
              </a:spcBef>
              <a:buSzPct val="145312"/>
              <a:buChar char="-"/>
              <a:tabLst>
                <a:tab pos="901700" algn="l"/>
              </a:tabLst>
            </a:pPr>
            <a:r>
              <a:rPr sz="3200" spc="-35" dirty="0">
                <a:latin typeface="Calibri"/>
                <a:cs typeface="Calibri"/>
              </a:rPr>
              <a:t>Treat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words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discrete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atomic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symbols,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therefore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‘cat’ </a:t>
            </a:r>
            <a:r>
              <a:rPr sz="3200" dirty="0">
                <a:latin typeface="Calibri"/>
                <a:cs typeface="Calibri"/>
              </a:rPr>
              <a:t>may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represented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‘1’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‘pet’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‘2.’</a:t>
            </a:r>
            <a:endParaRPr sz="3200">
              <a:latin typeface="Calibri"/>
              <a:cs typeface="Calibri"/>
            </a:endParaRPr>
          </a:p>
          <a:p>
            <a:pPr marL="901700" marR="455930" lvl="1" indent="-444500">
              <a:lnSpc>
                <a:spcPct val="97900"/>
              </a:lnSpc>
              <a:spcBef>
                <a:spcPts val="2925"/>
              </a:spcBef>
              <a:buSzPct val="145312"/>
              <a:buChar char="-"/>
              <a:tabLst>
                <a:tab pos="901700" algn="l"/>
              </a:tabLst>
            </a:pPr>
            <a:r>
              <a:rPr sz="3200" spc="-40" dirty="0">
                <a:latin typeface="Calibri"/>
                <a:cs typeface="Calibri"/>
              </a:rPr>
              <a:t>However,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this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embedding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includes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no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semantics.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Tasks </a:t>
            </a:r>
            <a:r>
              <a:rPr sz="3200" dirty="0">
                <a:latin typeface="Calibri"/>
                <a:cs typeface="Calibri"/>
              </a:rPr>
              <a:t>learning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from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this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representation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causes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models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hard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to </a:t>
            </a:r>
            <a:r>
              <a:rPr sz="3200" spc="-10" dirty="0">
                <a:latin typeface="Calibri"/>
                <a:cs typeface="Calibri"/>
              </a:rPr>
              <a:t>train.</a:t>
            </a:r>
            <a:endParaRPr sz="3200">
              <a:latin typeface="Calibri"/>
              <a:cs typeface="Calibri"/>
            </a:endParaRPr>
          </a:p>
          <a:p>
            <a:pPr marL="901065" lvl="1" indent="-443865">
              <a:lnSpc>
                <a:spcPct val="100000"/>
              </a:lnSpc>
              <a:spcBef>
                <a:spcPts val="2810"/>
              </a:spcBef>
              <a:buSzPct val="145312"/>
              <a:buChar char="-"/>
              <a:tabLst>
                <a:tab pos="901065" algn="l"/>
              </a:tabLst>
            </a:pPr>
            <a:r>
              <a:rPr sz="3200" spc="-10" dirty="0">
                <a:latin typeface="Calibri"/>
                <a:cs typeface="Calibri"/>
              </a:rPr>
              <a:t>Better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solutions?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70075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Word</a:t>
            </a:r>
            <a:r>
              <a:rPr spc="-380" dirty="0"/>
              <a:t> </a:t>
            </a:r>
            <a:r>
              <a:rPr spc="-10" dirty="0"/>
              <a:t>embedding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600" y="2361665"/>
            <a:ext cx="8670925" cy="4911725"/>
          </a:xfrm>
          <a:prstGeom prst="rect">
            <a:avLst/>
          </a:prstGeom>
        </p:spPr>
        <p:txBody>
          <a:bodyPr vert="horz" wrap="square" lIns="0" tIns="259715" rIns="0" bIns="0" rtlCol="0">
            <a:spAutoFit/>
          </a:bodyPr>
          <a:lstStyle/>
          <a:p>
            <a:pPr marL="457834" indent="-445134">
              <a:lnSpc>
                <a:spcPct val="100000"/>
              </a:lnSpc>
              <a:spcBef>
                <a:spcPts val="2045"/>
              </a:spcBef>
              <a:buSzPct val="120312"/>
              <a:buChar char="•"/>
              <a:tabLst>
                <a:tab pos="457834" algn="l"/>
              </a:tabLst>
            </a:pPr>
            <a:r>
              <a:rPr sz="3200" dirty="0">
                <a:latin typeface="Calibri"/>
                <a:cs typeface="Calibri"/>
              </a:rPr>
              <a:t>Intuition: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Modeling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relationships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between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words.</a:t>
            </a:r>
            <a:endParaRPr sz="3200">
              <a:latin typeface="Calibri"/>
              <a:cs typeface="Calibri"/>
            </a:endParaRPr>
          </a:p>
          <a:p>
            <a:pPr marL="901065" lvl="1" indent="-443865">
              <a:lnSpc>
                <a:spcPct val="100000"/>
              </a:lnSpc>
              <a:spcBef>
                <a:spcPts val="2810"/>
              </a:spcBef>
              <a:buSzPct val="145312"/>
              <a:buChar char="-"/>
              <a:tabLst>
                <a:tab pos="901065" algn="l"/>
              </a:tabLst>
            </a:pPr>
            <a:r>
              <a:rPr sz="3200" dirty="0">
                <a:latin typeface="Calibri"/>
                <a:cs typeface="Calibri"/>
              </a:rPr>
              <a:t>Semantics</a:t>
            </a:r>
            <a:r>
              <a:rPr sz="3200" spc="-1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Similarity</a:t>
            </a:r>
            <a:endParaRPr sz="32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00"/>
              </a:spcBef>
              <a:buFont typeface="Calibri"/>
              <a:buChar char="-"/>
            </a:pPr>
            <a:endParaRPr sz="3200">
              <a:latin typeface="Calibri"/>
              <a:cs typeface="Calibri"/>
            </a:endParaRPr>
          </a:p>
          <a:p>
            <a:pPr marL="1789430" lvl="2" indent="-443230">
              <a:lnSpc>
                <a:spcPct val="100000"/>
              </a:lnSpc>
              <a:buSzPct val="79687"/>
              <a:buFont typeface="Microsoft Sans Serif"/>
              <a:buChar char="◉"/>
              <a:tabLst>
                <a:tab pos="1789430" algn="l"/>
              </a:tabLst>
            </a:pPr>
            <a:r>
              <a:rPr sz="3200" dirty="0">
                <a:latin typeface="Calibri"/>
                <a:cs typeface="Calibri"/>
              </a:rPr>
              <a:t>CBOW</a:t>
            </a:r>
            <a:r>
              <a:rPr sz="3200" spc="-1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(Continuous</a:t>
            </a:r>
            <a:r>
              <a:rPr sz="3200" spc="-13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Bag-</a:t>
            </a:r>
            <a:r>
              <a:rPr sz="3200" spc="-40" dirty="0">
                <a:latin typeface="Calibri"/>
                <a:cs typeface="Calibri"/>
              </a:rPr>
              <a:t>of-</a:t>
            </a:r>
            <a:r>
              <a:rPr sz="3200" spc="-20" dirty="0">
                <a:latin typeface="Calibri"/>
                <a:cs typeface="Calibri"/>
              </a:rPr>
              <a:t>Words</a:t>
            </a:r>
            <a:r>
              <a:rPr sz="3200" spc="-13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model),</a:t>
            </a:r>
            <a:endParaRPr sz="320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spcBef>
                <a:spcPts val="355"/>
              </a:spcBef>
              <a:buFont typeface="Microsoft Sans Serif"/>
              <a:buChar char="◉"/>
            </a:pPr>
            <a:endParaRPr sz="3200">
              <a:latin typeface="Calibri"/>
              <a:cs typeface="Calibri"/>
            </a:endParaRPr>
          </a:p>
          <a:p>
            <a:pPr marL="1789430" lvl="2" indent="-443230">
              <a:lnSpc>
                <a:spcPct val="100000"/>
              </a:lnSpc>
              <a:buSzPct val="79687"/>
              <a:buFont typeface="Microsoft Sans Serif"/>
              <a:buChar char="◉"/>
              <a:tabLst>
                <a:tab pos="1789430" algn="l"/>
              </a:tabLst>
            </a:pPr>
            <a:r>
              <a:rPr sz="3200" spc="-10" dirty="0">
                <a:latin typeface="Calibri"/>
                <a:cs typeface="Calibri"/>
              </a:rPr>
              <a:t>Skip-</a:t>
            </a:r>
            <a:r>
              <a:rPr sz="3200" spc="-20" dirty="0">
                <a:latin typeface="Calibri"/>
                <a:cs typeface="Calibri"/>
              </a:rPr>
              <a:t>Gram</a:t>
            </a:r>
            <a:endParaRPr sz="3200">
              <a:latin typeface="Calibri"/>
              <a:cs typeface="Calibri"/>
            </a:endParaRPr>
          </a:p>
          <a:p>
            <a:pPr marL="901065" lvl="1" indent="-443865">
              <a:lnSpc>
                <a:spcPct val="100000"/>
              </a:lnSpc>
              <a:spcBef>
                <a:spcPts val="2770"/>
              </a:spcBef>
              <a:buSzPct val="145312"/>
              <a:buChar char="-"/>
              <a:tabLst>
                <a:tab pos="901065" algn="l"/>
              </a:tabLst>
            </a:pPr>
            <a:r>
              <a:rPr sz="3200" spc="-10" dirty="0">
                <a:latin typeface="Calibri"/>
                <a:cs typeface="Calibri"/>
              </a:rPr>
              <a:t>Grammar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/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Syntax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09065">
              <a:lnSpc>
                <a:spcPct val="100000"/>
              </a:lnSpc>
              <a:spcBef>
                <a:spcPts val="100"/>
              </a:spcBef>
            </a:pPr>
            <a:r>
              <a:rPr dirty="0"/>
              <a:t>CBOW</a:t>
            </a:r>
            <a:r>
              <a:rPr spc="-85" dirty="0"/>
              <a:t> </a:t>
            </a:r>
            <a:r>
              <a:rPr dirty="0"/>
              <a:t>&amp;</a:t>
            </a:r>
            <a:r>
              <a:rPr spc="-80" dirty="0"/>
              <a:t> </a:t>
            </a:r>
            <a:r>
              <a:rPr spc="-25" dirty="0"/>
              <a:t>Skip-</a:t>
            </a:r>
            <a:r>
              <a:rPr spc="-20" dirty="0"/>
              <a:t>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600" y="2361665"/>
            <a:ext cx="9569450" cy="2284095"/>
          </a:xfrm>
          <a:prstGeom prst="rect">
            <a:avLst/>
          </a:prstGeom>
        </p:spPr>
        <p:txBody>
          <a:bodyPr vert="horz" wrap="square" lIns="0" tIns="259715" rIns="0" bIns="0" rtlCol="0">
            <a:spAutoFit/>
          </a:bodyPr>
          <a:lstStyle/>
          <a:p>
            <a:pPr marL="457834" indent="-445134">
              <a:lnSpc>
                <a:spcPct val="100000"/>
              </a:lnSpc>
              <a:spcBef>
                <a:spcPts val="2045"/>
              </a:spcBef>
              <a:buSzPct val="120312"/>
              <a:buChar char="•"/>
              <a:tabLst>
                <a:tab pos="457834" algn="l"/>
              </a:tabLst>
            </a:pPr>
            <a:r>
              <a:rPr sz="3200" dirty="0">
                <a:latin typeface="Calibri"/>
                <a:cs typeface="Calibri"/>
              </a:rPr>
              <a:t>Assumptions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CBOW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&amp;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Skip-Gram:</a:t>
            </a:r>
            <a:endParaRPr sz="3200">
              <a:latin typeface="Calibri"/>
              <a:cs typeface="Calibri"/>
            </a:endParaRPr>
          </a:p>
          <a:p>
            <a:pPr marL="901700" marR="5080" indent="-444500">
              <a:lnSpc>
                <a:spcPct val="94400"/>
              </a:lnSpc>
              <a:spcBef>
                <a:spcPts val="3120"/>
              </a:spcBef>
            </a:pPr>
            <a:r>
              <a:rPr sz="6975" baseline="-5376" dirty="0">
                <a:latin typeface="Calibri"/>
                <a:cs typeface="Calibri"/>
              </a:rPr>
              <a:t>-</a:t>
            </a:r>
            <a:r>
              <a:rPr sz="6975" spc="1260" baseline="-5376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Words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similar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meaning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/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domain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have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close contexts.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09109" y="5361876"/>
            <a:ext cx="4591685" cy="589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700" i="1" dirty="0">
                <a:solidFill>
                  <a:srgbClr val="0076BA"/>
                </a:solidFill>
                <a:latin typeface="Times New Roman"/>
                <a:cs typeface="Times New Roman"/>
              </a:rPr>
              <a:t>My</a:t>
            </a:r>
            <a:r>
              <a:rPr sz="3700" i="1" spc="315" dirty="0">
                <a:solidFill>
                  <a:srgbClr val="0076BA"/>
                </a:solidFill>
                <a:latin typeface="Times New Roman"/>
                <a:cs typeface="Times New Roman"/>
              </a:rPr>
              <a:t> </a:t>
            </a:r>
            <a:r>
              <a:rPr sz="3700" i="1" dirty="0">
                <a:solidFill>
                  <a:srgbClr val="0076BA"/>
                </a:solidFill>
                <a:latin typeface="Times New Roman"/>
                <a:cs typeface="Times New Roman"/>
              </a:rPr>
              <a:t>favorite</a:t>
            </a:r>
            <a:r>
              <a:rPr sz="3700" i="1" spc="310" dirty="0">
                <a:solidFill>
                  <a:srgbClr val="0076BA"/>
                </a:solidFill>
                <a:latin typeface="Times New Roman"/>
                <a:cs typeface="Times New Roman"/>
              </a:rPr>
              <a:t> </a:t>
            </a:r>
            <a:r>
              <a:rPr sz="3700" i="1" dirty="0">
                <a:solidFill>
                  <a:srgbClr val="0076BA"/>
                </a:solidFill>
                <a:latin typeface="Times New Roman"/>
                <a:cs typeface="Times New Roman"/>
              </a:rPr>
              <a:t>pet</a:t>
            </a:r>
            <a:r>
              <a:rPr sz="3700" i="1" spc="335" dirty="0">
                <a:solidFill>
                  <a:srgbClr val="0076BA"/>
                </a:solidFill>
                <a:latin typeface="Times New Roman"/>
                <a:cs typeface="Times New Roman"/>
              </a:rPr>
              <a:t> </a:t>
            </a:r>
            <a:r>
              <a:rPr sz="3700" i="1" dirty="0">
                <a:solidFill>
                  <a:srgbClr val="0076BA"/>
                </a:solidFill>
                <a:latin typeface="Times New Roman"/>
                <a:cs typeface="Times New Roman"/>
              </a:rPr>
              <a:t>is</a:t>
            </a:r>
            <a:r>
              <a:rPr sz="3700" i="1" spc="310" dirty="0">
                <a:solidFill>
                  <a:srgbClr val="0076BA"/>
                </a:solidFill>
                <a:latin typeface="Times New Roman"/>
                <a:cs typeface="Times New Roman"/>
              </a:rPr>
              <a:t> </a:t>
            </a:r>
            <a:r>
              <a:rPr sz="3700" spc="200" dirty="0">
                <a:solidFill>
                  <a:srgbClr val="0076BA"/>
                </a:solidFill>
                <a:latin typeface="Lucida Sans Unicode"/>
                <a:cs typeface="Lucida Sans Unicode"/>
              </a:rPr>
              <a:t>___</a:t>
            </a:r>
            <a:r>
              <a:rPr sz="3700" spc="-555" dirty="0">
                <a:solidFill>
                  <a:srgbClr val="0076BA"/>
                </a:solidFill>
                <a:latin typeface="Lucida Sans Unicode"/>
                <a:cs typeface="Lucida Sans Unicode"/>
              </a:rPr>
              <a:t> </a:t>
            </a:r>
            <a:r>
              <a:rPr sz="3700" spc="-310" dirty="0">
                <a:solidFill>
                  <a:srgbClr val="0076BA"/>
                </a:solidFill>
                <a:latin typeface="Lucida Sans Unicode"/>
                <a:cs typeface="Lucida Sans Unicode"/>
              </a:rPr>
              <a:t>.</a:t>
            </a:r>
            <a:endParaRPr sz="37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13524" y="5334253"/>
            <a:ext cx="170497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i="1" dirty="0">
                <a:solidFill>
                  <a:srgbClr val="EE220C"/>
                </a:solidFill>
                <a:latin typeface="Times New Roman"/>
                <a:cs typeface="Times New Roman"/>
              </a:rPr>
              <a:t>cat</a:t>
            </a:r>
            <a:r>
              <a:rPr sz="4000" dirty="0">
                <a:solidFill>
                  <a:srgbClr val="EE220C"/>
                </a:solidFill>
                <a:latin typeface="Lucida Sans Unicode"/>
                <a:cs typeface="Lucida Sans Unicode"/>
              </a:rPr>
              <a:t>,</a:t>
            </a:r>
            <a:r>
              <a:rPr sz="4000" spc="-215" dirty="0">
                <a:solidFill>
                  <a:srgbClr val="EE220C"/>
                </a:solidFill>
                <a:latin typeface="Lucida Sans Unicode"/>
                <a:cs typeface="Lucida Sans Unicode"/>
              </a:rPr>
              <a:t> </a:t>
            </a:r>
            <a:r>
              <a:rPr sz="4000" i="1" spc="-25" dirty="0">
                <a:solidFill>
                  <a:srgbClr val="EE220C"/>
                </a:solidFill>
                <a:latin typeface="Times New Roman"/>
                <a:cs typeface="Times New Roman"/>
              </a:rPr>
              <a:t>dog</a:t>
            </a:r>
            <a:endParaRPr sz="4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09065">
              <a:lnSpc>
                <a:spcPct val="100000"/>
              </a:lnSpc>
              <a:spcBef>
                <a:spcPts val="100"/>
              </a:spcBef>
            </a:pPr>
            <a:r>
              <a:rPr dirty="0"/>
              <a:t>CBOW</a:t>
            </a:r>
            <a:r>
              <a:rPr spc="-85" dirty="0"/>
              <a:t> </a:t>
            </a:r>
            <a:r>
              <a:rPr dirty="0"/>
              <a:t>&amp;</a:t>
            </a:r>
            <a:r>
              <a:rPr spc="-80" dirty="0"/>
              <a:t> </a:t>
            </a:r>
            <a:r>
              <a:rPr spc="-25" dirty="0"/>
              <a:t>Skip-</a:t>
            </a:r>
            <a:r>
              <a:rPr spc="-20" dirty="0"/>
              <a:t>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600" y="2608658"/>
            <a:ext cx="5114925" cy="100838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457200" marR="5080" indent="-444500">
              <a:lnSpc>
                <a:spcPct val="101600"/>
              </a:lnSpc>
              <a:spcBef>
                <a:spcPts val="35"/>
              </a:spcBef>
              <a:buSzPct val="120312"/>
              <a:buChar char="•"/>
              <a:tabLst>
                <a:tab pos="457200" algn="l"/>
              </a:tabLst>
            </a:pPr>
            <a:r>
              <a:rPr sz="3200" dirty="0">
                <a:latin typeface="Calibri"/>
                <a:cs typeface="Calibri"/>
              </a:rPr>
              <a:t>CBOW: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Predicting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target </a:t>
            </a:r>
            <a:r>
              <a:rPr sz="3200" dirty="0">
                <a:latin typeface="Calibri"/>
                <a:cs typeface="Calibri"/>
              </a:rPr>
              <a:t>words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context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words.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56400" y="2608658"/>
            <a:ext cx="4338955" cy="150368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457200" marR="5080" indent="-444500">
              <a:lnSpc>
                <a:spcPct val="101600"/>
              </a:lnSpc>
              <a:spcBef>
                <a:spcPts val="35"/>
              </a:spcBef>
              <a:buSzPct val="120312"/>
              <a:buChar char="•"/>
              <a:tabLst>
                <a:tab pos="457200" algn="l"/>
              </a:tabLst>
            </a:pPr>
            <a:r>
              <a:rPr sz="3200" spc="-10" dirty="0">
                <a:latin typeface="Calibri"/>
                <a:cs typeface="Calibri"/>
              </a:rPr>
              <a:t>Skip-</a:t>
            </a:r>
            <a:r>
              <a:rPr sz="3200" dirty="0">
                <a:latin typeface="Calibri"/>
                <a:cs typeface="Calibri"/>
              </a:rPr>
              <a:t>Gram:</a:t>
            </a:r>
            <a:r>
              <a:rPr sz="3200" spc="-1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Predicting context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words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from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the </a:t>
            </a:r>
            <a:r>
              <a:rPr sz="3200" spc="-10" dirty="0">
                <a:latin typeface="Calibri"/>
                <a:cs typeface="Calibri"/>
              </a:rPr>
              <a:t>target</a:t>
            </a:r>
            <a:r>
              <a:rPr sz="3200" spc="-14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words.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09065">
              <a:lnSpc>
                <a:spcPct val="100000"/>
              </a:lnSpc>
              <a:spcBef>
                <a:spcPts val="100"/>
              </a:spcBef>
            </a:pPr>
            <a:r>
              <a:rPr dirty="0"/>
              <a:t>CBOW</a:t>
            </a:r>
            <a:r>
              <a:rPr spc="-85" dirty="0"/>
              <a:t> </a:t>
            </a:r>
            <a:r>
              <a:rPr dirty="0"/>
              <a:t>&amp;</a:t>
            </a:r>
            <a:r>
              <a:rPr spc="-80" dirty="0"/>
              <a:t> </a:t>
            </a:r>
            <a:r>
              <a:rPr spc="-25" dirty="0"/>
              <a:t>Skip-</a:t>
            </a:r>
            <a:r>
              <a:rPr spc="-20" dirty="0"/>
              <a:t>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600" y="2608658"/>
            <a:ext cx="9671685" cy="4453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834" indent="-445134">
              <a:lnSpc>
                <a:spcPct val="100000"/>
              </a:lnSpc>
              <a:spcBef>
                <a:spcPts val="100"/>
              </a:spcBef>
              <a:buSzPct val="120312"/>
              <a:buChar char="•"/>
              <a:tabLst>
                <a:tab pos="457834" algn="l"/>
              </a:tabLst>
            </a:pPr>
            <a:r>
              <a:rPr sz="3200" dirty="0">
                <a:latin typeface="Calibri"/>
                <a:cs typeface="Calibri"/>
              </a:rPr>
              <a:t>For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example,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given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sentence: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0"/>
              </a:spcBef>
              <a:buFont typeface="Calibri"/>
              <a:buChar char="•"/>
            </a:pPr>
            <a:endParaRPr sz="3200">
              <a:latin typeface="Calibri"/>
              <a:cs typeface="Calibri"/>
            </a:endParaRPr>
          </a:p>
          <a:p>
            <a:pPr marL="913130" algn="ctr">
              <a:lnSpc>
                <a:spcPct val="100000"/>
              </a:lnSpc>
            </a:pPr>
            <a:r>
              <a:rPr sz="3200" b="1" dirty="0">
                <a:latin typeface="Calibri"/>
                <a:cs typeface="Calibri"/>
              </a:rPr>
              <a:t>the</a:t>
            </a:r>
            <a:r>
              <a:rPr sz="3200" b="1" spc="-6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quick</a:t>
            </a:r>
            <a:r>
              <a:rPr sz="3200" b="1" spc="-6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brown</a:t>
            </a:r>
            <a:r>
              <a:rPr sz="3200" b="1" spc="-6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fox</a:t>
            </a:r>
            <a:r>
              <a:rPr sz="3200" b="1" spc="-6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jumped</a:t>
            </a:r>
            <a:r>
              <a:rPr sz="3200" b="1" spc="-6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over</a:t>
            </a:r>
            <a:r>
              <a:rPr sz="3200" b="1" spc="-6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the</a:t>
            </a:r>
            <a:r>
              <a:rPr sz="3200" b="1" spc="-6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lazy</a:t>
            </a:r>
            <a:r>
              <a:rPr sz="3200" b="1" spc="-65" dirty="0">
                <a:latin typeface="Calibri"/>
                <a:cs typeface="Calibri"/>
              </a:rPr>
              <a:t> </a:t>
            </a:r>
            <a:r>
              <a:rPr sz="3200" b="1" spc="-20" dirty="0">
                <a:latin typeface="Calibri"/>
                <a:cs typeface="Calibri"/>
              </a:rPr>
              <a:t>dog.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3200">
              <a:latin typeface="Calibri"/>
              <a:cs typeface="Calibri"/>
            </a:endParaRPr>
          </a:p>
          <a:p>
            <a:pPr marL="457834" indent="-445134">
              <a:lnSpc>
                <a:spcPct val="100000"/>
              </a:lnSpc>
              <a:buSzPct val="120312"/>
              <a:buChar char="•"/>
              <a:tabLst>
                <a:tab pos="457834" algn="l"/>
              </a:tabLst>
            </a:pPr>
            <a:r>
              <a:rPr sz="3200" dirty="0">
                <a:latin typeface="Calibri"/>
                <a:cs typeface="Calibri"/>
              </a:rPr>
              <a:t>CBOW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will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trained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on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dataset:</a:t>
            </a:r>
            <a:endParaRPr sz="32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2820"/>
              </a:spcBef>
            </a:pPr>
            <a:r>
              <a:rPr sz="2800" dirty="0">
                <a:latin typeface="Consolas"/>
                <a:cs typeface="Consolas"/>
              </a:rPr>
              <a:t>([the, brown], quick), ([quick, fox], brown), </a:t>
            </a:r>
            <a:r>
              <a:rPr sz="2800" spc="-50" dirty="0">
                <a:latin typeface="Consolas"/>
                <a:cs typeface="Consolas"/>
              </a:rPr>
              <a:t>…</a:t>
            </a:r>
            <a:endParaRPr sz="2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sz="2800">
              <a:latin typeface="Consolas"/>
              <a:cs typeface="Consolas"/>
            </a:endParaRPr>
          </a:p>
          <a:p>
            <a:pPr marL="457834" indent="-445134">
              <a:lnSpc>
                <a:spcPct val="100000"/>
              </a:lnSpc>
              <a:buSzPct val="120312"/>
              <a:buChar char="•"/>
              <a:tabLst>
                <a:tab pos="457834" algn="l"/>
              </a:tabLst>
            </a:pPr>
            <a:r>
              <a:rPr sz="3200" spc="-10" dirty="0">
                <a:latin typeface="Calibri"/>
                <a:cs typeface="Calibri"/>
              </a:rPr>
              <a:t>Skip-</a:t>
            </a:r>
            <a:r>
              <a:rPr sz="3200" dirty="0">
                <a:latin typeface="Calibri"/>
                <a:cs typeface="Calibri"/>
              </a:rPr>
              <a:t>Gram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will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trained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on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dataset:</a:t>
            </a:r>
            <a:endParaRPr sz="32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428750" y="7483029"/>
          <a:ext cx="8860788" cy="7740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7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2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40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40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40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979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6715">
                <a:tc>
                  <a:txBody>
                    <a:bodyPr/>
                    <a:lstStyle/>
                    <a:p>
                      <a:pPr marR="57785" algn="ctr">
                        <a:lnSpc>
                          <a:spcPts val="2640"/>
                        </a:lnSpc>
                      </a:pPr>
                      <a:r>
                        <a:rPr sz="2800" spc="-10" dirty="0">
                          <a:latin typeface="Consolas"/>
                          <a:cs typeface="Consolas"/>
                        </a:rPr>
                        <a:t>(quick,</a:t>
                      </a:r>
                      <a:endParaRPr sz="2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</a:pPr>
                      <a:r>
                        <a:rPr sz="2800" spc="-10" dirty="0">
                          <a:latin typeface="Consolas"/>
                          <a:cs typeface="Consolas"/>
                        </a:rPr>
                        <a:t>the),</a:t>
                      </a:r>
                      <a:endParaRPr sz="2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2640"/>
                        </a:lnSpc>
                      </a:pPr>
                      <a:r>
                        <a:rPr sz="2800" spc="-10" dirty="0">
                          <a:latin typeface="Consolas"/>
                          <a:cs typeface="Consolas"/>
                        </a:rPr>
                        <a:t>(quick,</a:t>
                      </a:r>
                      <a:endParaRPr sz="2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2640"/>
                        </a:lnSpc>
                      </a:pPr>
                      <a:r>
                        <a:rPr sz="2800" spc="-10" dirty="0">
                          <a:latin typeface="Consolas"/>
                          <a:cs typeface="Consolas"/>
                        </a:rPr>
                        <a:t>brown),</a:t>
                      </a:r>
                      <a:endParaRPr sz="2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2640"/>
                        </a:lnSpc>
                      </a:pPr>
                      <a:r>
                        <a:rPr sz="2800" spc="-10" dirty="0">
                          <a:latin typeface="Consolas"/>
                          <a:cs typeface="Consolas"/>
                        </a:rPr>
                        <a:t>(brown,</a:t>
                      </a:r>
                      <a:endParaRPr sz="2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2640"/>
                        </a:lnSpc>
                      </a:pPr>
                      <a:r>
                        <a:rPr sz="2800" spc="-10" dirty="0">
                          <a:latin typeface="Consolas"/>
                          <a:cs typeface="Consolas"/>
                        </a:rPr>
                        <a:t>quick),</a:t>
                      </a:r>
                      <a:endParaRPr sz="2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R="57785" algn="ctr">
                        <a:lnSpc>
                          <a:spcPts val="2890"/>
                        </a:lnSpc>
                      </a:pPr>
                      <a:r>
                        <a:rPr sz="2800" spc="-10" dirty="0">
                          <a:latin typeface="Consolas"/>
                          <a:cs typeface="Consolas"/>
                        </a:rPr>
                        <a:t>(brown,</a:t>
                      </a:r>
                      <a:endParaRPr sz="2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90"/>
                        </a:lnSpc>
                      </a:pPr>
                      <a:r>
                        <a:rPr sz="2800" spc="-10" dirty="0">
                          <a:latin typeface="Consolas"/>
                          <a:cs typeface="Consolas"/>
                        </a:rPr>
                        <a:t>fox)…</a:t>
                      </a:r>
                      <a:endParaRPr sz="2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93700" y="1463675"/>
            <a:ext cx="12611100" cy="6826250"/>
            <a:chOff x="393700" y="1463675"/>
            <a:chExt cx="12611100" cy="68262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3700" y="1463675"/>
              <a:ext cx="12611100" cy="682625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839200" y="6688666"/>
              <a:ext cx="1499235" cy="415925"/>
            </a:xfrm>
            <a:custGeom>
              <a:avLst/>
              <a:gdLst/>
              <a:ahLst/>
              <a:cxnLst/>
              <a:rect l="l" t="t" r="r" b="b"/>
              <a:pathLst>
                <a:path w="1499234" h="415925">
                  <a:moveTo>
                    <a:pt x="0" y="0"/>
                  </a:moveTo>
                  <a:lnTo>
                    <a:pt x="1499063" y="0"/>
                  </a:lnTo>
                  <a:lnTo>
                    <a:pt x="1499063" y="415527"/>
                  </a:lnTo>
                  <a:lnTo>
                    <a:pt x="0" y="4155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9388378" y="9491750"/>
            <a:ext cx="33775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onsolas"/>
                <a:cs typeface="Consolas"/>
              </a:rPr>
              <a:t>Picture</a:t>
            </a:r>
            <a:r>
              <a:rPr sz="1200" spc="-15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from</a:t>
            </a:r>
            <a:r>
              <a:rPr sz="1200" spc="-10" dirty="0"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  <a:hlinkClick r:id="rId3"/>
              </a:rPr>
              <a:t>https://kavita-ganesan.com/</a:t>
            </a:r>
            <a:endParaRPr sz="12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15335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Skip-</a:t>
            </a:r>
            <a:r>
              <a:rPr spc="-20" dirty="0"/>
              <a:t>Gram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500" y="2212920"/>
            <a:ext cx="11099800" cy="610631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388378" y="9491750"/>
            <a:ext cx="35445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onsolas"/>
                <a:cs typeface="Consolas"/>
              </a:rPr>
              <a:t>Picture</a:t>
            </a:r>
            <a:r>
              <a:rPr sz="1200" spc="-4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from</a:t>
            </a:r>
            <a:r>
              <a:rPr sz="1200" spc="-35" dirty="0"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  <a:hlinkClick r:id="rId3"/>
              </a:rPr>
              <a:t>https://lilianweng.github.io/</a:t>
            </a:r>
            <a:endParaRPr sz="12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04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850" dirty="0"/>
              <a:t>Softmax</a:t>
            </a:r>
            <a:r>
              <a:rPr sz="6850" spc="-215" dirty="0"/>
              <a:t> </a:t>
            </a:r>
            <a:r>
              <a:rPr sz="6850" dirty="0"/>
              <a:t>&amp;</a:t>
            </a:r>
            <a:r>
              <a:rPr sz="6850" spc="-210" dirty="0"/>
              <a:t> </a:t>
            </a:r>
            <a:r>
              <a:rPr sz="6850" dirty="0"/>
              <a:t>Words</a:t>
            </a:r>
            <a:r>
              <a:rPr sz="6850" spc="-210" dirty="0"/>
              <a:t> </a:t>
            </a:r>
            <a:r>
              <a:rPr sz="6850" spc="-10" dirty="0"/>
              <a:t>classification</a:t>
            </a:r>
            <a:endParaRPr sz="6850"/>
          </a:p>
        </p:txBody>
      </p:sp>
      <p:sp>
        <p:nvSpPr>
          <p:cNvPr id="3" name="object 3"/>
          <p:cNvSpPr txBox="1"/>
          <p:nvPr/>
        </p:nvSpPr>
        <p:spPr>
          <a:xfrm>
            <a:off x="5109143" y="3616001"/>
            <a:ext cx="124587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300" i="1" dirty="0">
                <a:latin typeface="Times New Roman"/>
                <a:cs typeface="Times New Roman"/>
              </a:rPr>
              <a:t>σ</a:t>
            </a:r>
            <a:r>
              <a:rPr sz="3300" dirty="0">
                <a:latin typeface="Lucida Sans Unicode"/>
                <a:cs typeface="Lucida Sans Unicode"/>
              </a:rPr>
              <a:t>(</a:t>
            </a:r>
            <a:r>
              <a:rPr sz="3300" b="1" dirty="0">
                <a:latin typeface="Times New Roman"/>
                <a:cs typeface="Times New Roman"/>
              </a:rPr>
              <a:t>z</a:t>
            </a:r>
            <a:r>
              <a:rPr sz="3300" dirty="0">
                <a:latin typeface="Lucida Sans Unicode"/>
                <a:cs typeface="Lucida Sans Unicode"/>
              </a:rPr>
              <a:t>)</a:t>
            </a:r>
            <a:r>
              <a:rPr sz="3525" i="1" baseline="-20094" dirty="0">
                <a:latin typeface="Times New Roman"/>
                <a:cs typeface="Times New Roman"/>
              </a:rPr>
              <a:t>i</a:t>
            </a:r>
            <a:r>
              <a:rPr sz="3525" i="1" spc="667" baseline="-20094" dirty="0">
                <a:latin typeface="Times New Roman"/>
                <a:cs typeface="Times New Roman"/>
              </a:rPr>
              <a:t> </a:t>
            </a:r>
            <a:r>
              <a:rPr sz="3300" spc="-420" dirty="0">
                <a:latin typeface="Lucida Sans Unicode"/>
                <a:cs typeface="Lucida Sans Unicode"/>
              </a:rPr>
              <a:t>=</a:t>
            </a:r>
            <a:endParaRPr sz="33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7900" y="2541622"/>
            <a:ext cx="6388735" cy="1152525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470534" indent="-445134">
              <a:lnSpc>
                <a:spcPct val="100000"/>
              </a:lnSpc>
              <a:spcBef>
                <a:spcPts val="625"/>
              </a:spcBef>
              <a:buSzPct val="120312"/>
              <a:buChar char="•"/>
              <a:tabLst>
                <a:tab pos="470534" algn="l"/>
              </a:tabLst>
            </a:pPr>
            <a:r>
              <a:rPr sz="3200" dirty="0">
                <a:latin typeface="Calibri"/>
                <a:cs typeface="Calibri"/>
              </a:rPr>
              <a:t>Recap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softmax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function:</a:t>
            </a:r>
            <a:endParaRPr sz="3200">
              <a:latin typeface="Calibri"/>
              <a:cs typeface="Calibri"/>
            </a:endParaRPr>
          </a:p>
          <a:p>
            <a:pPr marR="43180" algn="r">
              <a:lnSpc>
                <a:spcPct val="100000"/>
              </a:lnSpc>
              <a:spcBef>
                <a:spcPts val="545"/>
              </a:spcBef>
            </a:pPr>
            <a:r>
              <a:rPr sz="4950" i="1" spc="-37" baseline="-20202" dirty="0">
                <a:latin typeface="Times New Roman"/>
                <a:cs typeface="Times New Roman"/>
              </a:rPr>
              <a:t>e</a:t>
            </a:r>
            <a:r>
              <a:rPr sz="2350" i="1" spc="-25" dirty="0">
                <a:latin typeface="Times New Roman"/>
                <a:cs typeface="Times New Roman"/>
              </a:rPr>
              <a:t>z</a:t>
            </a:r>
            <a:r>
              <a:rPr sz="2475" i="1" spc="-37" baseline="-20202" dirty="0">
                <a:latin typeface="Times New Roman"/>
                <a:cs typeface="Times New Roman"/>
              </a:rPr>
              <a:t>i</a:t>
            </a:r>
            <a:endParaRPr sz="2475" baseline="-20202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433292" y="3927938"/>
            <a:ext cx="1392555" cy="28575"/>
          </a:xfrm>
          <a:custGeom>
            <a:avLst/>
            <a:gdLst/>
            <a:ahLst/>
            <a:cxnLst/>
            <a:rect l="l" t="t" r="r" b="b"/>
            <a:pathLst>
              <a:path w="1392554" h="28575">
                <a:moveTo>
                  <a:pt x="1391992" y="0"/>
                </a:moveTo>
                <a:lnTo>
                  <a:pt x="0" y="0"/>
                </a:lnTo>
                <a:lnTo>
                  <a:pt x="0" y="28079"/>
                </a:lnTo>
                <a:lnTo>
                  <a:pt x="1391992" y="28079"/>
                </a:lnTo>
                <a:lnTo>
                  <a:pt x="13919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509070" y="4018392"/>
            <a:ext cx="40894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295" dirty="0">
                <a:latin typeface="Lucida Sans Unicode"/>
                <a:cs typeface="Lucida Sans Unicode"/>
              </a:rPr>
              <a:t>∑</a:t>
            </a:r>
            <a:endParaRPr sz="33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92127" y="3924304"/>
            <a:ext cx="224154" cy="3829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350" i="1" spc="-50" dirty="0">
                <a:latin typeface="Times New Roman"/>
                <a:cs typeface="Times New Roman"/>
              </a:rPr>
              <a:t>K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92127" y="4315848"/>
            <a:ext cx="461009" cy="3829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350" i="1" spc="-180" dirty="0">
                <a:latin typeface="Times New Roman"/>
                <a:cs typeface="Times New Roman"/>
              </a:rPr>
              <a:t>j</a:t>
            </a:r>
            <a:r>
              <a:rPr sz="2350" spc="-180" dirty="0">
                <a:latin typeface="Lucida Sans Unicode"/>
                <a:cs typeface="Lucida Sans Unicode"/>
              </a:rPr>
              <a:t>=1</a:t>
            </a:r>
            <a:endParaRPr sz="235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97308" y="4018811"/>
            <a:ext cx="21209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i="1" spc="-50" dirty="0">
                <a:latin typeface="Times New Roman"/>
                <a:cs typeface="Times New Roman"/>
              </a:rPr>
              <a:t>e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05392" y="3983794"/>
            <a:ext cx="141605" cy="3829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350" i="1" spc="-50" dirty="0">
                <a:latin typeface="Times New Roman"/>
                <a:cs typeface="Times New Roman"/>
              </a:rPr>
              <a:t>z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11943" y="4135550"/>
            <a:ext cx="84455" cy="2794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50" i="1" spc="-50" dirty="0">
                <a:latin typeface="Times New Roman"/>
                <a:cs typeface="Times New Roman"/>
              </a:rPr>
              <a:t>j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91061" y="7157110"/>
            <a:ext cx="525716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4468495" algn="l"/>
                <a:tab pos="5218430" algn="l"/>
              </a:tabLst>
            </a:pPr>
            <a:r>
              <a:rPr sz="3300" i="1" dirty="0">
                <a:latin typeface="Times New Roman"/>
                <a:cs typeface="Times New Roman"/>
              </a:rPr>
              <a:t>p</a:t>
            </a:r>
            <a:r>
              <a:rPr sz="3300" dirty="0">
                <a:latin typeface="Lucida Sans Unicode"/>
                <a:cs typeface="Lucida Sans Unicode"/>
              </a:rPr>
              <a:t>(</a:t>
            </a:r>
            <a:r>
              <a:rPr sz="3300" i="1" dirty="0">
                <a:latin typeface="Times New Roman"/>
                <a:cs typeface="Times New Roman"/>
              </a:rPr>
              <a:t>w</a:t>
            </a:r>
            <a:r>
              <a:rPr sz="3300" i="1" spc="245" dirty="0">
                <a:latin typeface="Times New Roman"/>
                <a:cs typeface="Times New Roman"/>
              </a:rPr>
              <a:t> </a:t>
            </a:r>
            <a:r>
              <a:rPr sz="3300" spc="-370" dirty="0">
                <a:latin typeface="Lucida Sans Unicode"/>
                <a:cs typeface="Lucida Sans Unicode"/>
              </a:rPr>
              <a:t>=</a:t>
            </a:r>
            <a:r>
              <a:rPr sz="3300" dirty="0">
                <a:latin typeface="Lucida Sans Unicode"/>
                <a:cs typeface="Lucida Sans Unicode"/>
              </a:rPr>
              <a:t> </a:t>
            </a:r>
            <a:r>
              <a:rPr sz="3300" i="1" dirty="0">
                <a:latin typeface="Times New Roman"/>
                <a:cs typeface="Times New Roman"/>
              </a:rPr>
              <a:t>i</a:t>
            </a:r>
            <a:r>
              <a:rPr sz="3300" i="1" spc="-400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Cambria"/>
                <a:cs typeface="Cambria"/>
              </a:rPr>
              <a:t>|</a:t>
            </a:r>
            <a:r>
              <a:rPr sz="3300" spc="-300" dirty="0">
                <a:latin typeface="Cambria"/>
                <a:cs typeface="Cambria"/>
              </a:rPr>
              <a:t> </a:t>
            </a:r>
            <a:r>
              <a:rPr sz="3300" b="1" dirty="0">
                <a:latin typeface="Times New Roman"/>
                <a:cs typeface="Times New Roman"/>
              </a:rPr>
              <a:t>x</a:t>
            </a:r>
            <a:r>
              <a:rPr sz="3300" dirty="0">
                <a:latin typeface="Lucida Sans Unicode"/>
                <a:cs typeface="Lucida Sans Unicode"/>
              </a:rPr>
              <a:t>) </a:t>
            </a:r>
            <a:r>
              <a:rPr sz="3300" spc="-370" dirty="0">
                <a:latin typeface="Lucida Sans Unicode"/>
                <a:cs typeface="Lucida Sans Unicode"/>
              </a:rPr>
              <a:t>=</a:t>
            </a:r>
            <a:r>
              <a:rPr sz="3300" spc="25" dirty="0">
                <a:latin typeface="Lucida Sans Unicode"/>
                <a:cs typeface="Lucida Sans Unicode"/>
              </a:rPr>
              <a:t> </a:t>
            </a:r>
            <a:r>
              <a:rPr sz="2475" i="1" u="heavy" baseline="555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475" i="1" u="heavy" spc="-75" baseline="555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sz="2475" i="1" u="heavy" baseline="555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2475" baseline="55555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77900" y="5161358"/>
            <a:ext cx="10801350" cy="214757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469900" marR="17780" indent="-444500">
              <a:lnSpc>
                <a:spcPct val="101600"/>
              </a:lnSpc>
              <a:spcBef>
                <a:spcPts val="35"/>
              </a:spcBef>
              <a:buSzPct val="120312"/>
              <a:buChar char="•"/>
              <a:tabLst>
                <a:tab pos="469900" algn="l"/>
              </a:tabLst>
            </a:pPr>
            <a:r>
              <a:rPr sz="3200" dirty="0">
                <a:latin typeface="Calibri"/>
                <a:cs typeface="Calibri"/>
              </a:rPr>
              <a:t>While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training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embedding,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need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sum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over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entire </a:t>
            </a:r>
            <a:r>
              <a:rPr sz="3200" dirty="0">
                <a:latin typeface="Calibri"/>
                <a:cs typeface="Calibri"/>
              </a:rPr>
              <a:t>vocabulary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denominator,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which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costly.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00"/>
              </a:spcBef>
            </a:pPr>
            <a:endParaRPr sz="3200">
              <a:latin typeface="Calibri"/>
              <a:cs typeface="Calibri"/>
            </a:endParaRPr>
          </a:p>
          <a:p>
            <a:pPr marL="5850255">
              <a:lnSpc>
                <a:spcPct val="100000"/>
              </a:lnSpc>
              <a:spcBef>
                <a:spcPts val="5"/>
              </a:spcBef>
            </a:pPr>
            <a:r>
              <a:rPr sz="3300" spc="-80" dirty="0">
                <a:latin typeface="Lucida Sans Unicode"/>
                <a:cs typeface="Lucida Sans Unicode"/>
              </a:rPr>
              <a:t>exp(</a:t>
            </a:r>
            <a:r>
              <a:rPr sz="3300" i="1" spc="-80" dirty="0">
                <a:latin typeface="Times New Roman"/>
                <a:cs typeface="Times New Roman"/>
              </a:rPr>
              <a:t>h</a:t>
            </a:r>
            <a:r>
              <a:rPr sz="3525" spc="-120" baseline="28368" dirty="0">
                <a:latin typeface="Lucida Sans Unicode"/>
                <a:cs typeface="Lucida Sans Unicode"/>
              </a:rPr>
              <a:t>⊤</a:t>
            </a:r>
            <a:r>
              <a:rPr sz="3300" i="1" spc="-80" dirty="0">
                <a:latin typeface="Times New Roman"/>
                <a:cs typeface="Times New Roman"/>
              </a:rPr>
              <a:t>v</a:t>
            </a:r>
            <a:r>
              <a:rPr sz="3525" i="1" spc="-120" baseline="-20094" dirty="0">
                <a:latin typeface="Times New Roman"/>
                <a:cs typeface="Times New Roman"/>
              </a:rPr>
              <a:t>w</a:t>
            </a:r>
            <a:r>
              <a:rPr sz="3525" spc="-120" baseline="-20094" dirty="0">
                <a:latin typeface="Lucida Sans Unicode"/>
                <a:cs typeface="Lucida Sans Unicode"/>
              </a:rPr>
              <a:t>′</a:t>
            </a:r>
            <a:r>
              <a:rPr sz="3300" spc="-80" dirty="0">
                <a:latin typeface="Lucida Sans Unicode"/>
                <a:cs typeface="Lucida Sans Unicode"/>
              </a:rPr>
              <a:t>)</a:t>
            </a:r>
            <a:endParaRPr sz="33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42564" y="7471434"/>
            <a:ext cx="276352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300" dirty="0">
                <a:latin typeface="Lucida Sans Unicode"/>
                <a:cs typeface="Lucida Sans Unicode"/>
              </a:rPr>
              <a:t>∑</a:t>
            </a:r>
            <a:r>
              <a:rPr sz="3525" i="1" baseline="-33096" dirty="0">
                <a:latin typeface="Times New Roman"/>
                <a:cs typeface="Times New Roman"/>
              </a:rPr>
              <a:t>j</a:t>
            </a:r>
            <a:r>
              <a:rPr sz="3525" baseline="-33096" dirty="0">
                <a:latin typeface="Lucida Sans Unicode"/>
                <a:cs typeface="Lucida Sans Unicode"/>
              </a:rPr>
              <a:t>∈</a:t>
            </a:r>
            <a:r>
              <a:rPr sz="3525" i="1" baseline="-33096" dirty="0">
                <a:latin typeface="Times New Roman"/>
                <a:cs typeface="Times New Roman"/>
              </a:rPr>
              <a:t>V</a:t>
            </a:r>
            <a:r>
              <a:rPr sz="3525" i="1" spc="345" baseline="-33096" dirty="0">
                <a:latin typeface="Times New Roman"/>
                <a:cs typeface="Times New Roman"/>
              </a:rPr>
              <a:t> </a:t>
            </a:r>
            <a:r>
              <a:rPr sz="3300" spc="-200" dirty="0">
                <a:latin typeface="Lucida Sans Unicode"/>
                <a:cs typeface="Lucida Sans Unicode"/>
              </a:rPr>
              <a:t>e</a:t>
            </a:r>
            <a:r>
              <a:rPr sz="3300" spc="-110" dirty="0">
                <a:latin typeface="Lucida Sans Unicode"/>
                <a:cs typeface="Lucida Sans Unicode"/>
              </a:rPr>
              <a:t>xp(</a:t>
            </a:r>
            <a:r>
              <a:rPr sz="3300" i="1" spc="10" dirty="0">
                <a:latin typeface="Times New Roman"/>
                <a:cs typeface="Times New Roman"/>
              </a:rPr>
              <a:t>h</a:t>
            </a:r>
            <a:r>
              <a:rPr sz="3525" spc="-165" baseline="20094" dirty="0">
                <a:latin typeface="Lucida Sans Unicode"/>
                <a:cs typeface="Lucida Sans Unicode"/>
              </a:rPr>
              <a:t>⊤</a:t>
            </a:r>
            <a:r>
              <a:rPr sz="3300" i="1" spc="-215" dirty="0">
                <a:latin typeface="Times New Roman"/>
                <a:cs typeface="Times New Roman"/>
              </a:rPr>
              <a:t>v</a:t>
            </a:r>
            <a:r>
              <a:rPr sz="3525" i="1" spc="-277" baseline="-17730" dirty="0">
                <a:latin typeface="Times New Roman"/>
                <a:cs typeface="Times New Roman"/>
              </a:rPr>
              <a:t>w</a:t>
            </a:r>
            <a:r>
              <a:rPr sz="2475" i="1" spc="-757" baseline="-42087" dirty="0">
                <a:latin typeface="Times New Roman"/>
                <a:cs typeface="Times New Roman"/>
              </a:rPr>
              <a:t>j</a:t>
            </a:r>
            <a:r>
              <a:rPr sz="3525" spc="-457" baseline="-17730" dirty="0">
                <a:latin typeface="Lucida Sans Unicode"/>
                <a:cs typeface="Lucida Sans Unicode"/>
              </a:rPr>
              <a:t>′</a:t>
            </a:r>
            <a:r>
              <a:rPr sz="3300" spc="-110" dirty="0">
                <a:latin typeface="Lucida Sans Unicode"/>
                <a:cs typeface="Lucida Sans Unicode"/>
              </a:rPr>
              <a:t>)</a:t>
            </a:r>
            <a:endParaRPr sz="330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210033" y="7458747"/>
            <a:ext cx="3011805" cy="779145"/>
          </a:xfrm>
          <a:custGeom>
            <a:avLst/>
            <a:gdLst/>
            <a:ahLst/>
            <a:cxnLst/>
            <a:rect l="l" t="t" r="r" b="b"/>
            <a:pathLst>
              <a:path w="3011804" h="779145">
                <a:moveTo>
                  <a:pt x="291210" y="0"/>
                </a:moveTo>
                <a:lnTo>
                  <a:pt x="2720063" y="0"/>
                </a:lnTo>
                <a:lnTo>
                  <a:pt x="2778012" y="222"/>
                </a:lnTo>
                <a:lnTo>
                  <a:pt x="2824746" y="1783"/>
                </a:lnTo>
                <a:lnTo>
                  <a:pt x="2890974" y="14270"/>
                </a:lnTo>
                <a:lnTo>
                  <a:pt x="2925808" y="31474"/>
                </a:lnTo>
                <a:lnTo>
                  <a:pt x="2955742" y="55532"/>
                </a:lnTo>
                <a:lnTo>
                  <a:pt x="2979799" y="85466"/>
                </a:lnTo>
                <a:lnTo>
                  <a:pt x="2997003" y="120299"/>
                </a:lnTo>
                <a:lnTo>
                  <a:pt x="3009490" y="186527"/>
                </a:lnTo>
                <a:lnTo>
                  <a:pt x="3011051" y="233261"/>
                </a:lnTo>
                <a:lnTo>
                  <a:pt x="3011274" y="291210"/>
                </a:lnTo>
                <a:lnTo>
                  <a:pt x="3011274" y="487889"/>
                </a:lnTo>
                <a:lnTo>
                  <a:pt x="3011051" y="545839"/>
                </a:lnTo>
                <a:lnTo>
                  <a:pt x="3009490" y="592572"/>
                </a:lnTo>
                <a:lnTo>
                  <a:pt x="2997003" y="658800"/>
                </a:lnTo>
                <a:lnTo>
                  <a:pt x="2979799" y="693634"/>
                </a:lnTo>
                <a:lnTo>
                  <a:pt x="2955742" y="723568"/>
                </a:lnTo>
                <a:lnTo>
                  <a:pt x="2925808" y="747625"/>
                </a:lnTo>
                <a:lnTo>
                  <a:pt x="2890974" y="764829"/>
                </a:lnTo>
                <a:lnTo>
                  <a:pt x="2824746" y="777316"/>
                </a:lnTo>
                <a:lnTo>
                  <a:pt x="2778012" y="778877"/>
                </a:lnTo>
                <a:lnTo>
                  <a:pt x="2720063" y="779100"/>
                </a:lnTo>
                <a:lnTo>
                  <a:pt x="291210" y="779100"/>
                </a:lnTo>
                <a:lnTo>
                  <a:pt x="233261" y="778877"/>
                </a:lnTo>
                <a:lnTo>
                  <a:pt x="186527" y="777316"/>
                </a:lnTo>
                <a:lnTo>
                  <a:pt x="120299" y="764829"/>
                </a:lnTo>
                <a:lnTo>
                  <a:pt x="85466" y="747625"/>
                </a:lnTo>
                <a:lnTo>
                  <a:pt x="55532" y="723568"/>
                </a:lnTo>
                <a:lnTo>
                  <a:pt x="31474" y="693634"/>
                </a:lnTo>
                <a:lnTo>
                  <a:pt x="14270" y="658800"/>
                </a:lnTo>
                <a:lnTo>
                  <a:pt x="1783" y="592572"/>
                </a:lnTo>
                <a:lnTo>
                  <a:pt x="222" y="545839"/>
                </a:lnTo>
                <a:lnTo>
                  <a:pt x="0" y="487889"/>
                </a:lnTo>
                <a:lnTo>
                  <a:pt x="0" y="291210"/>
                </a:lnTo>
                <a:lnTo>
                  <a:pt x="222" y="233261"/>
                </a:lnTo>
                <a:lnTo>
                  <a:pt x="1783" y="186527"/>
                </a:lnTo>
                <a:lnTo>
                  <a:pt x="14270" y="120299"/>
                </a:lnTo>
                <a:lnTo>
                  <a:pt x="31474" y="85466"/>
                </a:lnTo>
                <a:lnTo>
                  <a:pt x="55532" y="55532"/>
                </a:lnTo>
                <a:lnTo>
                  <a:pt x="85466" y="31474"/>
                </a:lnTo>
                <a:lnTo>
                  <a:pt x="120299" y="14270"/>
                </a:lnTo>
                <a:lnTo>
                  <a:pt x="186527" y="1783"/>
                </a:lnTo>
                <a:lnTo>
                  <a:pt x="233261" y="222"/>
                </a:lnTo>
                <a:lnTo>
                  <a:pt x="291210" y="0"/>
                </a:lnTo>
                <a:close/>
              </a:path>
            </a:pathLst>
          </a:custGeom>
          <a:ln w="25400">
            <a:solidFill>
              <a:srgbClr val="EE220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920860" y="8330280"/>
            <a:ext cx="6404610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i="1" spc="-25" dirty="0">
                <a:solidFill>
                  <a:srgbClr val="EE220C"/>
                </a:solidFill>
                <a:latin typeface="Times New Roman"/>
                <a:cs typeface="Times New Roman"/>
              </a:rPr>
              <a:t>V</a:t>
            </a:r>
            <a:r>
              <a:rPr sz="2900" i="1" spc="-350" dirty="0">
                <a:solidFill>
                  <a:srgbClr val="EE220C"/>
                </a:solidFill>
                <a:latin typeface="Times New Roman"/>
                <a:cs typeface="Times New Roman"/>
              </a:rPr>
              <a:t> </a:t>
            </a:r>
            <a:r>
              <a:rPr sz="2900" dirty="0">
                <a:solidFill>
                  <a:srgbClr val="EE220C"/>
                </a:solidFill>
                <a:latin typeface="Cambria"/>
                <a:cs typeface="Cambria"/>
              </a:rPr>
              <a:t>|</a:t>
            </a:r>
            <a:r>
              <a:rPr sz="2900" spc="-320" dirty="0">
                <a:solidFill>
                  <a:srgbClr val="EE220C"/>
                </a:solidFill>
                <a:latin typeface="Cambria"/>
                <a:cs typeface="Cambria"/>
              </a:rPr>
              <a:t> </a:t>
            </a:r>
            <a:r>
              <a:rPr sz="2400" b="1" spc="-20" dirty="0">
                <a:solidFill>
                  <a:srgbClr val="EE220C"/>
                </a:solidFill>
                <a:latin typeface="Arial"/>
                <a:cs typeface="Arial"/>
              </a:rPr>
              <a:t>(vocabulary</a:t>
            </a:r>
            <a:r>
              <a:rPr sz="2400" b="1" spc="-135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EE220C"/>
                </a:solidFill>
                <a:latin typeface="Arial"/>
                <a:cs typeface="Arial"/>
              </a:rPr>
              <a:t>size)</a:t>
            </a:r>
            <a:r>
              <a:rPr sz="2400" b="1" spc="-65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EE220C"/>
                </a:solidFill>
                <a:latin typeface="Arial"/>
                <a:cs typeface="Arial"/>
              </a:rPr>
              <a:t>is</a:t>
            </a:r>
            <a:r>
              <a:rPr sz="2400" b="1" spc="-65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EE220C"/>
                </a:solidFill>
                <a:latin typeface="Arial"/>
                <a:cs typeface="Arial"/>
              </a:rPr>
              <a:t>thousands</a:t>
            </a:r>
            <a:r>
              <a:rPr sz="2400" b="1" spc="-65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EE220C"/>
                </a:solidFill>
                <a:latin typeface="Arial"/>
                <a:cs typeface="Arial"/>
              </a:rPr>
              <a:t>of</a:t>
            </a:r>
            <a:r>
              <a:rPr sz="2400" b="1" spc="-65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EE220C"/>
                </a:solidFill>
                <a:latin typeface="Arial"/>
                <a:cs typeface="Arial"/>
              </a:rPr>
              <a:t>millions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6278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10"/>
              </a:spcBef>
            </a:pPr>
            <a:r>
              <a:rPr sz="7350" dirty="0"/>
              <a:t>Noise</a:t>
            </a:r>
            <a:r>
              <a:rPr sz="7350" spc="-185" dirty="0"/>
              <a:t> </a:t>
            </a:r>
            <a:r>
              <a:rPr sz="7350" spc="-25" dirty="0"/>
              <a:t>Contrastive</a:t>
            </a:r>
            <a:r>
              <a:rPr sz="7350" spc="-185" dirty="0"/>
              <a:t> </a:t>
            </a:r>
            <a:r>
              <a:rPr sz="7350" spc="-10" dirty="0"/>
              <a:t>Estimation</a:t>
            </a:r>
            <a:endParaRPr sz="7350"/>
          </a:p>
        </p:txBody>
      </p:sp>
      <p:sp>
        <p:nvSpPr>
          <p:cNvPr id="3" name="object 3"/>
          <p:cNvSpPr txBox="1"/>
          <p:nvPr/>
        </p:nvSpPr>
        <p:spPr>
          <a:xfrm>
            <a:off x="990600" y="2608658"/>
            <a:ext cx="1061466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834" indent="-445134">
              <a:lnSpc>
                <a:spcPct val="100000"/>
              </a:lnSpc>
              <a:spcBef>
                <a:spcPts val="100"/>
              </a:spcBef>
              <a:buSzPct val="120312"/>
              <a:buChar char="•"/>
              <a:tabLst>
                <a:tab pos="457834" algn="l"/>
              </a:tabLst>
            </a:pPr>
            <a:r>
              <a:rPr sz="3200" dirty="0">
                <a:latin typeface="Calibri"/>
                <a:cs typeface="Calibri"/>
              </a:rPr>
              <a:t>Intuition: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Estimate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parameters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by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learning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discriminate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35100" y="3137621"/>
            <a:ext cx="29464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alibri"/>
                <a:cs typeface="Calibri"/>
              </a:rPr>
              <a:t>between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data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33362" y="3103100"/>
            <a:ext cx="6571615" cy="5549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200" dirty="0">
                <a:latin typeface="Calibri"/>
                <a:cs typeface="Calibri"/>
              </a:rPr>
              <a:t>and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some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artificially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generated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noise</a:t>
            </a:r>
            <a:r>
              <a:rPr sz="3200" spc="480" dirty="0">
                <a:latin typeface="Calibri"/>
                <a:cs typeface="Calibri"/>
              </a:rPr>
              <a:t> </a:t>
            </a:r>
            <a:r>
              <a:rPr sz="3450" spc="-980" dirty="0">
                <a:latin typeface="Lucida Sans Unicode"/>
                <a:cs typeface="Lucida Sans Unicode"/>
              </a:rPr>
              <a:t>˜</a:t>
            </a:r>
            <a:r>
              <a:rPr sz="3450" spc="-535" dirty="0">
                <a:latin typeface="Lucida Sans Unicode"/>
                <a:cs typeface="Lucida Sans Unicode"/>
              </a:rPr>
              <a:t> </a:t>
            </a:r>
            <a:r>
              <a:rPr sz="3200" spc="-50" dirty="0"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77900" y="4220159"/>
            <a:ext cx="10184765" cy="2279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8680" algn="ctr">
              <a:lnSpc>
                <a:spcPct val="100000"/>
              </a:lnSpc>
              <a:spcBef>
                <a:spcPts val="100"/>
              </a:spcBef>
            </a:pPr>
            <a:r>
              <a:rPr sz="2800" i="1" dirty="0">
                <a:solidFill>
                  <a:srgbClr val="B51700"/>
                </a:solidFill>
                <a:latin typeface="Times New Roman"/>
                <a:cs typeface="Times New Roman"/>
              </a:rPr>
              <a:t>maximum</a:t>
            </a:r>
            <a:r>
              <a:rPr sz="2800" i="1" spc="400" dirty="0">
                <a:solidFill>
                  <a:srgbClr val="B51700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B51700"/>
                </a:solidFill>
                <a:latin typeface="Times New Roman"/>
                <a:cs typeface="Times New Roman"/>
              </a:rPr>
              <a:t>likelihood</a:t>
            </a:r>
            <a:r>
              <a:rPr sz="2800" i="1" spc="415" dirty="0">
                <a:solidFill>
                  <a:srgbClr val="B51700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B51700"/>
                </a:solidFill>
                <a:latin typeface="Times New Roman"/>
                <a:cs typeface="Times New Roman"/>
              </a:rPr>
              <a:t>estimation</a:t>
            </a:r>
            <a:r>
              <a:rPr sz="2800" i="1" spc="195" dirty="0">
                <a:solidFill>
                  <a:srgbClr val="B517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B51700"/>
                </a:solidFill>
                <a:latin typeface="Lucida Sans Unicode"/>
                <a:cs typeface="Lucida Sans Unicode"/>
              </a:rPr>
              <a:t>→</a:t>
            </a:r>
            <a:r>
              <a:rPr sz="2800" spc="10" dirty="0">
                <a:solidFill>
                  <a:srgbClr val="B51700"/>
                </a:solidFill>
                <a:latin typeface="Lucida Sans Unicode"/>
                <a:cs typeface="Lucida Sans Unicode"/>
              </a:rPr>
              <a:t> </a:t>
            </a:r>
            <a:r>
              <a:rPr sz="2800" i="1" dirty="0">
                <a:solidFill>
                  <a:srgbClr val="B51700"/>
                </a:solidFill>
                <a:latin typeface="Times New Roman"/>
                <a:cs typeface="Times New Roman"/>
              </a:rPr>
              <a:t>noise</a:t>
            </a:r>
            <a:r>
              <a:rPr sz="2800" i="1" spc="370" dirty="0">
                <a:solidFill>
                  <a:srgbClr val="B51700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B51700"/>
                </a:solidFill>
                <a:latin typeface="Times New Roman"/>
                <a:cs typeface="Times New Roman"/>
              </a:rPr>
              <a:t>contrastive</a:t>
            </a:r>
            <a:r>
              <a:rPr sz="2800" i="1" spc="375" dirty="0">
                <a:solidFill>
                  <a:srgbClr val="B51700"/>
                </a:solidFill>
                <a:latin typeface="Times New Roman"/>
                <a:cs typeface="Times New Roman"/>
              </a:rPr>
              <a:t> </a:t>
            </a:r>
            <a:r>
              <a:rPr sz="2800" i="1" spc="-10" dirty="0">
                <a:solidFill>
                  <a:srgbClr val="B51700"/>
                </a:solidFill>
                <a:latin typeface="Times New Roman"/>
                <a:cs typeface="Times New Roman"/>
              </a:rPr>
              <a:t>estimation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2800">
              <a:latin typeface="Times New Roman"/>
              <a:cs typeface="Times New Roman"/>
            </a:endParaRPr>
          </a:p>
          <a:p>
            <a:pPr marL="470534" indent="-445134">
              <a:lnSpc>
                <a:spcPct val="100000"/>
              </a:lnSpc>
              <a:spcBef>
                <a:spcPts val="5"/>
              </a:spcBef>
              <a:buSzPct val="120312"/>
              <a:buChar char="•"/>
              <a:tabLst>
                <a:tab pos="470534" algn="l"/>
              </a:tabLst>
            </a:pPr>
            <a:r>
              <a:rPr sz="3200" dirty="0">
                <a:latin typeface="Calibri"/>
                <a:cs typeface="Calibri"/>
              </a:rPr>
              <a:t>Objective</a:t>
            </a:r>
            <a:r>
              <a:rPr sz="3200" spc="-1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function:</a:t>
            </a:r>
            <a:endParaRPr sz="3200">
              <a:latin typeface="Calibri"/>
              <a:cs typeface="Calibri"/>
            </a:endParaRPr>
          </a:p>
          <a:p>
            <a:pPr marL="2374900" algn="ctr">
              <a:lnSpc>
                <a:spcPts val="2035"/>
              </a:lnSpc>
              <a:spcBef>
                <a:spcPts val="1235"/>
              </a:spcBef>
            </a:pPr>
            <a:r>
              <a:rPr sz="1700" i="1" spc="-50" dirty="0">
                <a:latin typeface="Times New Roman"/>
                <a:cs typeface="Times New Roman"/>
              </a:rPr>
              <a:t>N</a:t>
            </a:r>
            <a:endParaRPr sz="1700">
              <a:latin typeface="Times New Roman"/>
              <a:cs typeface="Times New Roman"/>
            </a:endParaRPr>
          </a:p>
          <a:p>
            <a:pPr marL="867410" algn="ctr">
              <a:lnSpc>
                <a:spcPts val="2875"/>
              </a:lnSpc>
            </a:pPr>
            <a:r>
              <a:rPr sz="2400" spc="-270" dirty="0">
                <a:latin typeface="Lucida Sans Unicode"/>
                <a:cs typeface="Lucida Sans Unicode"/>
              </a:rPr>
              <a:t>arg</a:t>
            </a:r>
            <a:r>
              <a:rPr sz="2400" spc="-360" dirty="0">
                <a:latin typeface="Lucida Sans Unicode"/>
                <a:cs typeface="Lucida Sans Unicode"/>
              </a:rPr>
              <a:t> </a:t>
            </a:r>
            <a:r>
              <a:rPr sz="2400" spc="-305" dirty="0">
                <a:latin typeface="Lucida Sans Unicode"/>
                <a:cs typeface="Lucida Sans Unicode"/>
              </a:rPr>
              <a:t>max</a:t>
            </a:r>
            <a:r>
              <a:rPr sz="2400" spc="450" dirty="0">
                <a:latin typeface="Lucida Sans Unicode"/>
                <a:cs typeface="Lucida Sans Unicode"/>
              </a:rPr>
              <a:t> </a:t>
            </a:r>
            <a:r>
              <a:rPr sz="2400" spc="-215" dirty="0">
                <a:latin typeface="Lucida Sans Unicode"/>
                <a:cs typeface="Lucida Sans Unicode"/>
              </a:rPr>
              <a:t>log</a:t>
            </a:r>
            <a:r>
              <a:rPr sz="2400" spc="-3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p</a:t>
            </a:r>
            <a:r>
              <a:rPr sz="2400" dirty="0">
                <a:latin typeface="Lucida Sans Unicode"/>
                <a:cs typeface="Lucida Sans Unicode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d</a:t>
            </a:r>
            <a:r>
              <a:rPr sz="2400" i="1" spc="95" dirty="0">
                <a:latin typeface="Times New Roman"/>
                <a:cs typeface="Times New Roman"/>
              </a:rPr>
              <a:t> </a:t>
            </a:r>
            <a:r>
              <a:rPr sz="2400" spc="-290" dirty="0">
                <a:latin typeface="Lucida Sans Unicode"/>
                <a:cs typeface="Lucida Sans Unicode"/>
              </a:rPr>
              <a:t>=</a:t>
            </a:r>
            <a:r>
              <a:rPr sz="2400" spc="-90" dirty="0">
                <a:latin typeface="Lucida Sans Unicode"/>
                <a:cs typeface="Lucida Sans Unicode"/>
              </a:rPr>
              <a:t> </a:t>
            </a:r>
            <a:r>
              <a:rPr sz="2400" spc="-320" dirty="0">
                <a:latin typeface="Lucida Sans Unicode"/>
                <a:cs typeface="Lucida Sans Unicode"/>
              </a:rPr>
              <a:t>1</a:t>
            </a:r>
            <a:r>
              <a:rPr sz="2400" spc="-49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Cambria"/>
                <a:cs typeface="Cambria"/>
              </a:rPr>
              <a:t>|</a:t>
            </a:r>
            <a:r>
              <a:rPr sz="2400" spc="-265" dirty="0">
                <a:latin typeface="Cambria"/>
                <a:cs typeface="Cambria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w</a:t>
            </a:r>
            <a:r>
              <a:rPr sz="2550" i="1" baseline="-19607" dirty="0">
                <a:latin typeface="Times New Roman"/>
                <a:cs typeface="Times New Roman"/>
              </a:rPr>
              <a:t>t</a:t>
            </a:r>
            <a:r>
              <a:rPr sz="2550" i="1" spc="562" baseline="-19607" dirty="0">
                <a:latin typeface="Times New Roman"/>
                <a:cs typeface="Times New Roman"/>
              </a:rPr>
              <a:t> </a:t>
            </a:r>
            <a:r>
              <a:rPr sz="2400" spc="-175" dirty="0">
                <a:latin typeface="Lucida Sans Unicode"/>
                <a:cs typeface="Lucida Sans Unicode"/>
              </a:rPr>
              <a:t>,</a:t>
            </a:r>
            <a:r>
              <a:rPr sz="2400" spc="-3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dirty="0">
                <a:latin typeface="Lucida Sans Unicode"/>
                <a:cs typeface="Lucida Sans Unicode"/>
              </a:rPr>
              <a:t>)</a:t>
            </a:r>
            <a:r>
              <a:rPr sz="2400" spc="-229" dirty="0">
                <a:latin typeface="Lucida Sans Unicode"/>
                <a:cs typeface="Lucida Sans Unicode"/>
              </a:rPr>
              <a:t> </a:t>
            </a:r>
            <a:r>
              <a:rPr sz="2400" spc="-290" dirty="0">
                <a:latin typeface="Lucida Sans Unicode"/>
                <a:cs typeface="Lucida Sans Unicode"/>
              </a:rPr>
              <a:t>+</a:t>
            </a:r>
            <a:r>
              <a:rPr sz="2400" spc="140" dirty="0">
                <a:latin typeface="Lucida Sans Unicode"/>
                <a:cs typeface="Lucida Sans Unicode"/>
              </a:rPr>
              <a:t> </a:t>
            </a:r>
            <a:r>
              <a:rPr sz="3600" spc="2077" baseline="-28935" dirty="0">
                <a:latin typeface="Arial"/>
                <a:cs typeface="Arial"/>
              </a:rPr>
              <a:t>∑</a:t>
            </a:r>
            <a:r>
              <a:rPr sz="3600" spc="157" baseline="-28935" dirty="0">
                <a:latin typeface="Arial"/>
                <a:cs typeface="Arial"/>
              </a:rPr>
              <a:t> </a:t>
            </a:r>
            <a:r>
              <a:rPr sz="2400" spc="-215" dirty="0">
                <a:latin typeface="Lucida Sans Unicode"/>
                <a:cs typeface="Lucida Sans Unicode"/>
              </a:rPr>
              <a:t>log</a:t>
            </a:r>
            <a:r>
              <a:rPr sz="2400" spc="-3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p</a:t>
            </a:r>
            <a:r>
              <a:rPr sz="2400" dirty="0">
                <a:latin typeface="Lucida Sans Unicode"/>
                <a:cs typeface="Lucida Sans Unicode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d</a:t>
            </a:r>
            <a:r>
              <a:rPr sz="2400" i="1" spc="95" dirty="0">
                <a:latin typeface="Times New Roman"/>
                <a:cs typeface="Times New Roman"/>
              </a:rPr>
              <a:t> </a:t>
            </a:r>
            <a:r>
              <a:rPr sz="2400" spc="-290" dirty="0">
                <a:latin typeface="Lucida Sans Unicode"/>
                <a:cs typeface="Lucida Sans Unicode"/>
              </a:rPr>
              <a:t>=</a:t>
            </a:r>
            <a:r>
              <a:rPr sz="2400" spc="-90" dirty="0">
                <a:latin typeface="Lucida Sans Unicode"/>
                <a:cs typeface="Lucida Sans Unicode"/>
              </a:rPr>
              <a:t> </a:t>
            </a:r>
            <a:r>
              <a:rPr sz="2400" spc="-320" dirty="0">
                <a:latin typeface="Lucida Sans Unicode"/>
                <a:cs typeface="Lucida Sans Unicode"/>
              </a:rPr>
              <a:t>0</a:t>
            </a:r>
            <a:r>
              <a:rPr sz="2400" spc="-49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Cambria"/>
                <a:cs typeface="Cambria"/>
              </a:rPr>
              <a:t>|</a:t>
            </a:r>
            <a:r>
              <a:rPr sz="2400" spc="-260" dirty="0">
                <a:latin typeface="Cambria"/>
                <a:cs typeface="Cambria"/>
              </a:rPr>
              <a:t> </a:t>
            </a:r>
            <a:r>
              <a:rPr sz="2400" i="1" spc="-1225" dirty="0">
                <a:latin typeface="Times New Roman"/>
                <a:cs typeface="Times New Roman"/>
              </a:rPr>
              <a:t>w</a:t>
            </a:r>
            <a:r>
              <a:rPr sz="2400" spc="-95" dirty="0">
                <a:latin typeface="Lucida Sans Unicode"/>
                <a:cs typeface="Lucida Sans Unicode"/>
              </a:rPr>
              <a:t>˜</a:t>
            </a:r>
            <a:r>
              <a:rPr sz="2550" i="1" spc="-322" baseline="-19607" dirty="0">
                <a:latin typeface="Times New Roman"/>
                <a:cs typeface="Times New Roman"/>
              </a:rPr>
              <a:t>i</a:t>
            </a:r>
            <a:r>
              <a:rPr sz="2400" spc="-215" dirty="0">
                <a:latin typeface="Lucida Sans Unicode"/>
                <a:cs typeface="Lucida Sans Unicode"/>
              </a:rPr>
              <a:t>,</a:t>
            </a:r>
            <a:r>
              <a:rPr sz="2400" spc="-330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x</a:t>
            </a:r>
            <a:r>
              <a:rPr sz="2400" spc="-25" dirty="0">
                <a:latin typeface="Lucida Sans Unicode"/>
                <a:cs typeface="Lucida Sans Unicode"/>
              </a:rPr>
              <a:t>)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76457" y="6568701"/>
            <a:ext cx="56261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700" i="1" spc="-755" dirty="0">
                <a:latin typeface="Times New Roman"/>
                <a:cs typeface="Times New Roman"/>
              </a:rPr>
              <a:t>w</a:t>
            </a:r>
            <a:r>
              <a:rPr sz="1700" spc="55" dirty="0">
                <a:latin typeface="Lucida Sans Unicode"/>
                <a:cs typeface="Lucida Sans Unicode"/>
              </a:rPr>
              <a:t>˜</a:t>
            </a:r>
            <a:r>
              <a:rPr sz="1800" i="1" spc="-22" baseline="-20833" dirty="0">
                <a:latin typeface="Times New Roman"/>
                <a:cs typeface="Times New Roman"/>
              </a:rPr>
              <a:t>i</a:t>
            </a:r>
            <a:r>
              <a:rPr sz="1700" spc="-30" dirty="0">
                <a:latin typeface="Lucida Sans Unicode"/>
                <a:cs typeface="Lucida Sans Unicode"/>
              </a:rPr>
              <a:t>~</a:t>
            </a:r>
            <a:r>
              <a:rPr sz="1700" i="1" spc="-30" dirty="0">
                <a:latin typeface="Times New Roman"/>
                <a:cs typeface="Times New Roman"/>
              </a:rPr>
              <a:t>Q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0600" y="6728292"/>
            <a:ext cx="253682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834" indent="-445134">
              <a:lnSpc>
                <a:spcPct val="100000"/>
              </a:lnSpc>
              <a:spcBef>
                <a:spcPts val="100"/>
              </a:spcBef>
              <a:buSzPct val="120312"/>
              <a:buChar char="•"/>
              <a:tabLst>
                <a:tab pos="457834" algn="l"/>
              </a:tabLst>
            </a:pPr>
            <a:r>
              <a:rPr sz="3200" dirty="0">
                <a:latin typeface="Calibri"/>
                <a:cs typeface="Calibri"/>
              </a:rPr>
              <a:t>Derive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form: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37269" y="7580162"/>
            <a:ext cx="9867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i="1" spc="-25" dirty="0">
                <a:latin typeface="Times New Roman"/>
                <a:cs typeface="Times New Roman"/>
              </a:rPr>
              <a:t>p</a:t>
            </a:r>
            <a:r>
              <a:rPr sz="2400" spc="-25" dirty="0">
                <a:latin typeface="Lucida Sans Unicode"/>
                <a:cs typeface="Lucida Sans Unicode"/>
              </a:rPr>
              <a:t>(</a:t>
            </a:r>
            <a:r>
              <a:rPr sz="2400" i="1" spc="-25" dirty="0">
                <a:latin typeface="Times New Roman"/>
                <a:cs typeface="Times New Roman"/>
              </a:rPr>
              <a:t>w</a:t>
            </a:r>
            <a:r>
              <a:rPr sz="2550" i="1" spc="-37" baseline="-19607" dirty="0">
                <a:latin typeface="Times New Roman"/>
                <a:cs typeface="Times New Roman"/>
              </a:rPr>
              <a:t>t</a:t>
            </a:r>
            <a:r>
              <a:rPr sz="2550" i="1" spc="-217" baseline="-1960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mbria"/>
                <a:cs typeface="Cambria"/>
              </a:rPr>
              <a:t>|</a:t>
            </a:r>
            <a:r>
              <a:rPr sz="2400" spc="-250" dirty="0">
                <a:latin typeface="Cambria"/>
                <a:cs typeface="Cambria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x</a:t>
            </a:r>
            <a:r>
              <a:rPr sz="2400" spc="-25" dirty="0">
                <a:latin typeface="Lucida Sans Unicode"/>
                <a:cs typeface="Lucida Sans Unicode"/>
              </a:rPr>
              <a:t>)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06428" y="7807396"/>
            <a:ext cx="15278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70" dirty="0">
                <a:latin typeface="Lucida Sans Unicode"/>
                <a:cs typeface="Lucida Sans Unicode"/>
              </a:rPr>
              <a:t>arg</a:t>
            </a:r>
            <a:r>
              <a:rPr sz="2400" spc="-360" dirty="0">
                <a:latin typeface="Lucida Sans Unicode"/>
                <a:cs typeface="Lucida Sans Unicode"/>
              </a:rPr>
              <a:t> </a:t>
            </a:r>
            <a:r>
              <a:rPr sz="2400" spc="-305" dirty="0">
                <a:latin typeface="Lucida Sans Unicode"/>
                <a:cs typeface="Lucida Sans Unicode"/>
              </a:rPr>
              <a:t>max</a:t>
            </a:r>
            <a:r>
              <a:rPr sz="2400" spc="455" dirty="0">
                <a:latin typeface="Lucida Sans Unicode"/>
                <a:cs typeface="Lucida Sans Unicode"/>
              </a:rPr>
              <a:t> </a:t>
            </a:r>
            <a:r>
              <a:rPr sz="2400" spc="-190" dirty="0">
                <a:latin typeface="Lucida Sans Unicode"/>
                <a:cs typeface="Lucida Sans Unicode"/>
              </a:rPr>
              <a:t>log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490880" y="8037723"/>
            <a:ext cx="2078989" cy="20955"/>
          </a:xfrm>
          <a:custGeom>
            <a:avLst/>
            <a:gdLst/>
            <a:ahLst/>
            <a:cxnLst/>
            <a:rect l="l" t="t" r="r" b="b"/>
            <a:pathLst>
              <a:path w="2078990" h="20954">
                <a:moveTo>
                  <a:pt x="2078948" y="0"/>
                </a:moveTo>
                <a:lnTo>
                  <a:pt x="0" y="0"/>
                </a:lnTo>
                <a:lnTo>
                  <a:pt x="0" y="20421"/>
                </a:lnTo>
                <a:lnTo>
                  <a:pt x="2078948" y="20421"/>
                </a:lnTo>
                <a:lnTo>
                  <a:pt x="20789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640102" y="7807396"/>
            <a:ext cx="2343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40" dirty="0">
                <a:latin typeface="Lucida Sans Unicode"/>
                <a:cs typeface="Lucida Sans Unicode"/>
              </a:rPr>
              <a:t>+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57654" y="8191444"/>
            <a:ext cx="857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i="1" spc="-50" dirty="0">
                <a:latin typeface="Times New Roman"/>
                <a:cs typeface="Times New Roman"/>
              </a:rPr>
              <a:t>t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08660" y="8035996"/>
            <a:ext cx="20434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p</a:t>
            </a:r>
            <a:r>
              <a:rPr sz="2400" dirty="0">
                <a:latin typeface="Lucida Sans Unicode"/>
                <a:cs typeface="Lucida Sans Unicode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w</a:t>
            </a:r>
            <a:r>
              <a:rPr sz="2400" i="1" spc="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mbria"/>
                <a:cs typeface="Cambria"/>
              </a:rPr>
              <a:t>|</a:t>
            </a:r>
            <a:r>
              <a:rPr sz="2400" spc="-254" dirty="0">
                <a:latin typeface="Cambria"/>
                <a:cs typeface="Cambria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dirty="0">
                <a:latin typeface="Lucida Sans Unicode"/>
                <a:cs typeface="Lucida Sans Unicode"/>
              </a:rPr>
              <a:t>)</a:t>
            </a:r>
            <a:r>
              <a:rPr sz="2400" spc="-210" dirty="0">
                <a:latin typeface="Lucida Sans Unicode"/>
                <a:cs typeface="Lucida Sans Unicode"/>
              </a:rPr>
              <a:t> </a:t>
            </a:r>
            <a:r>
              <a:rPr sz="2400" spc="-290" dirty="0">
                <a:latin typeface="Lucida Sans Unicode"/>
                <a:cs typeface="Lucida Sans Unicode"/>
              </a:rPr>
              <a:t>+</a:t>
            </a:r>
            <a:r>
              <a:rPr sz="2400" spc="-210" dirty="0">
                <a:latin typeface="Lucida Sans Unicode"/>
                <a:cs typeface="Lucida Sans Unicode"/>
              </a:rPr>
              <a:t> </a:t>
            </a:r>
            <a:r>
              <a:rPr sz="2400" i="1" spc="-140" dirty="0">
                <a:latin typeface="Times New Roman"/>
                <a:cs typeface="Times New Roman"/>
              </a:rPr>
              <a:t>Nq</a:t>
            </a:r>
            <a:r>
              <a:rPr sz="2400" spc="-140" dirty="0">
                <a:latin typeface="Lucida Sans Unicode"/>
                <a:cs typeface="Lucida Sans Unicode"/>
              </a:rPr>
              <a:t>(</a:t>
            </a:r>
            <a:r>
              <a:rPr sz="2400" i="1" spc="-1330" dirty="0">
                <a:latin typeface="Times New Roman"/>
                <a:cs typeface="Times New Roman"/>
              </a:rPr>
              <a:t>w</a:t>
            </a:r>
            <a:r>
              <a:rPr sz="2400" spc="-140" dirty="0">
                <a:latin typeface="Lucida Sans Unicode"/>
                <a:cs typeface="Lucida Sans Unicode"/>
              </a:rPr>
              <a:t>˜</a:t>
            </a:r>
            <a:r>
              <a:rPr sz="2400" spc="-360" dirty="0">
                <a:latin typeface="Lucida Sans Unicode"/>
                <a:cs typeface="Lucida Sans Unicode"/>
              </a:rPr>
              <a:t> </a:t>
            </a:r>
            <a:r>
              <a:rPr sz="2400" spc="-50" dirty="0">
                <a:latin typeface="Lucida Sans Unicode"/>
                <a:cs typeface="Lucida Sans Unicode"/>
              </a:rPr>
              <a:t>)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891223" y="7436260"/>
            <a:ext cx="562610" cy="1117600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85"/>
              </a:spcBef>
            </a:pPr>
            <a:r>
              <a:rPr sz="1700" i="1" spc="-50" dirty="0">
                <a:latin typeface="Times New Roman"/>
                <a:cs typeface="Times New Roman"/>
              </a:rPr>
              <a:t>N</a:t>
            </a:r>
            <a:endParaRPr sz="1700">
              <a:latin typeface="Times New Roman"/>
              <a:cs typeface="Times New Roman"/>
            </a:endParaRPr>
          </a:p>
          <a:p>
            <a:pPr algn="ctr">
              <a:lnSpc>
                <a:spcPts val="2630"/>
              </a:lnSpc>
              <a:spcBef>
                <a:spcPts val="1245"/>
              </a:spcBef>
            </a:pPr>
            <a:r>
              <a:rPr sz="2400" spc="1335" dirty="0">
                <a:latin typeface="Arial"/>
                <a:cs typeface="Arial"/>
              </a:rPr>
              <a:t>∑</a:t>
            </a:r>
            <a:endParaRPr sz="2400">
              <a:latin typeface="Arial"/>
              <a:cs typeface="Arial"/>
            </a:endParaRPr>
          </a:p>
          <a:p>
            <a:pPr algn="ctr">
              <a:lnSpc>
                <a:spcPts val="1789"/>
              </a:lnSpc>
            </a:pPr>
            <a:r>
              <a:rPr sz="1700" i="1" spc="-695" dirty="0">
                <a:latin typeface="Times New Roman"/>
                <a:cs typeface="Times New Roman"/>
              </a:rPr>
              <a:t>w</a:t>
            </a:r>
            <a:r>
              <a:rPr sz="1700" spc="114" dirty="0">
                <a:latin typeface="Lucida Sans Unicode"/>
                <a:cs typeface="Lucida Sans Unicode"/>
              </a:rPr>
              <a:t>˜</a:t>
            </a:r>
            <a:r>
              <a:rPr sz="1800" i="1" spc="67" baseline="-20833" dirty="0">
                <a:latin typeface="Times New Roman"/>
                <a:cs typeface="Times New Roman"/>
              </a:rPr>
              <a:t>i</a:t>
            </a:r>
            <a:r>
              <a:rPr sz="1700" spc="30" dirty="0">
                <a:latin typeface="Lucida Sans Unicode"/>
                <a:cs typeface="Lucida Sans Unicode"/>
              </a:rPr>
              <a:t>~</a:t>
            </a:r>
            <a:r>
              <a:rPr sz="1700" i="1" spc="30" dirty="0">
                <a:latin typeface="Times New Roman"/>
                <a:cs typeface="Times New Roman"/>
              </a:rPr>
              <a:t>Q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546386" y="7580162"/>
            <a:ext cx="8921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i="1" spc="-60" dirty="0">
                <a:latin typeface="Times New Roman"/>
                <a:cs typeface="Times New Roman"/>
              </a:rPr>
              <a:t>Nq</a:t>
            </a:r>
            <a:r>
              <a:rPr sz="2400" spc="-60" dirty="0">
                <a:latin typeface="Lucida Sans Unicode"/>
                <a:cs typeface="Lucida Sans Unicode"/>
              </a:rPr>
              <a:t>(</a:t>
            </a:r>
            <a:r>
              <a:rPr sz="2400" i="1" spc="-1070" dirty="0">
                <a:latin typeface="Times New Roman"/>
                <a:cs typeface="Times New Roman"/>
              </a:rPr>
              <a:t>w</a:t>
            </a:r>
            <a:r>
              <a:rPr sz="2400" spc="60" dirty="0">
                <a:latin typeface="Lucida Sans Unicode"/>
                <a:cs typeface="Lucida Sans Unicode"/>
              </a:rPr>
              <a:t>˜</a:t>
            </a:r>
            <a:r>
              <a:rPr sz="2550" i="1" spc="-44" baseline="-19607" dirty="0">
                <a:latin typeface="Times New Roman"/>
                <a:cs typeface="Times New Roman"/>
              </a:rPr>
              <a:t>i</a:t>
            </a:r>
            <a:r>
              <a:rPr sz="2400" spc="-60" dirty="0">
                <a:latin typeface="Lucida Sans Unicode"/>
                <a:cs typeface="Lucida Sans Unicode"/>
              </a:rPr>
              <a:t>)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453676" y="7807396"/>
            <a:ext cx="4152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85" dirty="0">
                <a:latin typeface="Lucida Sans Unicode"/>
                <a:cs typeface="Lucida Sans Unicode"/>
              </a:rPr>
              <a:t>log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925607" y="8037723"/>
            <a:ext cx="2133600" cy="20955"/>
          </a:xfrm>
          <a:custGeom>
            <a:avLst/>
            <a:gdLst/>
            <a:ahLst/>
            <a:cxnLst/>
            <a:rect l="l" t="t" r="r" b="b"/>
            <a:pathLst>
              <a:path w="2133600" h="20954">
                <a:moveTo>
                  <a:pt x="2133546" y="0"/>
                </a:moveTo>
                <a:lnTo>
                  <a:pt x="0" y="0"/>
                </a:lnTo>
                <a:lnTo>
                  <a:pt x="0" y="20421"/>
                </a:lnTo>
                <a:lnTo>
                  <a:pt x="2133546" y="20421"/>
                </a:lnTo>
                <a:lnTo>
                  <a:pt x="21335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8392383" y="8191444"/>
            <a:ext cx="857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i="1" spc="-50" dirty="0">
                <a:latin typeface="Times New Roman"/>
                <a:cs typeface="Times New Roman"/>
              </a:rPr>
              <a:t>t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850453" y="8191444"/>
            <a:ext cx="857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i="1" spc="-50" dirty="0">
                <a:latin typeface="Times New Roman"/>
                <a:cs typeface="Times New Roman"/>
              </a:rPr>
              <a:t>i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943388" y="8035996"/>
            <a:ext cx="20980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p</a:t>
            </a:r>
            <a:r>
              <a:rPr sz="2400" dirty="0">
                <a:latin typeface="Lucida Sans Unicode"/>
                <a:cs typeface="Lucida Sans Unicode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w</a:t>
            </a:r>
            <a:r>
              <a:rPr sz="2400" i="1" spc="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mbria"/>
                <a:cs typeface="Cambria"/>
              </a:rPr>
              <a:t>|</a:t>
            </a:r>
            <a:r>
              <a:rPr sz="2400" spc="-254" dirty="0">
                <a:latin typeface="Cambria"/>
                <a:cs typeface="Cambria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dirty="0">
                <a:latin typeface="Lucida Sans Unicode"/>
                <a:cs typeface="Lucida Sans Unicode"/>
              </a:rPr>
              <a:t>)</a:t>
            </a:r>
            <a:r>
              <a:rPr sz="2400" spc="-210" dirty="0">
                <a:latin typeface="Lucida Sans Unicode"/>
                <a:cs typeface="Lucida Sans Unicode"/>
              </a:rPr>
              <a:t> </a:t>
            </a:r>
            <a:r>
              <a:rPr sz="2400" spc="-290" dirty="0">
                <a:latin typeface="Lucida Sans Unicode"/>
                <a:cs typeface="Lucida Sans Unicode"/>
              </a:rPr>
              <a:t>+</a:t>
            </a:r>
            <a:r>
              <a:rPr sz="2400" spc="-210" dirty="0">
                <a:latin typeface="Lucida Sans Unicode"/>
                <a:cs typeface="Lucida Sans Unicode"/>
              </a:rPr>
              <a:t> </a:t>
            </a:r>
            <a:r>
              <a:rPr sz="2400" i="1" spc="-140" dirty="0">
                <a:latin typeface="Times New Roman"/>
                <a:cs typeface="Times New Roman"/>
              </a:rPr>
              <a:t>Nq</a:t>
            </a:r>
            <a:r>
              <a:rPr sz="2400" spc="-140" dirty="0">
                <a:latin typeface="Lucida Sans Unicode"/>
                <a:cs typeface="Lucida Sans Unicode"/>
              </a:rPr>
              <a:t>(</a:t>
            </a:r>
            <a:r>
              <a:rPr sz="2400" i="1" spc="-1145" dirty="0">
                <a:latin typeface="Times New Roman"/>
                <a:cs typeface="Times New Roman"/>
              </a:rPr>
              <a:t>w</a:t>
            </a:r>
            <a:r>
              <a:rPr sz="2400" spc="-140" dirty="0">
                <a:latin typeface="Lucida Sans Unicode"/>
                <a:cs typeface="Lucida Sans Unicode"/>
              </a:rPr>
              <a:t>˜</a:t>
            </a:r>
            <a:r>
              <a:rPr sz="2400" spc="-110" dirty="0">
                <a:latin typeface="Lucida Sans Unicode"/>
                <a:cs typeface="Lucida Sans Unicode"/>
              </a:rPr>
              <a:t> </a:t>
            </a:r>
            <a:r>
              <a:rPr sz="2400" spc="-50" dirty="0">
                <a:latin typeface="Lucida Sans Unicode"/>
                <a:cs typeface="Lucida Sans Unicode"/>
              </a:rPr>
              <a:t>)</a:t>
            </a:r>
            <a:endParaRPr sz="2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6278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10"/>
              </a:spcBef>
            </a:pPr>
            <a:r>
              <a:rPr sz="7350" dirty="0"/>
              <a:t>Noise</a:t>
            </a:r>
            <a:r>
              <a:rPr sz="7350" spc="-185" dirty="0"/>
              <a:t> </a:t>
            </a:r>
            <a:r>
              <a:rPr sz="7350" spc="-25" dirty="0"/>
              <a:t>Contrastive</a:t>
            </a:r>
            <a:r>
              <a:rPr sz="7350" spc="-185" dirty="0"/>
              <a:t> </a:t>
            </a:r>
            <a:r>
              <a:rPr sz="7350" spc="-10" dirty="0"/>
              <a:t>Estimation</a:t>
            </a:r>
            <a:endParaRPr sz="7350"/>
          </a:p>
        </p:txBody>
      </p:sp>
      <p:sp>
        <p:nvSpPr>
          <p:cNvPr id="3" name="object 3"/>
          <p:cNvSpPr txBox="1"/>
          <p:nvPr/>
        </p:nvSpPr>
        <p:spPr>
          <a:xfrm>
            <a:off x="990600" y="2608658"/>
            <a:ext cx="1061466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834" indent="-445134">
              <a:lnSpc>
                <a:spcPct val="100000"/>
              </a:lnSpc>
              <a:spcBef>
                <a:spcPts val="100"/>
              </a:spcBef>
              <a:buSzPct val="120312"/>
              <a:buChar char="•"/>
              <a:tabLst>
                <a:tab pos="457834" algn="l"/>
              </a:tabLst>
            </a:pPr>
            <a:r>
              <a:rPr sz="3200" dirty="0">
                <a:latin typeface="Calibri"/>
                <a:cs typeface="Calibri"/>
              </a:rPr>
              <a:t>Intuition: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Estimate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parameters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by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learning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discriminate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35100" y="3137621"/>
            <a:ext cx="29464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alibri"/>
                <a:cs typeface="Calibri"/>
              </a:rPr>
              <a:t>between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data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33362" y="3103100"/>
            <a:ext cx="6571615" cy="5549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200" dirty="0">
                <a:latin typeface="Calibri"/>
                <a:cs typeface="Calibri"/>
              </a:rPr>
              <a:t>and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some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artificially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generated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noise</a:t>
            </a:r>
            <a:r>
              <a:rPr sz="3200" spc="480" dirty="0">
                <a:latin typeface="Calibri"/>
                <a:cs typeface="Calibri"/>
              </a:rPr>
              <a:t> </a:t>
            </a:r>
            <a:r>
              <a:rPr sz="3450" spc="-980" dirty="0">
                <a:latin typeface="Lucida Sans Unicode"/>
                <a:cs typeface="Lucida Sans Unicode"/>
              </a:rPr>
              <a:t>˜</a:t>
            </a:r>
            <a:r>
              <a:rPr sz="3450" spc="-535" dirty="0">
                <a:latin typeface="Lucida Sans Unicode"/>
                <a:cs typeface="Lucida Sans Unicode"/>
              </a:rPr>
              <a:t> </a:t>
            </a:r>
            <a:r>
              <a:rPr sz="3200" spc="-50" dirty="0"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0600" y="4220159"/>
            <a:ext cx="10159365" cy="1513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1380">
              <a:lnSpc>
                <a:spcPct val="100000"/>
              </a:lnSpc>
              <a:spcBef>
                <a:spcPts val="100"/>
              </a:spcBef>
            </a:pPr>
            <a:r>
              <a:rPr sz="2800" i="1" dirty="0">
                <a:solidFill>
                  <a:srgbClr val="B51700"/>
                </a:solidFill>
                <a:latin typeface="Times New Roman"/>
                <a:cs typeface="Times New Roman"/>
              </a:rPr>
              <a:t>maximum</a:t>
            </a:r>
            <a:r>
              <a:rPr sz="2800" i="1" spc="400" dirty="0">
                <a:solidFill>
                  <a:srgbClr val="B51700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B51700"/>
                </a:solidFill>
                <a:latin typeface="Times New Roman"/>
                <a:cs typeface="Times New Roman"/>
              </a:rPr>
              <a:t>likelihood</a:t>
            </a:r>
            <a:r>
              <a:rPr sz="2800" i="1" spc="415" dirty="0">
                <a:solidFill>
                  <a:srgbClr val="B51700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B51700"/>
                </a:solidFill>
                <a:latin typeface="Times New Roman"/>
                <a:cs typeface="Times New Roman"/>
              </a:rPr>
              <a:t>estimation</a:t>
            </a:r>
            <a:r>
              <a:rPr sz="2800" i="1" spc="195" dirty="0">
                <a:solidFill>
                  <a:srgbClr val="B517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B51700"/>
                </a:solidFill>
                <a:latin typeface="Lucida Sans Unicode"/>
                <a:cs typeface="Lucida Sans Unicode"/>
              </a:rPr>
              <a:t>→</a:t>
            </a:r>
            <a:r>
              <a:rPr sz="2800" spc="10" dirty="0">
                <a:solidFill>
                  <a:srgbClr val="B51700"/>
                </a:solidFill>
                <a:latin typeface="Lucida Sans Unicode"/>
                <a:cs typeface="Lucida Sans Unicode"/>
              </a:rPr>
              <a:t> </a:t>
            </a:r>
            <a:r>
              <a:rPr sz="2800" i="1" dirty="0">
                <a:solidFill>
                  <a:srgbClr val="B51700"/>
                </a:solidFill>
                <a:latin typeface="Times New Roman"/>
                <a:cs typeface="Times New Roman"/>
              </a:rPr>
              <a:t>noise</a:t>
            </a:r>
            <a:r>
              <a:rPr sz="2800" i="1" spc="370" dirty="0">
                <a:solidFill>
                  <a:srgbClr val="B51700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B51700"/>
                </a:solidFill>
                <a:latin typeface="Times New Roman"/>
                <a:cs typeface="Times New Roman"/>
              </a:rPr>
              <a:t>contrastive</a:t>
            </a:r>
            <a:r>
              <a:rPr sz="2800" i="1" spc="375" dirty="0">
                <a:solidFill>
                  <a:srgbClr val="B51700"/>
                </a:solidFill>
                <a:latin typeface="Times New Roman"/>
                <a:cs typeface="Times New Roman"/>
              </a:rPr>
              <a:t> </a:t>
            </a:r>
            <a:r>
              <a:rPr sz="2800" i="1" spc="-10" dirty="0">
                <a:solidFill>
                  <a:srgbClr val="B51700"/>
                </a:solidFill>
                <a:latin typeface="Times New Roman"/>
                <a:cs typeface="Times New Roman"/>
              </a:rPr>
              <a:t>estimation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2800">
              <a:latin typeface="Times New Roman"/>
              <a:cs typeface="Times New Roman"/>
            </a:endParaRPr>
          </a:p>
          <a:p>
            <a:pPr marL="457834" indent="-445134">
              <a:lnSpc>
                <a:spcPct val="100000"/>
              </a:lnSpc>
              <a:spcBef>
                <a:spcPts val="5"/>
              </a:spcBef>
              <a:buSzPct val="120312"/>
              <a:buChar char="•"/>
              <a:tabLst>
                <a:tab pos="457834" algn="l"/>
              </a:tabLst>
            </a:pPr>
            <a:r>
              <a:rPr sz="3200" dirty="0">
                <a:latin typeface="Calibri"/>
                <a:cs typeface="Calibri"/>
              </a:rPr>
              <a:t>After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training: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evaluate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softmax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function.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0127" y="428864"/>
            <a:ext cx="9217408" cy="887443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854474" cy="962021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214862" y="654248"/>
            <a:ext cx="4575175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Homework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57289F-05F4-8D47-44D7-D376EB57B2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636" y="3129902"/>
            <a:ext cx="11441921" cy="349379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214862" y="654248"/>
            <a:ext cx="4575175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Homework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600" y="2608658"/>
            <a:ext cx="360299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834" indent="-445134">
              <a:lnSpc>
                <a:spcPct val="100000"/>
              </a:lnSpc>
              <a:spcBef>
                <a:spcPts val="100"/>
              </a:spcBef>
              <a:buSzPct val="120312"/>
              <a:buChar char="•"/>
              <a:tabLst>
                <a:tab pos="457834" algn="l"/>
              </a:tabLst>
            </a:pPr>
            <a:r>
              <a:rPr sz="3200" dirty="0">
                <a:latin typeface="Calibri"/>
                <a:cs typeface="Calibri"/>
              </a:rPr>
              <a:t>Model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subclassing:</a:t>
            </a:r>
            <a:endParaRPr sz="3200" dirty="0">
              <a:latin typeface="Calibri"/>
              <a:cs typeface="Calibri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A87E5AC4-436B-2105-D0B5-55A950C0BE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800" y="3282950"/>
            <a:ext cx="11125200" cy="342209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87090">
              <a:lnSpc>
                <a:spcPct val="100000"/>
              </a:lnSpc>
              <a:spcBef>
                <a:spcPts val="100"/>
              </a:spcBef>
            </a:pPr>
            <a:r>
              <a:rPr spc="-55" dirty="0"/>
              <a:t>Reference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600" y="2617712"/>
            <a:ext cx="10946765" cy="584517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70840" marR="4655185" indent="-358775">
              <a:lnSpc>
                <a:spcPct val="102600"/>
              </a:lnSpc>
              <a:spcBef>
                <a:spcPts val="10"/>
              </a:spcBef>
              <a:buSzPct val="119230"/>
              <a:buChar char="•"/>
              <a:tabLst>
                <a:tab pos="372110" algn="l"/>
              </a:tabLst>
            </a:pPr>
            <a:r>
              <a:rPr sz="2600" u="heavy" spc="-40" dirty="0">
                <a:solidFill>
                  <a:srgbClr val="0076BA"/>
                </a:solidFill>
                <a:uFill>
                  <a:solidFill>
                    <a:srgbClr val="0076BA"/>
                  </a:solidFill>
                </a:uFill>
                <a:latin typeface="Calibri"/>
                <a:cs typeface="Calibri"/>
                <a:hlinkClick r:id="rId2"/>
              </a:rPr>
              <a:t>https://ruder.io/word-</a:t>
            </a:r>
            <a:r>
              <a:rPr sz="2600" u="heavy" spc="-20" dirty="0">
                <a:solidFill>
                  <a:srgbClr val="0076BA"/>
                </a:solidFill>
                <a:uFill>
                  <a:solidFill>
                    <a:srgbClr val="0076BA"/>
                  </a:solidFill>
                </a:uFill>
                <a:latin typeface="Calibri"/>
                <a:cs typeface="Calibri"/>
                <a:hlinkClick r:id="rId2"/>
              </a:rPr>
              <a:t>embeddings-</a:t>
            </a:r>
            <a:r>
              <a:rPr sz="2600" u="heavy" spc="-10" dirty="0">
                <a:solidFill>
                  <a:srgbClr val="0076BA"/>
                </a:solidFill>
                <a:uFill>
                  <a:solidFill>
                    <a:srgbClr val="0076BA"/>
                  </a:solidFill>
                </a:uFill>
                <a:latin typeface="Calibri"/>
                <a:cs typeface="Calibri"/>
                <a:hlinkClick r:id="rId2"/>
              </a:rPr>
              <a:t>softmax/</a:t>
            </a:r>
            <a:r>
              <a:rPr sz="2600" spc="-10" dirty="0">
                <a:solidFill>
                  <a:srgbClr val="0076BA"/>
                </a:solidFill>
                <a:latin typeface="Calibri"/>
                <a:cs typeface="Calibri"/>
              </a:rPr>
              <a:t> 	</a:t>
            </a:r>
            <a:r>
              <a:rPr sz="2600" u="heavy" spc="-10" dirty="0">
                <a:solidFill>
                  <a:srgbClr val="0076BA"/>
                </a:solidFill>
                <a:uFill>
                  <a:solidFill>
                    <a:srgbClr val="0076BA"/>
                  </a:solidFill>
                </a:uFill>
                <a:latin typeface="Calibri"/>
                <a:cs typeface="Calibri"/>
              </a:rPr>
              <a:t>index.html#noisecontrastiveestimation</a:t>
            </a:r>
            <a:endParaRPr sz="2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5"/>
              </a:spcBef>
              <a:buClr>
                <a:srgbClr val="0076BA"/>
              </a:buClr>
              <a:buFont typeface="Calibri"/>
              <a:buChar char="•"/>
            </a:pPr>
            <a:endParaRPr sz="2600" dirty="0">
              <a:latin typeface="Calibri"/>
              <a:cs typeface="Calibri"/>
            </a:endParaRPr>
          </a:p>
          <a:p>
            <a:pPr marL="371475" indent="-358775">
              <a:lnSpc>
                <a:spcPct val="100000"/>
              </a:lnSpc>
              <a:spcBef>
                <a:spcPts val="5"/>
              </a:spcBef>
              <a:buSzPct val="119230"/>
              <a:buChar char="•"/>
              <a:tabLst>
                <a:tab pos="371475" algn="l"/>
              </a:tabLst>
            </a:pPr>
            <a:r>
              <a:rPr sz="2600" u="heavy" spc="-20" dirty="0">
                <a:solidFill>
                  <a:srgbClr val="0076BA"/>
                </a:solidFill>
                <a:uFill>
                  <a:solidFill>
                    <a:srgbClr val="0076BA"/>
                  </a:solidFill>
                </a:uFill>
                <a:latin typeface="Calibri"/>
                <a:cs typeface="Calibri"/>
                <a:hlinkClick r:id="rId3"/>
              </a:rPr>
              <a:t>https://lilianweng.github.io/lil-</a:t>
            </a:r>
            <a:r>
              <a:rPr sz="2600" u="heavy" spc="-10" dirty="0">
                <a:solidFill>
                  <a:srgbClr val="0076BA"/>
                </a:solidFill>
                <a:uFill>
                  <a:solidFill>
                    <a:srgbClr val="0076BA"/>
                  </a:solidFill>
                </a:uFill>
                <a:latin typeface="Calibri"/>
                <a:cs typeface="Calibri"/>
                <a:hlinkClick r:id="rId3"/>
              </a:rPr>
              <a:t>log/2017/10/15/learning-</a:t>
            </a:r>
            <a:r>
              <a:rPr sz="2600" u="heavy" spc="-35" dirty="0">
                <a:solidFill>
                  <a:srgbClr val="0076BA"/>
                </a:solidFill>
                <a:uFill>
                  <a:solidFill>
                    <a:srgbClr val="0076BA"/>
                  </a:solidFill>
                </a:uFill>
                <a:latin typeface="Calibri"/>
                <a:cs typeface="Calibri"/>
                <a:hlinkClick r:id="rId3"/>
              </a:rPr>
              <a:t>word-</a:t>
            </a:r>
            <a:r>
              <a:rPr sz="2600" u="heavy" spc="-10" dirty="0">
                <a:solidFill>
                  <a:srgbClr val="0076BA"/>
                </a:solidFill>
                <a:uFill>
                  <a:solidFill>
                    <a:srgbClr val="0076BA"/>
                  </a:solidFill>
                </a:uFill>
                <a:latin typeface="Calibri"/>
                <a:cs typeface="Calibri"/>
                <a:hlinkClick r:id="rId3"/>
              </a:rPr>
              <a:t>embedding.html</a:t>
            </a:r>
            <a:endParaRPr sz="2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25"/>
              </a:spcBef>
              <a:buClr>
                <a:srgbClr val="0076BA"/>
              </a:buClr>
              <a:buFont typeface="Calibri"/>
              <a:buChar char="•"/>
            </a:pPr>
            <a:endParaRPr sz="2600" dirty="0">
              <a:latin typeface="Calibri"/>
              <a:cs typeface="Calibri"/>
            </a:endParaRPr>
          </a:p>
          <a:p>
            <a:pPr marL="370840" marR="882650" indent="-358775">
              <a:lnSpc>
                <a:spcPct val="102600"/>
              </a:lnSpc>
              <a:buSzPct val="119230"/>
              <a:buChar char="•"/>
              <a:tabLst>
                <a:tab pos="372110" algn="l"/>
              </a:tabLst>
            </a:pPr>
            <a:r>
              <a:rPr sz="2600" u="heavy" spc="-10" dirty="0">
                <a:solidFill>
                  <a:srgbClr val="0076BA"/>
                </a:solidFill>
                <a:uFill>
                  <a:solidFill>
                    <a:srgbClr val="0076BA"/>
                  </a:solidFill>
                </a:uFill>
                <a:latin typeface="Calibri"/>
                <a:cs typeface="Calibri"/>
                <a:hlinkClick r:id="rId4"/>
              </a:rPr>
              <a:t>https://aegis4048.github.io/optimize_computational_efficiency_of_skip-	gram_with_negative_sampling</a:t>
            </a:r>
            <a:endParaRPr sz="2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5"/>
              </a:spcBef>
              <a:buClr>
                <a:srgbClr val="0076BA"/>
              </a:buClr>
              <a:buFont typeface="Calibri"/>
              <a:buChar char="•"/>
            </a:pPr>
            <a:endParaRPr sz="2600" dirty="0">
              <a:latin typeface="Calibri"/>
              <a:cs typeface="Calibri"/>
            </a:endParaRPr>
          </a:p>
          <a:p>
            <a:pPr marL="371475" indent="-358775">
              <a:lnSpc>
                <a:spcPct val="100000"/>
              </a:lnSpc>
              <a:spcBef>
                <a:spcPts val="5"/>
              </a:spcBef>
              <a:buSzPct val="119230"/>
              <a:buChar char="•"/>
              <a:tabLst>
                <a:tab pos="371475" algn="l"/>
              </a:tabLst>
            </a:pPr>
            <a:r>
              <a:rPr sz="2600" u="heavy" spc="-10" dirty="0">
                <a:solidFill>
                  <a:srgbClr val="0076BA"/>
                </a:solidFill>
                <a:uFill>
                  <a:solidFill>
                    <a:srgbClr val="0076BA"/>
                  </a:solidFill>
                </a:uFill>
                <a:latin typeface="Calibri"/>
                <a:cs typeface="Calibri"/>
                <a:hlinkClick r:id="rId5"/>
              </a:rPr>
              <a:t>http://proceedings.mlr.press/v9/gutmann10a/gutmann10a.pdf</a:t>
            </a:r>
            <a:endParaRPr sz="2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25"/>
              </a:spcBef>
              <a:buClr>
                <a:srgbClr val="0076BA"/>
              </a:buClr>
              <a:buFont typeface="Calibri"/>
              <a:buChar char="•"/>
            </a:pPr>
            <a:endParaRPr sz="2600" dirty="0">
              <a:latin typeface="Calibri"/>
              <a:cs typeface="Calibri"/>
            </a:endParaRPr>
          </a:p>
          <a:p>
            <a:pPr marL="370840" marR="22860" indent="-358775">
              <a:lnSpc>
                <a:spcPct val="102600"/>
              </a:lnSpc>
              <a:buSzPct val="119230"/>
              <a:buChar char="•"/>
              <a:tabLst>
                <a:tab pos="372110" algn="l"/>
              </a:tabLst>
            </a:pPr>
            <a:r>
              <a:rPr sz="2600" u="heavy" spc="-15" dirty="0">
                <a:solidFill>
                  <a:srgbClr val="0076BA"/>
                </a:solidFill>
                <a:uFill>
                  <a:solidFill>
                    <a:srgbClr val="0076BA"/>
                  </a:solidFill>
                </a:uFill>
                <a:latin typeface="Calibri"/>
                <a:cs typeface="Calibri"/>
                <a:hlinkClick r:id="rId6"/>
              </a:rPr>
              <a:t>https://papers.nips.cc/paper/5165-</a:t>
            </a:r>
            <a:r>
              <a:rPr sz="2600" u="heavy" spc="-10" dirty="0">
                <a:solidFill>
                  <a:srgbClr val="0076BA"/>
                </a:solidFill>
                <a:uFill>
                  <a:solidFill>
                    <a:srgbClr val="0076BA"/>
                  </a:solidFill>
                </a:uFill>
                <a:latin typeface="Calibri"/>
                <a:cs typeface="Calibri"/>
                <a:hlinkClick r:id="rId6"/>
              </a:rPr>
              <a:t>learning-</a:t>
            </a:r>
            <a:r>
              <a:rPr sz="2600" u="heavy" spc="-35" dirty="0">
                <a:solidFill>
                  <a:srgbClr val="0076BA"/>
                </a:solidFill>
                <a:uFill>
                  <a:solidFill>
                    <a:srgbClr val="0076BA"/>
                  </a:solidFill>
                </a:uFill>
                <a:latin typeface="Calibri"/>
                <a:cs typeface="Calibri"/>
                <a:hlinkClick r:id="rId6"/>
              </a:rPr>
              <a:t>word-</a:t>
            </a:r>
            <a:r>
              <a:rPr sz="2600" u="heavy" spc="-10" dirty="0">
                <a:solidFill>
                  <a:srgbClr val="0076BA"/>
                </a:solidFill>
                <a:uFill>
                  <a:solidFill>
                    <a:srgbClr val="0076BA"/>
                  </a:solidFill>
                </a:uFill>
                <a:latin typeface="Calibri"/>
                <a:cs typeface="Calibri"/>
                <a:hlinkClick r:id="rId6"/>
              </a:rPr>
              <a:t>embeddings-</a:t>
            </a:r>
            <a:r>
              <a:rPr sz="2600" u="heavy" spc="-30" dirty="0">
                <a:solidFill>
                  <a:srgbClr val="0076BA"/>
                </a:solidFill>
                <a:uFill>
                  <a:solidFill>
                    <a:srgbClr val="0076BA"/>
                  </a:solidFill>
                </a:uFill>
                <a:latin typeface="Calibri"/>
                <a:cs typeface="Calibri"/>
                <a:hlinkClick r:id="rId6"/>
              </a:rPr>
              <a:t>efficiently-</a:t>
            </a:r>
            <a:r>
              <a:rPr sz="2600" u="heavy" dirty="0">
                <a:solidFill>
                  <a:srgbClr val="0076BA"/>
                </a:solidFill>
                <a:uFill>
                  <a:solidFill>
                    <a:srgbClr val="0076BA"/>
                  </a:solidFill>
                </a:uFill>
                <a:latin typeface="Calibri"/>
                <a:cs typeface="Calibri"/>
                <a:hlinkClick r:id="rId6"/>
              </a:rPr>
              <a:t>with-	</a:t>
            </a:r>
            <a:r>
              <a:rPr sz="2600" u="heavy" spc="-10" dirty="0">
                <a:solidFill>
                  <a:srgbClr val="0076BA"/>
                </a:solidFill>
                <a:uFill>
                  <a:solidFill>
                    <a:srgbClr val="0076BA"/>
                  </a:solidFill>
                </a:uFill>
                <a:latin typeface="Calibri"/>
                <a:cs typeface="Calibri"/>
              </a:rPr>
              <a:t>noise-</a:t>
            </a:r>
            <a:r>
              <a:rPr sz="2600" u="heavy" spc="-35" dirty="0">
                <a:solidFill>
                  <a:srgbClr val="0076BA"/>
                </a:solidFill>
                <a:uFill>
                  <a:solidFill>
                    <a:srgbClr val="0076BA"/>
                  </a:solidFill>
                </a:uFill>
                <a:latin typeface="Calibri"/>
                <a:cs typeface="Calibri"/>
              </a:rPr>
              <a:t>contrastive-</a:t>
            </a:r>
            <a:r>
              <a:rPr sz="2600" u="heavy" spc="-10" dirty="0">
                <a:solidFill>
                  <a:srgbClr val="0076BA"/>
                </a:solidFill>
                <a:uFill>
                  <a:solidFill>
                    <a:srgbClr val="0076BA"/>
                  </a:solidFill>
                </a:uFill>
                <a:latin typeface="Calibri"/>
                <a:cs typeface="Calibri"/>
              </a:rPr>
              <a:t>estimation.pdf</a:t>
            </a:r>
            <a:endParaRPr sz="2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5"/>
              </a:spcBef>
              <a:buClr>
                <a:srgbClr val="0076BA"/>
              </a:buClr>
              <a:buFont typeface="Calibri"/>
              <a:buChar char="•"/>
            </a:pPr>
            <a:endParaRPr sz="2600" dirty="0">
              <a:latin typeface="Calibri"/>
              <a:cs typeface="Calibri"/>
            </a:endParaRPr>
          </a:p>
          <a:p>
            <a:pPr marL="371475" indent="-358775">
              <a:lnSpc>
                <a:spcPct val="100000"/>
              </a:lnSpc>
              <a:spcBef>
                <a:spcPts val="5"/>
              </a:spcBef>
              <a:buSzPct val="119230"/>
              <a:buChar char="•"/>
              <a:tabLst>
                <a:tab pos="371475" algn="l"/>
              </a:tabLst>
            </a:pPr>
            <a:r>
              <a:rPr lang="en" sz="2600" u="heavy" spc="-10" dirty="0">
                <a:solidFill>
                  <a:srgbClr val="0076BA"/>
                </a:solidFill>
                <a:uFill>
                  <a:solidFill>
                    <a:srgbClr val="0076BA"/>
                  </a:solidFill>
                </a:uFill>
                <a:latin typeface="Calibri"/>
                <a:cs typeface="Calibri"/>
              </a:rPr>
              <a:t>https://</a:t>
            </a:r>
            <a:r>
              <a:rPr lang="en" sz="2600" u="heavy" spc="-10" dirty="0" err="1">
                <a:solidFill>
                  <a:srgbClr val="0076BA"/>
                </a:solidFill>
                <a:uFill>
                  <a:solidFill>
                    <a:srgbClr val="0076BA"/>
                  </a:solidFill>
                </a:uFill>
                <a:latin typeface="Calibri"/>
                <a:cs typeface="Calibri"/>
              </a:rPr>
              <a:t>docs.pytorch.org</a:t>
            </a:r>
            <a:r>
              <a:rPr lang="en" sz="2600" u="heavy" spc="-10" dirty="0">
                <a:solidFill>
                  <a:srgbClr val="0076BA"/>
                </a:solidFill>
                <a:uFill>
                  <a:solidFill>
                    <a:srgbClr val="0076BA"/>
                  </a:solidFill>
                </a:uFill>
                <a:latin typeface="Calibri"/>
                <a:cs typeface="Calibri"/>
              </a:rPr>
              <a:t>/tutorials/beginner/basics/</a:t>
            </a:r>
            <a:r>
              <a:rPr lang="en" sz="2600" u="heavy" spc="-10" dirty="0" err="1">
                <a:solidFill>
                  <a:srgbClr val="0076BA"/>
                </a:solidFill>
                <a:uFill>
                  <a:solidFill>
                    <a:srgbClr val="0076BA"/>
                  </a:solidFill>
                </a:uFill>
                <a:latin typeface="Calibri"/>
                <a:cs typeface="Calibri"/>
              </a:rPr>
              <a:t>buildmodel_tutorial.html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592</Words>
  <Application>Microsoft Macintosh PowerPoint</Application>
  <PresentationFormat>自訂</PresentationFormat>
  <Paragraphs>109</Paragraphs>
  <Slides>16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5" baseType="lpstr">
      <vt:lpstr>Arial</vt:lpstr>
      <vt:lpstr>Calibri</vt:lpstr>
      <vt:lpstr>Cambria</vt:lpstr>
      <vt:lpstr>Consolas</vt:lpstr>
      <vt:lpstr>Lucida Sans</vt:lpstr>
      <vt:lpstr>Lucida Sans Unicode</vt:lpstr>
      <vt:lpstr>Microsoft Sans Serif</vt:lpstr>
      <vt:lpstr>Times New Roman</vt:lpstr>
      <vt:lpstr>Office Theme</vt:lpstr>
      <vt:lpstr>PowerPoint 簡報</vt:lpstr>
      <vt:lpstr>Word embedding</vt:lpstr>
      <vt:lpstr>Word embedding</vt:lpstr>
      <vt:lpstr>CBOW &amp; Skip-Gram</vt:lpstr>
      <vt:lpstr>CBOW &amp; Skip-Gram</vt:lpstr>
      <vt:lpstr>CBOW &amp; Skip-Gram</vt:lpstr>
      <vt:lpstr>PowerPoint 簡報</vt:lpstr>
      <vt:lpstr>Skip-Gram</vt:lpstr>
      <vt:lpstr>Softmax &amp; Words classification</vt:lpstr>
      <vt:lpstr>Noise Contrastive Estimation</vt:lpstr>
      <vt:lpstr>Noise Contrastive Estimation</vt:lpstr>
      <vt:lpstr>PowerPoint 簡報</vt:lpstr>
      <vt:lpstr>PowerPoint 簡報</vt:lpstr>
      <vt:lpstr>Homework</vt:lpstr>
      <vt:lpstr>Homework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黃詩評</cp:lastModifiedBy>
  <cp:revision>3</cp:revision>
  <dcterms:created xsi:type="dcterms:W3CDTF">2026-10-13T03:31:23Z</dcterms:created>
  <dcterms:modified xsi:type="dcterms:W3CDTF">2026-10-13T05:59:07Z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2026-10-13T00:00:00Z</vt:filetime>
  </property>
  <property fmtid="{D5CDD505-2E9C-101B-9397-08002B2CF9AE}" pid="4" name="LastSaved">
    <vt:filetime>2026-10-13T00:00:00Z</vt:filetime>
  </property>
  <property fmtid="{D5CDD505-2E9C-101B-9397-08002B2CF9AE}" pid="5" name="Producer">
    <vt:lpwstr>iLovePDF</vt:lpwstr>
  </property>
</Properties>
</file>