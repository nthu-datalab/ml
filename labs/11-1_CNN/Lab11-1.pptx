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94" r:id="rId6"/>
    <p:sldId id="295" r:id="rId7"/>
    <p:sldId id="296" r:id="rId8"/>
    <p:sldId id="297" r:id="rId9"/>
    <p:sldId id="267" r:id="rId10"/>
    <p:sldId id="299" r:id="rId11"/>
    <p:sldId id="300" r:id="rId12"/>
    <p:sldId id="276" r:id="rId13"/>
    <p:sldId id="301" r:id="rId14"/>
    <p:sldId id="302" r:id="rId15"/>
    <p:sldId id="290" r:id="rId16"/>
    <p:sldId id="303" r:id="rId17"/>
    <p:sldId id="304" r:id="rId18"/>
    <p:sldId id="305" r:id="rId19"/>
    <p:sldId id="306" r:id="rId2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81510"/>
  </p:normalViewPr>
  <p:slideViewPr>
    <p:cSldViewPr>
      <p:cViewPr varScale="1">
        <p:scale>
          <a:sx n="101" d="100"/>
          <a:sy n="101" d="100"/>
        </p:scale>
        <p:origin x="1128" y="19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1T16:51:22.2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1 213,'44'0,"-6"0,-25 0,0 0,4 0,0 0,0 0,-2-13,-4 8,5-11,-3 11,4 2,-2 0,3 3,-2 0,1 0,2 0,-5 0,5 0,0 0,-5 0,4 0,-3 0,-2 0,8 0,-8 0,5 0,0 0,-3 0,3 0,1 0,-1 0,-1 0,0 0,0 0,-3 0,4 0,1 0,-5 0,5 0,-1 0,-5 0,8 0,-9 0,5 0,1-2,-4-1,5 0,0 0,-5 2,5 1,6-3,-7 0,9-2,-7 1,0 2,4 2,-1-1,-3 1,3 0,-3 0,-1 0,3 0,-3 0,-2 0,-1 0,0 0,-4 0,10 0,-3 0,-1 0,0 0,1 0,0 0,0 0,-2 0,-4 0,13 0,-11 0,11 0,-11 0,3 0,0 0,0 0,0 0,1 0,5 0,0 0,0 0,-1 0,-5 0,1 0,-4 0,5 0,1 0,3 0,4 0,2 0,0 0,-1 0,1 0,-4 0,3 0,-5 0,2 0,-5 0,1 0,-2 0,0 0,-1 0,4 0,-4 0,1 0,-2 0,-5 0,5 0,0 0,1 0,-3 0,0 0,-4 0,10 0,-8 0,5 0,0 0,0 0,6 0,-7 0,13 0,-13 0,13 0,-10 0,2 0,0 0,1 0,-4 0,3 0,-3 0,4 0,0 0,-6 0,4 0,-2 0,1 0,0 0,-1 0,4 0,0 0,5 0,0 0,-3 0,3 0,-5 0,1 0,-2 0,3 0,-4 0,3 0,-4 0,0 0,1 0,-2 0,4-4,0 0,0-1,0 1,-5 4,-1-3,-5-1,8 1,-4 0,6 3,-5 0,1 0,0 0,-1-2,1-2,0 1,5 0,-1 3,1-1,7-1,-5-2,9 0,-8 0,2 2,0 1,2 1,-1 0,0-4,-1 0,-3-1,3 1,0 4,0 0,2 0,-5 0,-2 0,1-3,0-1,4-1,-5 1,1 3,0 1,-5 0,-2-1,-4 1,3 0,6-5,-5 3,3-3,-10 5,6-3,1-2,0 1,0 0,-4 3,5 1,-5-1,5 1,-2-5,-5 3,10-3,-10 5,6 0,0 0,-4 0,4 0,4 0,-9 0,9 0,-7 0,-2 0,9 0,-9 0,6 0,-3 0,-1 0,3 0,-3 0,3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CE3974-B65E-3E4E-8869-4B8F309F02A6}" type="datetimeFigureOut">
              <a:rPr lang="en-TW" smtClean="0"/>
              <a:t>2026/10/22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8BFFD5-ADB4-A64A-B2D5-082ABE10A18B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140470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TW" dirty="0"/>
              <a:t>Note that in PyTorch channel is placed before height and width.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8BFFD5-ADB4-A64A-B2D5-082ABE10A18B}" type="slidenum">
              <a:rPr lang="en-TW" smtClean="0"/>
              <a:t>7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81409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E1038-62E8-E166-CB78-E73C7F3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79E55-B4E1-ACAF-6C2C-0B41DD672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A43456-B73C-0D5A-577F-5FAF68742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TW" dirty="0"/>
              <a:t>Note that in PyTorch channel is placed before height and width.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0F357-1E77-851C-C04C-F87F007CE2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8BFFD5-ADB4-A64A-B2D5-082ABE10A18B}" type="slidenum">
              <a:rPr lang="en-TW" smtClean="0"/>
              <a:t>8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930912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8BFFD5-ADB4-A64A-B2D5-082ABE10A18B}" type="slidenum">
              <a:rPr lang="en-TW" smtClean="0"/>
              <a:t>13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0601924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0736E-3E47-2B54-7ED0-2A5E0EFE6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1E65A4-1634-74B3-0E1D-B38C87B9AC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93932-04D5-5D96-39D0-2E48CAC803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W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3C041-435E-C2FF-986B-CE4333650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8BFFD5-ADB4-A64A-B2D5-082ABE10A18B}" type="slidenum">
              <a:rPr lang="en-TW" smtClean="0"/>
              <a:t>14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43947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8BFFD5-ADB4-A64A-B2D5-082ABE10A18B}" type="slidenum">
              <a:rPr lang="en-TW" smtClean="0"/>
              <a:t>16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9088658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8BFFD5-ADB4-A64A-B2D5-082ABE10A18B}" type="slidenum">
              <a:rPr lang="en-TW" smtClean="0"/>
              <a:t>17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0455868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</a:t>
            </a:r>
            <a:r>
              <a:rPr lang="en-TW" dirty="0"/>
              <a:t>on-blocking we did not mentioned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8BFFD5-ADB4-A64A-B2D5-082ABE10A18B}" type="slidenum">
              <a:rPr lang="en-TW" smtClean="0"/>
              <a:t>18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445170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097404" y="2273363"/>
            <a:ext cx="7997190" cy="15938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7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7575" y="609282"/>
            <a:ext cx="6547484" cy="701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7575" y="1754504"/>
            <a:ext cx="10079355" cy="19392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customXml" Target="../ink/ink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04140" rIns="0" bIns="0" rtlCol="0">
            <a:spAutoFit/>
          </a:bodyPr>
          <a:lstStyle/>
          <a:p>
            <a:pPr marL="420370" marR="5080" indent="-397510">
              <a:lnSpc>
                <a:spcPts val="5860"/>
              </a:lnSpc>
              <a:spcBef>
                <a:spcPts val="820"/>
              </a:spcBef>
            </a:pPr>
            <a:r>
              <a:rPr sz="5400" dirty="0"/>
              <a:t>Lab</a:t>
            </a:r>
            <a:r>
              <a:rPr sz="5400" spc="-15" dirty="0"/>
              <a:t> </a:t>
            </a:r>
            <a:r>
              <a:rPr sz="5400" spc="-10" dirty="0"/>
              <a:t>11-</a:t>
            </a:r>
            <a:r>
              <a:rPr sz="5400" dirty="0"/>
              <a:t>1 Convolution</a:t>
            </a:r>
            <a:r>
              <a:rPr sz="5400" spc="-25" dirty="0"/>
              <a:t> </a:t>
            </a:r>
            <a:r>
              <a:rPr sz="5400" spc="-10" dirty="0"/>
              <a:t>Neural </a:t>
            </a:r>
            <a:r>
              <a:rPr sz="5400" dirty="0"/>
              <a:t>Network</a:t>
            </a:r>
            <a:r>
              <a:rPr sz="5400" spc="-15" dirty="0"/>
              <a:t> </a:t>
            </a:r>
            <a:r>
              <a:rPr sz="5400" dirty="0"/>
              <a:t>&amp;</a:t>
            </a:r>
            <a:r>
              <a:rPr sz="5400" spc="10" dirty="0"/>
              <a:t> </a:t>
            </a:r>
            <a:r>
              <a:rPr sz="5400" dirty="0"/>
              <a:t>Data</a:t>
            </a:r>
            <a:r>
              <a:rPr sz="5400" spc="-10" dirty="0"/>
              <a:t> Pipelines</a:t>
            </a:r>
            <a:endParaRPr sz="5400"/>
          </a:p>
        </p:txBody>
      </p:sp>
      <p:sp>
        <p:nvSpPr>
          <p:cNvPr id="3" name="object 3"/>
          <p:cNvSpPr txBox="1"/>
          <p:nvPr/>
        </p:nvSpPr>
        <p:spPr>
          <a:xfrm>
            <a:off x="4809490" y="4401121"/>
            <a:ext cx="260858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7E7E7E"/>
                </a:solidFill>
                <a:latin typeface="Calibri"/>
                <a:cs typeface="Calibri"/>
              </a:rPr>
              <a:t>NTHU</a:t>
            </a:r>
            <a:r>
              <a:rPr sz="2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400" dirty="0">
                <a:solidFill>
                  <a:srgbClr val="7E7E7E"/>
                </a:solidFill>
                <a:latin typeface="Calibri"/>
                <a:cs typeface="Calibri"/>
              </a:rPr>
              <a:t>DataLab,</a:t>
            </a:r>
            <a:r>
              <a:rPr sz="2400" spc="-7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7E7E7E"/>
                </a:solidFill>
                <a:latin typeface="Calibri"/>
                <a:cs typeface="Calibri"/>
              </a:rPr>
              <a:t>202</a:t>
            </a:r>
            <a:r>
              <a:rPr lang="en-US" sz="2400" spc="-20" dirty="0">
                <a:solidFill>
                  <a:srgbClr val="7E7E7E"/>
                </a:solidFill>
                <a:latin typeface="Calibri"/>
                <a:cs typeface="Calibri"/>
              </a:rPr>
              <a:t>6</a:t>
            </a:r>
            <a:endParaRPr sz="2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pc="-10" dirty="0"/>
              <a:t>Outline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702288"/>
            <a:ext cx="6778625" cy="157162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855"/>
              </a:spcBef>
              <a:buFont typeface="Arial MT"/>
              <a:buChar char="•"/>
              <a:tabLst>
                <a:tab pos="241300" algn="l"/>
              </a:tabLst>
            </a:pPr>
            <a:r>
              <a:rPr sz="2750" dirty="0">
                <a:latin typeface="Calibri"/>
                <a:cs typeface="Calibri"/>
              </a:rPr>
              <a:t>Convolution</a:t>
            </a:r>
            <a:r>
              <a:rPr sz="2750" spc="110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neural</a:t>
            </a:r>
            <a:r>
              <a:rPr sz="2750" spc="110" dirty="0">
                <a:latin typeface="Calibri"/>
                <a:cs typeface="Calibri"/>
              </a:rPr>
              <a:t> </a:t>
            </a:r>
            <a:r>
              <a:rPr sz="2750" spc="-10" dirty="0">
                <a:latin typeface="Calibri"/>
                <a:cs typeface="Calibri"/>
              </a:rPr>
              <a:t>network</a:t>
            </a:r>
            <a:endParaRPr sz="275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0665" algn="l"/>
              </a:tabLst>
            </a:pPr>
            <a:r>
              <a:rPr sz="2750" dirty="0">
                <a:latin typeface="Calibri"/>
                <a:cs typeface="Calibri"/>
              </a:rPr>
              <a:t>Input</a:t>
            </a:r>
            <a:r>
              <a:rPr sz="2750" spc="35" dirty="0">
                <a:latin typeface="Calibri"/>
                <a:cs typeface="Calibri"/>
              </a:rPr>
              <a:t> </a:t>
            </a:r>
            <a:r>
              <a:rPr sz="2750" spc="-10" dirty="0">
                <a:latin typeface="Calibri"/>
                <a:cs typeface="Calibri"/>
              </a:rPr>
              <a:t>pipeline</a:t>
            </a:r>
            <a:endParaRPr sz="275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0665" algn="l"/>
              </a:tabLst>
            </a:pPr>
            <a:r>
              <a:rPr sz="2750" dirty="0">
                <a:latin typeface="Calibri"/>
                <a:cs typeface="Calibri"/>
              </a:rPr>
              <a:t>Optimization</a:t>
            </a:r>
            <a:r>
              <a:rPr sz="2750" spc="60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for</a:t>
            </a:r>
            <a:r>
              <a:rPr sz="2750" spc="100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Input</a:t>
            </a:r>
            <a:r>
              <a:rPr sz="2750" spc="65" dirty="0">
                <a:latin typeface="Calibri"/>
                <a:cs typeface="Calibri"/>
              </a:rPr>
              <a:t> </a:t>
            </a:r>
            <a:r>
              <a:rPr sz="2750" spc="-10" dirty="0">
                <a:latin typeface="Calibri"/>
                <a:cs typeface="Calibri"/>
              </a:rPr>
              <a:t>pipeline</a:t>
            </a:r>
            <a:r>
              <a:rPr lang="en-US" sz="2750" spc="-10" dirty="0">
                <a:latin typeface="Calibri"/>
                <a:cs typeface="Calibri"/>
              </a:rPr>
              <a:t> (</a:t>
            </a:r>
            <a:r>
              <a:rPr lang="en-US" sz="2750" spc="-10" dirty="0" err="1">
                <a:latin typeface="Calibri"/>
                <a:cs typeface="Calibri"/>
              </a:rPr>
              <a:t>PyTorch</a:t>
            </a:r>
            <a:r>
              <a:rPr lang="en-US" sz="2750" spc="-10" dirty="0">
                <a:latin typeface="Calibri"/>
                <a:cs typeface="Calibri"/>
              </a:rPr>
              <a:t>)</a:t>
            </a:r>
            <a:endParaRPr sz="275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pc="-10" dirty="0"/>
              <a:t>Outline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702288"/>
            <a:ext cx="6778625" cy="157162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855"/>
              </a:spcBef>
              <a:buFont typeface="Arial MT"/>
              <a:buChar char="•"/>
              <a:tabLst>
                <a:tab pos="241300" algn="l"/>
              </a:tabLst>
            </a:pPr>
            <a:r>
              <a:rPr sz="2750" dirty="0">
                <a:latin typeface="Calibri"/>
                <a:cs typeface="Calibri"/>
              </a:rPr>
              <a:t>Convolution</a:t>
            </a:r>
            <a:r>
              <a:rPr sz="2750" spc="110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neural</a:t>
            </a:r>
            <a:r>
              <a:rPr sz="2750" spc="110" dirty="0">
                <a:latin typeface="Calibri"/>
                <a:cs typeface="Calibri"/>
              </a:rPr>
              <a:t> </a:t>
            </a:r>
            <a:r>
              <a:rPr sz="2750" spc="-10" dirty="0">
                <a:latin typeface="Calibri"/>
                <a:cs typeface="Calibri"/>
              </a:rPr>
              <a:t>network</a:t>
            </a:r>
            <a:endParaRPr sz="275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0665" algn="l"/>
              </a:tabLst>
            </a:pPr>
            <a:r>
              <a:rPr sz="2750" dirty="0">
                <a:solidFill>
                  <a:srgbClr val="7E7E7E"/>
                </a:solidFill>
                <a:latin typeface="Calibri"/>
                <a:cs typeface="Calibri"/>
              </a:rPr>
              <a:t>Input</a:t>
            </a:r>
            <a:r>
              <a:rPr sz="2750" spc="3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750" spc="-10" dirty="0">
                <a:solidFill>
                  <a:srgbClr val="7E7E7E"/>
                </a:solidFill>
                <a:latin typeface="Calibri"/>
                <a:cs typeface="Calibri"/>
              </a:rPr>
              <a:t>pipeline</a:t>
            </a:r>
            <a:endParaRPr sz="275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0665" algn="l"/>
              </a:tabLst>
            </a:pPr>
            <a:r>
              <a:rPr sz="2750" dirty="0">
                <a:solidFill>
                  <a:srgbClr val="7E7E7E"/>
                </a:solidFill>
                <a:latin typeface="Calibri"/>
                <a:cs typeface="Calibri"/>
              </a:rPr>
              <a:t>Optimization</a:t>
            </a:r>
            <a:r>
              <a:rPr sz="2750" spc="6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750" dirty="0">
                <a:solidFill>
                  <a:srgbClr val="7E7E7E"/>
                </a:solidFill>
                <a:latin typeface="Calibri"/>
                <a:cs typeface="Calibri"/>
              </a:rPr>
              <a:t>for</a:t>
            </a:r>
            <a:r>
              <a:rPr sz="2750" spc="10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750" dirty="0">
                <a:solidFill>
                  <a:srgbClr val="7E7E7E"/>
                </a:solidFill>
                <a:latin typeface="Calibri"/>
                <a:cs typeface="Calibri"/>
              </a:rPr>
              <a:t>Input</a:t>
            </a:r>
            <a:r>
              <a:rPr sz="2750" spc="6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750" spc="-10" dirty="0">
                <a:solidFill>
                  <a:srgbClr val="7E7E7E"/>
                </a:solidFill>
                <a:latin typeface="Calibri"/>
                <a:cs typeface="Calibri"/>
              </a:rPr>
              <a:t>pipeline</a:t>
            </a:r>
            <a:r>
              <a:rPr lang="en-US" sz="2750" spc="-10" dirty="0">
                <a:latin typeface="Calibri"/>
                <a:cs typeface="Calibri"/>
              </a:rPr>
              <a:t> </a:t>
            </a:r>
            <a:r>
              <a:rPr lang="en-US" sz="2750" spc="-10" dirty="0">
                <a:solidFill>
                  <a:srgbClr val="7E7E7E"/>
                </a:solidFill>
                <a:latin typeface="Calibri"/>
                <a:cs typeface="Calibri"/>
              </a:rPr>
              <a:t>(</a:t>
            </a:r>
            <a:r>
              <a:rPr lang="en-US" sz="2750" spc="-10" dirty="0" err="1">
                <a:solidFill>
                  <a:srgbClr val="7E7E7E"/>
                </a:solidFill>
                <a:latin typeface="Calibri"/>
                <a:cs typeface="Calibri"/>
              </a:rPr>
              <a:t>PyTorch</a:t>
            </a:r>
            <a:r>
              <a:rPr lang="en-US" sz="2750" spc="-10" dirty="0">
                <a:solidFill>
                  <a:srgbClr val="7E7E7E"/>
                </a:solidFill>
                <a:latin typeface="Calibri"/>
                <a:cs typeface="Calibri"/>
              </a:rPr>
              <a:t>)</a:t>
            </a:r>
            <a:endParaRPr sz="2750" spc="-1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Convolution</a:t>
            </a:r>
            <a:r>
              <a:rPr spc="-120" dirty="0"/>
              <a:t> </a:t>
            </a:r>
            <a:r>
              <a:rPr dirty="0"/>
              <a:t>Neural</a:t>
            </a:r>
            <a:r>
              <a:rPr spc="-6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4" y="1754504"/>
            <a:ext cx="8378825" cy="889635"/>
          </a:xfrm>
          <a:prstGeom prst="rect">
            <a:avLst/>
          </a:prstGeom>
        </p:spPr>
        <p:txBody>
          <a:bodyPr vert="horz" wrap="square" lIns="0" tIns="5588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440"/>
              </a:spcBef>
              <a:buFont typeface="Arial MT"/>
              <a:buChar char="•"/>
              <a:tabLst>
                <a:tab pos="241300" algn="l"/>
              </a:tabLst>
            </a:pPr>
            <a:r>
              <a:rPr sz="2750" dirty="0">
                <a:latin typeface="Calibri"/>
                <a:cs typeface="Calibri"/>
              </a:rPr>
              <a:t>Build</a:t>
            </a:r>
            <a:r>
              <a:rPr sz="2750" spc="6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a</a:t>
            </a:r>
            <a:r>
              <a:rPr sz="2750" spc="12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CNN</a:t>
            </a:r>
            <a:r>
              <a:rPr sz="2750" spc="3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model</a:t>
            </a:r>
            <a:r>
              <a:rPr sz="2750" spc="65" dirty="0">
                <a:latin typeface="Calibri"/>
                <a:cs typeface="Calibri"/>
              </a:rPr>
              <a:t> </a:t>
            </a:r>
            <a:r>
              <a:rPr lang="en-US" sz="2750" spc="65" dirty="0">
                <a:latin typeface="Calibri"/>
                <a:cs typeface="Calibri"/>
              </a:rPr>
              <a:t>architecture in __int__(self)</a:t>
            </a:r>
            <a:endParaRPr sz="275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80"/>
              </a:spcBef>
              <a:buFont typeface="Arial MT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A stack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Conv2D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MaxPooling2D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layers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24199" y="2729752"/>
            <a:ext cx="5943600" cy="15455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3DA548-E00F-4EBE-00A8-5845D0FA9F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322" y="4366261"/>
            <a:ext cx="8565355" cy="21237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50B23-316E-5C62-0061-1FAA22C2A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25D0505-FF04-7B34-7AA0-C56BB4BD34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Convolution</a:t>
            </a:r>
            <a:r>
              <a:rPr spc="-120" dirty="0"/>
              <a:t> </a:t>
            </a:r>
            <a:r>
              <a:rPr dirty="0"/>
              <a:t>Neural</a:t>
            </a:r>
            <a:r>
              <a:rPr spc="-6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3D6C09F-5786-ED17-92FF-7E4F1E2000F6}"/>
              </a:ext>
            </a:extLst>
          </p:cNvPr>
          <p:cNvSpPr txBox="1"/>
          <p:nvPr/>
        </p:nvSpPr>
        <p:spPr>
          <a:xfrm>
            <a:off x="917574" y="1754504"/>
            <a:ext cx="8378825" cy="889635"/>
          </a:xfrm>
          <a:prstGeom prst="rect">
            <a:avLst/>
          </a:prstGeom>
        </p:spPr>
        <p:txBody>
          <a:bodyPr vert="horz" wrap="square" lIns="0" tIns="5588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440"/>
              </a:spcBef>
              <a:buFont typeface="Arial MT"/>
              <a:buChar char="•"/>
              <a:tabLst>
                <a:tab pos="241300" algn="l"/>
              </a:tabLst>
            </a:pPr>
            <a:r>
              <a:rPr sz="2750" dirty="0">
                <a:latin typeface="Calibri"/>
                <a:cs typeface="Calibri"/>
              </a:rPr>
              <a:t>Build</a:t>
            </a:r>
            <a:r>
              <a:rPr sz="2750" spc="6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a</a:t>
            </a:r>
            <a:r>
              <a:rPr sz="2750" spc="12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CNN</a:t>
            </a:r>
            <a:r>
              <a:rPr sz="2750" spc="3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model</a:t>
            </a:r>
            <a:r>
              <a:rPr sz="2750" spc="65" dirty="0">
                <a:latin typeface="Calibri"/>
                <a:cs typeface="Calibri"/>
              </a:rPr>
              <a:t> </a:t>
            </a:r>
            <a:r>
              <a:rPr lang="en-US" sz="2750" spc="65" dirty="0">
                <a:latin typeface="Calibri"/>
                <a:cs typeface="Calibri"/>
              </a:rPr>
              <a:t>architecture in __int__(self)</a:t>
            </a:r>
            <a:endParaRPr sz="275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80"/>
              </a:spcBef>
              <a:buFont typeface="Arial MT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A stack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Conv2D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MaxPooling2D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layers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970A9563-436B-F4BB-655F-D223CD1A01C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24199" y="2729752"/>
            <a:ext cx="5943600" cy="15455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BEC3F9-755A-FCEA-912C-9525AE68A6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322" y="4366261"/>
            <a:ext cx="8565355" cy="2123758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0688751-473A-BDED-7B61-CB65B17286F0}"/>
              </a:ext>
            </a:extLst>
          </p:cNvPr>
          <p:cNvSpPr/>
          <p:nvPr/>
        </p:nvSpPr>
        <p:spPr>
          <a:xfrm>
            <a:off x="5099402" y="5029200"/>
            <a:ext cx="38100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45FD2B-A3C1-A26E-813B-AB9253A960F3}"/>
              </a:ext>
            </a:extLst>
          </p:cNvPr>
          <p:cNvSpPr txBox="1"/>
          <p:nvPr/>
        </p:nvSpPr>
        <p:spPr>
          <a:xfrm>
            <a:off x="5106986" y="4511480"/>
            <a:ext cx="2139598" cy="372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TW" dirty="0">
                <a:solidFill>
                  <a:srgbClr val="FF0000"/>
                </a:solidFill>
              </a:rPr>
              <a:t># of Input channel</a:t>
            </a:r>
          </a:p>
        </p:txBody>
      </p:sp>
    </p:spTree>
    <p:extLst>
      <p:ext uri="{BB962C8B-B14F-4D97-AF65-F5344CB8AC3E}">
        <p14:creationId xmlns:p14="http://schemas.microsoft.com/office/powerpoint/2010/main" val="1371796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8CDE3-E82A-628C-A008-17ECF9A21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355527A-CE2D-870D-46E8-4FA3D38B12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Convolution</a:t>
            </a:r>
            <a:r>
              <a:rPr spc="-120" dirty="0"/>
              <a:t> </a:t>
            </a:r>
            <a:r>
              <a:rPr dirty="0"/>
              <a:t>Neural</a:t>
            </a:r>
            <a:r>
              <a:rPr spc="-6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A31B87A-1776-696B-5D65-543E68106D68}"/>
              </a:ext>
            </a:extLst>
          </p:cNvPr>
          <p:cNvSpPr txBox="1"/>
          <p:nvPr/>
        </p:nvSpPr>
        <p:spPr>
          <a:xfrm>
            <a:off x="917574" y="1754504"/>
            <a:ext cx="8378825" cy="889635"/>
          </a:xfrm>
          <a:prstGeom prst="rect">
            <a:avLst/>
          </a:prstGeom>
        </p:spPr>
        <p:txBody>
          <a:bodyPr vert="horz" wrap="square" lIns="0" tIns="5588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440"/>
              </a:spcBef>
              <a:buFont typeface="Arial MT"/>
              <a:buChar char="•"/>
              <a:tabLst>
                <a:tab pos="241300" algn="l"/>
              </a:tabLst>
            </a:pPr>
            <a:r>
              <a:rPr sz="2750" dirty="0">
                <a:latin typeface="Calibri"/>
                <a:cs typeface="Calibri"/>
              </a:rPr>
              <a:t>Build</a:t>
            </a:r>
            <a:r>
              <a:rPr sz="2750" spc="6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a</a:t>
            </a:r>
            <a:r>
              <a:rPr sz="2750" spc="12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CNN</a:t>
            </a:r>
            <a:r>
              <a:rPr sz="2750" spc="3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model</a:t>
            </a:r>
            <a:r>
              <a:rPr sz="2750" spc="65" dirty="0">
                <a:latin typeface="Calibri"/>
                <a:cs typeface="Calibri"/>
              </a:rPr>
              <a:t> </a:t>
            </a:r>
            <a:r>
              <a:rPr lang="en-US" sz="2750" spc="65" dirty="0">
                <a:latin typeface="Calibri"/>
                <a:cs typeface="Calibri"/>
              </a:rPr>
              <a:t>architecture in __int__(self)</a:t>
            </a:r>
            <a:endParaRPr sz="275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80"/>
              </a:spcBef>
              <a:buFont typeface="Arial MT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A stack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Conv2D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MaxPooling2D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layers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77EC0F74-C178-58A8-889E-D64D808051E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24199" y="2729752"/>
            <a:ext cx="5943600" cy="15455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9B0EC9-44B4-2580-7B37-50EC7B9ADC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322" y="4366261"/>
            <a:ext cx="8565355" cy="2123758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3E37745-A0C6-6681-EFA2-F59F1B26F09C}"/>
              </a:ext>
            </a:extLst>
          </p:cNvPr>
          <p:cNvSpPr/>
          <p:nvPr/>
        </p:nvSpPr>
        <p:spPr>
          <a:xfrm>
            <a:off x="5486400" y="5029200"/>
            <a:ext cx="38100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CABC7-A4E9-E3EB-F10A-93327B1CB309}"/>
              </a:ext>
            </a:extLst>
          </p:cNvPr>
          <p:cNvSpPr txBox="1"/>
          <p:nvPr/>
        </p:nvSpPr>
        <p:spPr>
          <a:xfrm>
            <a:off x="5486400" y="4565708"/>
            <a:ext cx="3276600" cy="3725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TW" dirty="0">
                <a:solidFill>
                  <a:srgbClr val="FF0000"/>
                </a:solidFill>
              </a:rPr>
              <a:t># of output channel = # of filter</a:t>
            </a:r>
          </a:p>
        </p:txBody>
      </p:sp>
    </p:spTree>
    <p:extLst>
      <p:ext uri="{BB962C8B-B14F-4D97-AF65-F5344CB8AC3E}">
        <p14:creationId xmlns:p14="http://schemas.microsoft.com/office/powerpoint/2010/main" val="8933346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E090C-B614-BD85-1527-7E2564D8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11FE402-42C6-02CC-7DC5-5DD1FFF464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Convolution</a:t>
            </a:r>
            <a:r>
              <a:rPr spc="-120" dirty="0"/>
              <a:t> </a:t>
            </a:r>
            <a:r>
              <a:rPr dirty="0"/>
              <a:t>Neural</a:t>
            </a:r>
            <a:r>
              <a:rPr spc="-6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06A9E00-EB0A-2B32-8C78-C21B82F08690}"/>
              </a:ext>
            </a:extLst>
          </p:cNvPr>
          <p:cNvSpPr txBox="1"/>
          <p:nvPr/>
        </p:nvSpPr>
        <p:spPr>
          <a:xfrm>
            <a:off x="917574" y="1754504"/>
            <a:ext cx="8378825" cy="889635"/>
          </a:xfrm>
          <a:prstGeom prst="rect">
            <a:avLst/>
          </a:prstGeom>
        </p:spPr>
        <p:txBody>
          <a:bodyPr vert="horz" wrap="square" lIns="0" tIns="5588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440"/>
              </a:spcBef>
              <a:buFont typeface="Arial MT"/>
              <a:buChar char="•"/>
              <a:tabLst>
                <a:tab pos="241300" algn="l"/>
              </a:tabLst>
            </a:pPr>
            <a:r>
              <a:rPr sz="2750" dirty="0">
                <a:latin typeface="Calibri"/>
                <a:cs typeface="Calibri"/>
              </a:rPr>
              <a:t>Build</a:t>
            </a:r>
            <a:r>
              <a:rPr sz="2750" spc="6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a</a:t>
            </a:r>
            <a:r>
              <a:rPr sz="2750" spc="12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CNN</a:t>
            </a:r>
            <a:r>
              <a:rPr sz="2750" spc="3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model</a:t>
            </a:r>
            <a:r>
              <a:rPr sz="2750" spc="65" dirty="0">
                <a:latin typeface="Calibri"/>
                <a:cs typeface="Calibri"/>
              </a:rPr>
              <a:t> </a:t>
            </a:r>
            <a:r>
              <a:rPr lang="en-US" sz="2750" spc="65" dirty="0">
                <a:latin typeface="Calibri"/>
                <a:cs typeface="Calibri"/>
              </a:rPr>
              <a:t>architecture in __int__(self)</a:t>
            </a:r>
            <a:endParaRPr sz="275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80"/>
              </a:spcBef>
              <a:buFont typeface="Arial MT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A stack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Conv2D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MaxPooling2D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layers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B189583A-FEB7-5DE4-C14B-F2FEA4AF07FF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24199" y="2729752"/>
            <a:ext cx="5943600" cy="15455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704B74-17BC-D964-1030-D6919B7EF4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322" y="4366261"/>
            <a:ext cx="8565355" cy="2123758"/>
          </a:xfrm>
          <a:prstGeom prst="rect">
            <a:avLst/>
          </a:prstGeom>
        </p:spPr>
      </p:pic>
      <p:pic>
        <p:nvPicPr>
          <p:cNvPr id="5" name="object 15">
            <a:extLst>
              <a:ext uri="{FF2B5EF4-FFF2-40B4-BE49-F238E27FC236}">
                <a16:creationId xmlns:a16="http://schemas.microsoft.com/office/drawing/2014/main" id="{FEDA32F5-8A1E-61EA-EFA6-E7C261A3B68F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229600" y="288626"/>
            <a:ext cx="3962400" cy="24411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49C616-48ED-0E91-4A18-B77906626000}"/>
              </a:ext>
            </a:extLst>
          </p:cNvPr>
          <p:cNvSpPr/>
          <p:nvPr/>
        </p:nvSpPr>
        <p:spPr>
          <a:xfrm>
            <a:off x="10343116" y="609282"/>
            <a:ext cx="1772683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ED503E5-8064-2706-4EF4-BB82BB9E3CF8}"/>
              </a:ext>
            </a:extLst>
          </p:cNvPr>
          <p:cNvCxnSpPr/>
          <p:nvPr/>
        </p:nvCxnSpPr>
        <p:spPr>
          <a:xfrm flipV="1">
            <a:off x="9829800" y="914082"/>
            <a:ext cx="513316" cy="42675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79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70C71-0398-AAB2-8578-0268EBDAD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5DAD07F-7C9E-CC78-634E-E44D4F23EE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Convolution</a:t>
            </a:r>
            <a:r>
              <a:rPr spc="-120" dirty="0"/>
              <a:t> </a:t>
            </a:r>
            <a:r>
              <a:rPr dirty="0"/>
              <a:t>Neural</a:t>
            </a:r>
            <a:r>
              <a:rPr spc="-65" dirty="0"/>
              <a:t> </a:t>
            </a:r>
            <a:r>
              <a:rPr spc="-10" dirty="0"/>
              <a:t>Network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B71E110-E799-FAAB-DC20-27A514214677}"/>
              </a:ext>
            </a:extLst>
          </p:cNvPr>
          <p:cNvSpPr txBox="1"/>
          <p:nvPr/>
        </p:nvSpPr>
        <p:spPr>
          <a:xfrm>
            <a:off x="917574" y="1754504"/>
            <a:ext cx="8378825" cy="889635"/>
          </a:xfrm>
          <a:prstGeom prst="rect">
            <a:avLst/>
          </a:prstGeom>
        </p:spPr>
        <p:txBody>
          <a:bodyPr vert="horz" wrap="square" lIns="0" tIns="55880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440"/>
              </a:spcBef>
              <a:buFont typeface="Arial MT"/>
              <a:buChar char="•"/>
              <a:tabLst>
                <a:tab pos="241300" algn="l"/>
              </a:tabLst>
            </a:pPr>
            <a:r>
              <a:rPr sz="2750" dirty="0">
                <a:latin typeface="Calibri"/>
                <a:cs typeface="Calibri"/>
              </a:rPr>
              <a:t>Build</a:t>
            </a:r>
            <a:r>
              <a:rPr sz="2750" spc="6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a</a:t>
            </a:r>
            <a:r>
              <a:rPr sz="2750" spc="12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CNN</a:t>
            </a:r>
            <a:r>
              <a:rPr sz="2750" spc="3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model</a:t>
            </a:r>
            <a:r>
              <a:rPr sz="2750" spc="65" dirty="0">
                <a:latin typeface="Calibri"/>
                <a:cs typeface="Calibri"/>
              </a:rPr>
              <a:t> </a:t>
            </a:r>
            <a:r>
              <a:rPr lang="en-US" sz="2750" spc="65" dirty="0">
                <a:latin typeface="Calibri"/>
                <a:cs typeface="Calibri"/>
              </a:rPr>
              <a:t>architecture in __int__(self)</a:t>
            </a:r>
            <a:endParaRPr sz="275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280"/>
              </a:spcBef>
              <a:buFont typeface="Arial MT"/>
              <a:buChar char="•"/>
              <a:tabLst>
                <a:tab pos="697865" algn="l"/>
              </a:tabLst>
            </a:pPr>
            <a:r>
              <a:rPr sz="2400" dirty="0">
                <a:latin typeface="Calibri"/>
                <a:cs typeface="Calibri"/>
              </a:rPr>
              <a:t>A stack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Conv2D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MaxPooling2D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layers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20845697-D52C-A778-98D4-756D1BB40A4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24199" y="2729752"/>
            <a:ext cx="5943600" cy="15455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25060F-7D77-876F-387C-5243A9DAFB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322" y="4366261"/>
            <a:ext cx="8565355" cy="2123758"/>
          </a:xfrm>
          <a:prstGeom prst="rect">
            <a:avLst/>
          </a:prstGeom>
        </p:spPr>
      </p:pic>
      <p:pic>
        <p:nvPicPr>
          <p:cNvPr id="5" name="object 15">
            <a:extLst>
              <a:ext uri="{FF2B5EF4-FFF2-40B4-BE49-F238E27FC236}">
                <a16:creationId xmlns:a16="http://schemas.microsoft.com/office/drawing/2014/main" id="{D030EBE1-98DB-F610-C0BA-BD7E376EAB95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229600" y="288626"/>
            <a:ext cx="3962400" cy="24411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CB53C90-F007-6294-8309-3C8AD563840A}"/>
              </a:ext>
            </a:extLst>
          </p:cNvPr>
          <p:cNvSpPr/>
          <p:nvPr/>
        </p:nvSpPr>
        <p:spPr>
          <a:xfrm>
            <a:off x="10591801" y="1005204"/>
            <a:ext cx="160020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DCE44E5-F64E-D402-1710-991890585980}"/>
              </a:ext>
            </a:extLst>
          </p:cNvPr>
          <p:cNvCxnSpPr>
            <a:cxnSpLocks/>
          </p:cNvCxnSpPr>
          <p:nvPr/>
        </p:nvCxnSpPr>
        <p:spPr>
          <a:xfrm flipV="1">
            <a:off x="6248400" y="1312898"/>
            <a:ext cx="4269912" cy="41152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479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pc="-10" dirty="0"/>
              <a:t>Outline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702288"/>
            <a:ext cx="8836025" cy="157162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855"/>
              </a:spcBef>
              <a:buFont typeface="Arial MT"/>
              <a:buChar char="•"/>
              <a:tabLst>
                <a:tab pos="241300" algn="l"/>
              </a:tabLst>
            </a:pPr>
            <a:r>
              <a:rPr sz="2750" dirty="0">
                <a:solidFill>
                  <a:srgbClr val="7E7E7E"/>
                </a:solidFill>
                <a:latin typeface="Calibri"/>
                <a:cs typeface="Calibri"/>
              </a:rPr>
              <a:t>Convolution</a:t>
            </a:r>
            <a:r>
              <a:rPr sz="2750" spc="1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750" dirty="0">
                <a:solidFill>
                  <a:srgbClr val="7E7E7E"/>
                </a:solidFill>
                <a:latin typeface="Calibri"/>
                <a:cs typeface="Calibri"/>
              </a:rPr>
              <a:t>neural</a:t>
            </a:r>
            <a:r>
              <a:rPr sz="2750" spc="1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750" spc="-10" dirty="0">
                <a:solidFill>
                  <a:srgbClr val="7E7E7E"/>
                </a:solidFill>
                <a:latin typeface="Calibri"/>
                <a:cs typeface="Calibri"/>
              </a:rPr>
              <a:t>network</a:t>
            </a:r>
            <a:endParaRPr sz="275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0665" algn="l"/>
              </a:tabLst>
            </a:pPr>
            <a:r>
              <a:rPr sz="2750" dirty="0">
                <a:latin typeface="Calibri"/>
                <a:cs typeface="Calibri"/>
              </a:rPr>
              <a:t>Input</a:t>
            </a:r>
            <a:r>
              <a:rPr sz="2750" spc="35" dirty="0">
                <a:latin typeface="Calibri"/>
                <a:cs typeface="Calibri"/>
              </a:rPr>
              <a:t> </a:t>
            </a:r>
            <a:r>
              <a:rPr sz="2750" spc="-10" dirty="0">
                <a:latin typeface="Calibri"/>
                <a:cs typeface="Calibri"/>
              </a:rPr>
              <a:t>pipeline</a:t>
            </a:r>
            <a:endParaRPr sz="275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0665" algn="l"/>
              </a:tabLst>
            </a:pPr>
            <a:r>
              <a:rPr sz="2750" dirty="0">
                <a:solidFill>
                  <a:srgbClr val="7E7E7E"/>
                </a:solidFill>
                <a:latin typeface="Calibri"/>
                <a:cs typeface="Calibri"/>
              </a:rPr>
              <a:t>Optimization</a:t>
            </a:r>
            <a:r>
              <a:rPr sz="2750" spc="6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750" dirty="0">
                <a:solidFill>
                  <a:srgbClr val="7E7E7E"/>
                </a:solidFill>
                <a:latin typeface="Calibri"/>
                <a:cs typeface="Calibri"/>
              </a:rPr>
              <a:t>for</a:t>
            </a:r>
            <a:r>
              <a:rPr sz="2750" spc="10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750" dirty="0">
                <a:solidFill>
                  <a:srgbClr val="7E7E7E"/>
                </a:solidFill>
                <a:latin typeface="Calibri"/>
                <a:cs typeface="Calibri"/>
              </a:rPr>
              <a:t>Input</a:t>
            </a:r>
            <a:r>
              <a:rPr sz="2750" spc="6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750" spc="-10" dirty="0">
                <a:solidFill>
                  <a:srgbClr val="7E7E7E"/>
                </a:solidFill>
                <a:latin typeface="Calibri"/>
                <a:cs typeface="Calibri"/>
              </a:rPr>
              <a:t>pipeline</a:t>
            </a:r>
            <a:r>
              <a:rPr lang="en-US" sz="2750" spc="-10" dirty="0">
                <a:solidFill>
                  <a:srgbClr val="7E7E7E"/>
                </a:solidFill>
                <a:latin typeface="Calibri"/>
                <a:cs typeface="Calibri"/>
              </a:rPr>
              <a:t> (</a:t>
            </a:r>
            <a:r>
              <a:rPr lang="en-US" sz="2750" spc="-10" dirty="0" err="1">
                <a:solidFill>
                  <a:srgbClr val="7E7E7E"/>
                </a:solidFill>
                <a:latin typeface="Calibri"/>
                <a:cs typeface="Calibri"/>
              </a:rPr>
              <a:t>PyTorch</a:t>
            </a:r>
            <a:r>
              <a:rPr lang="en-US" sz="2750" spc="-10" dirty="0">
                <a:solidFill>
                  <a:srgbClr val="7E7E7E"/>
                </a:solidFill>
                <a:latin typeface="Calibri"/>
                <a:cs typeface="Calibri"/>
              </a:rPr>
              <a:t>)</a:t>
            </a:r>
            <a:endParaRPr sz="275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AC9BC-F256-D9D2-3233-AB448AF64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F26828BE-DBAA-375C-E224-689AB59B49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90600" y="1752600"/>
            <a:ext cx="10515600" cy="45999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TW" altLang="en-TW" sz="2800" dirty="0"/>
              <a:t>A typical training data pipeline can be framed as an ETL process: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TW" altLang="en-TW" sz="2400" b="1" dirty="0"/>
              <a:t>Extract</a:t>
            </a:r>
            <a:r>
              <a:rPr lang="en-TW" altLang="en-TW" sz="2400" dirty="0"/>
              <a:t>: Read data from memory (NumPy) or persistent storage -- either local (HDD/SSD) or remote.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TW" altLang="en-TW" sz="2400" b="1" dirty="0"/>
              <a:t>Transform</a:t>
            </a:r>
            <a:r>
              <a:rPr lang="en-TW" altLang="en-TW" sz="2400" dirty="0"/>
              <a:t>: parse and preprocess the data -- shuffling, batching, domain-specific transformations such as image decoding/augmentation.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TW" altLang="en-TW" sz="2400" b="1" dirty="0"/>
              <a:t>Load</a:t>
            </a:r>
            <a:r>
              <a:rPr lang="en-TW" altLang="en-TW" sz="2400" dirty="0"/>
              <a:t>: move the transformed data onto the accelerator device(s) that execute the mode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TW" altLang="en-TW" spc="-10" dirty="0"/>
          </a:p>
        </p:txBody>
      </p:sp>
      <p:sp>
        <p:nvSpPr>
          <p:cNvPr id="5" name="object 2">
            <a:extLst>
              <a:ext uri="{FF2B5EF4-FFF2-40B4-BE49-F238E27FC236}">
                <a16:creationId xmlns:a16="http://schemas.microsoft.com/office/drawing/2014/main" id="{00FA290C-C23C-FF84-1C60-F89E9E98D12C}"/>
              </a:ext>
            </a:extLst>
          </p:cNvPr>
          <p:cNvSpPr txBox="1">
            <a:spLocks/>
          </p:cNvSpPr>
          <p:nvPr/>
        </p:nvSpPr>
        <p:spPr>
          <a:xfrm>
            <a:off x="1069975" y="761682"/>
            <a:ext cx="6547484" cy="7010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spcBef>
                <a:spcPts val="130"/>
              </a:spcBef>
            </a:pPr>
            <a:r>
              <a:rPr lang="en-US" dirty="0"/>
              <a:t>Input</a:t>
            </a:r>
            <a:r>
              <a:rPr lang="en-US" spc="-65" dirty="0"/>
              <a:t> </a:t>
            </a:r>
            <a:r>
              <a:rPr lang="en-US" dirty="0"/>
              <a:t>Pipeline</a:t>
            </a:r>
            <a:endParaRPr lang="en-US" spc="-10" dirty="0"/>
          </a:p>
        </p:txBody>
      </p:sp>
    </p:spTree>
    <p:extLst>
      <p:ext uri="{BB962C8B-B14F-4D97-AF65-F5344CB8AC3E}">
        <p14:creationId xmlns:p14="http://schemas.microsoft.com/office/powerpoint/2010/main" val="2156553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E0763-5628-1B39-B265-A5BD6ED00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2">
            <a:extLst>
              <a:ext uri="{FF2B5EF4-FFF2-40B4-BE49-F238E27FC236}">
                <a16:creationId xmlns:a16="http://schemas.microsoft.com/office/drawing/2014/main" id="{165F3D1A-EAF1-EDB1-B07D-165F9ED8E63D}"/>
              </a:ext>
            </a:extLst>
          </p:cNvPr>
          <p:cNvSpPr txBox="1">
            <a:spLocks/>
          </p:cNvSpPr>
          <p:nvPr/>
        </p:nvSpPr>
        <p:spPr>
          <a:xfrm>
            <a:off x="1069975" y="761682"/>
            <a:ext cx="6547484" cy="7010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spcBef>
                <a:spcPts val="130"/>
              </a:spcBef>
            </a:pPr>
            <a:r>
              <a:rPr lang="en-US" dirty="0"/>
              <a:t>Input</a:t>
            </a:r>
            <a:r>
              <a:rPr lang="en-US" spc="-65" dirty="0"/>
              <a:t> </a:t>
            </a:r>
            <a:r>
              <a:rPr lang="en-US" dirty="0"/>
              <a:t>Pipeline - </a:t>
            </a:r>
            <a:r>
              <a:rPr lang="en-US" dirty="0" err="1"/>
              <a:t>PyTorch</a:t>
            </a:r>
            <a:endParaRPr lang="en-US" spc="-1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03E04-C70F-535D-8BE0-093886068D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1658862"/>
            <a:ext cx="10668000" cy="4039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TW" altLang="en-TW" sz="2800" dirty="0">
                <a:solidFill>
                  <a:schemeClr val="tx1"/>
                </a:solidFill>
                <a:latin typeface="Calibri"/>
                <a:ea typeface="+mn-ea"/>
                <a:cs typeface="Calibri"/>
              </a:rPr>
              <a:t>In PyTorch, this job is split across two plain-Python objects: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TW" altLang="en-TW" sz="2400" b="1" dirty="0">
                <a:solidFill>
                  <a:schemeClr val="tx1"/>
                </a:solidFill>
                <a:latin typeface="Calibri"/>
                <a:ea typeface="+mn-ea"/>
                <a:cs typeface="Calibri"/>
              </a:rPr>
              <a:t>torch.utils.data.Dataset</a:t>
            </a:r>
            <a:r>
              <a:rPr lang="en-TW" altLang="en-TW" sz="2400" dirty="0">
                <a:solidFill>
                  <a:schemeClr val="tx1"/>
                </a:solidFill>
                <a:latin typeface="Calibri"/>
                <a:ea typeface="+mn-ea"/>
                <a:cs typeface="Calibri"/>
              </a:rPr>
              <a:t>: exposing __len__ and __getitem__(idx) -- this is the "Extract + per-sample Transform" step. Transformation is done inside __getitem__, often by calling a torchvision.transforms pipeline.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TW" altLang="en-TW" sz="2400" b="1" dirty="0">
                <a:solidFill>
                  <a:schemeClr val="tx1"/>
                </a:solidFill>
                <a:latin typeface="Calibri"/>
                <a:ea typeface="+mn-ea"/>
                <a:cs typeface="Calibri"/>
              </a:rPr>
              <a:t>torch.utils.data.DataLoader</a:t>
            </a:r>
            <a:r>
              <a:rPr lang="en-TW" altLang="en-TW" sz="2400" dirty="0">
                <a:solidFill>
                  <a:schemeClr val="tx1"/>
                </a:solidFill>
                <a:latin typeface="Calibri"/>
                <a:ea typeface="+mn-ea"/>
                <a:cs typeface="Calibri"/>
              </a:rPr>
              <a:t>: wraps a Dataset and handles shuffling, batching and prefetching -- this is the "Load" step. All of these are configured as constructor arguments.</a:t>
            </a:r>
          </a:p>
        </p:txBody>
      </p:sp>
    </p:spTree>
    <p:extLst>
      <p:ext uri="{BB962C8B-B14F-4D97-AF65-F5344CB8AC3E}">
        <p14:creationId xmlns:p14="http://schemas.microsoft.com/office/powerpoint/2010/main" val="2983300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Input</a:t>
            </a:r>
            <a:r>
              <a:rPr spc="-65" dirty="0"/>
              <a:t> </a:t>
            </a:r>
            <a:r>
              <a:rPr dirty="0"/>
              <a:t>Pipeline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917575" y="1543712"/>
            <a:ext cx="10319385" cy="4714560"/>
          </a:xfrm>
          <a:prstGeom prst="rect">
            <a:avLst/>
          </a:prstGeom>
        </p:spPr>
        <p:txBody>
          <a:bodyPr vert="horz" wrap="square" lIns="0" tIns="67310" rIns="0" bIns="0" rtlCol="0">
            <a:spAutoFit/>
          </a:bodyPr>
          <a:lstStyle/>
          <a:p>
            <a:pPr marL="241300" indent="-228600">
              <a:lnSpc>
                <a:spcPct val="150000"/>
              </a:lnSpc>
              <a:spcBef>
                <a:spcPts val="53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spc="-10" dirty="0">
                <a:latin typeface="Calibri"/>
                <a:cs typeface="Calibri"/>
              </a:rPr>
              <a:t>Transformations</a:t>
            </a:r>
            <a:endParaRPr sz="2800" dirty="0">
              <a:latin typeface="Calibri"/>
              <a:cs typeface="Calibri"/>
            </a:endParaRPr>
          </a:p>
          <a:p>
            <a:pPr marL="697865" lvl="1" indent="-227965">
              <a:lnSpc>
                <a:spcPct val="150000"/>
              </a:lnSpc>
              <a:spcBef>
                <a:spcPts val="350"/>
              </a:spcBef>
              <a:buFont typeface="Arial MT"/>
              <a:buChar char="•"/>
              <a:tabLst>
                <a:tab pos="697865" algn="l"/>
              </a:tabLst>
            </a:pPr>
            <a:r>
              <a:rPr sz="2400" b="1" dirty="0">
                <a:latin typeface="Calibri"/>
                <a:cs typeface="Calibri"/>
              </a:rPr>
              <a:t>Map</a:t>
            </a:r>
            <a:r>
              <a:rPr sz="2400" dirty="0">
                <a:latin typeface="Calibri"/>
                <a:cs typeface="Calibri"/>
              </a:rPr>
              <a:t>: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apply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function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each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elements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this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dataset</a:t>
            </a:r>
            <a:r>
              <a:rPr lang="en-US" sz="2400" spc="-10" dirty="0">
                <a:latin typeface="Calibri"/>
                <a:cs typeface="Calibri"/>
              </a:rPr>
              <a:t>. E.g. crop, rotation, flip ….</a:t>
            </a:r>
            <a:endParaRPr sz="2400" dirty="0">
              <a:latin typeface="Calibri"/>
              <a:cs typeface="Calibri"/>
            </a:endParaRPr>
          </a:p>
          <a:p>
            <a:pPr marL="697865" marR="5080" lvl="1" indent="-227965">
              <a:lnSpc>
                <a:spcPct val="150000"/>
              </a:lnSpc>
              <a:spcBef>
                <a:spcPts val="465"/>
              </a:spcBef>
              <a:buFont typeface="Arial MT"/>
              <a:buChar char="•"/>
              <a:tabLst>
                <a:tab pos="699135" algn="l"/>
              </a:tabLst>
            </a:pPr>
            <a:r>
              <a:rPr sz="2400" b="1" dirty="0">
                <a:latin typeface="Calibri"/>
                <a:cs typeface="Calibri"/>
              </a:rPr>
              <a:t>Shuffle</a:t>
            </a:r>
            <a:r>
              <a:rPr sz="2400" dirty="0">
                <a:latin typeface="Calibri"/>
                <a:cs typeface="Calibri"/>
              </a:rPr>
              <a:t>: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maintains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fixed-</a:t>
            </a:r>
            <a:r>
              <a:rPr sz="2400" dirty="0">
                <a:latin typeface="Calibri"/>
                <a:cs typeface="Calibri"/>
              </a:rPr>
              <a:t>size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buffer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and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chooses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next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element</a:t>
            </a:r>
            <a:r>
              <a:rPr sz="2400" spc="-11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uniformly 	</a:t>
            </a:r>
            <a:r>
              <a:rPr sz="2400" dirty="0">
                <a:latin typeface="Calibri"/>
                <a:cs typeface="Calibri"/>
              </a:rPr>
              <a:t>at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random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from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that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buffer</a:t>
            </a:r>
            <a:endParaRPr sz="2400" dirty="0">
              <a:latin typeface="Calibri"/>
              <a:cs typeface="Calibri"/>
            </a:endParaRPr>
          </a:p>
          <a:p>
            <a:pPr marL="697230" lvl="1" indent="-227329">
              <a:lnSpc>
                <a:spcPct val="150000"/>
              </a:lnSpc>
              <a:spcBef>
                <a:spcPts val="175"/>
              </a:spcBef>
              <a:buFont typeface="Arial MT"/>
              <a:buChar char="•"/>
              <a:tabLst>
                <a:tab pos="697230" algn="l"/>
              </a:tabLst>
            </a:pPr>
            <a:r>
              <a:rPr sz="2400" b="1" dirty="0">
                <a:latin typeface="Calibri"/>
                <a:cs typeface="Calibri"/>
              </a:rPr>
              <a:t>Batch</a:t>
            </a:r>
            <a:r>
              <a:rPr sz="2400" dirty="0">
                <a:latin typeface="Calibri"/>
                <a:cs typeface="Calibri"/>
              </a:rPr>
              <a:t>: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combines</a:t>
            </a:r>
            <a:r>
              <a:rPr sz="2400" spc="-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consecutive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elements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of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this</a:t>
            </a:r>
            <a:r>
              <a:rPr sz="2400" spc="-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dataset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into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batches</a:t>
            </a:r>
            <a:endParaRPr sz="2400" dirty="0">
              <a:latin typeface="Calibri"/>
              <a:cs typeface="Calibri"/>
            </a:endParaRPr>
          </a:p>
          <a:p>
            <a:pPr marL="697865" lvl="1" indent="-227965">
              <a:lnSpc>
                <a:spcPct val="150000"/>
              </a:lnSpc>
              <a:spcBef>
                <a:spcPts val="275"/>
              </a:spcBef>
              <a:buFont typeface="Arial MT"/>
              <a:buChar char="•"/>
              <a:tabLst>
                <a:tab pos="697865" algn="l"/>
              </a:tabLst>
            </a:pPr>
            <a:r>
              <a:rPr sz="2400" b="1" dirty="0">
                <a:latin typeface="Calibri"/>
                <a:cs typeface="Calibri"/>
              </a:rPr>
              <a:t>Prefetch</a:t>
            </a:r>
            <a:r>
              <a:rPr sz="2400" dirty="0">
                <a:latin typeface="Calibri"/>
                <a:cs typeface="Calibri"/>
              </a:rPr>
              <a:t>: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allows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later elements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prepared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while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current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element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is</a:t>
            </a:r>
            <a:r>
              <a:rPr lang="en-US" sz="2400" spc="-2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being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processed</a:t>
            </a:r>
            <a:endParaRPr sz="2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F3470-E00B-19BC-1067-D3DDB7D45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7CCC7E-207A-B802-27E8-98CE8F8F0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W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528E67-82EB-14C2-7CFF-0E0C09D3AB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598" y="0"/>
            <a:ext cx="10674804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FFF333B-63A4-8725-64C4-41416B52D4AE}"/>
              </a:ext>
            </a:extLst>
          </p:cNvPr>
          <p:cNvSpPr/>
          <p:nvPr/>
        </p:nvSpPr>
        <p:spPr>
          <a:xfrm>
            <a:off x="1524000" y="2133600"/>
            <a:ext cx="9909402" cy="2971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F7AAF8E4-AC02-1038-5C49-4A268ADB766F}"/>
                  </a:ext>
                </a:extLst>
              </p14:cNvPr>
              <p14:cNvContentPartPr/>
              <p14:nvPr/>
            </p14:nvContentPartPr>
            <p14:xfrm>
              <a:off x="3320768" y="3978957"/>
              <a:ext cx="1770840" cy="766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F7AAF8E4-AC02-1038-5C49-4A268ADB766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67128" y="3871317"/>
                <a:ext cx="1878480" cy="292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80782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A6D39-8839-4570-9F27-C2C916B3E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D2FA4-8CA6-CAFB-AA94-F46902294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EF6CA-0500-0A11-AF18-2DDBE6BE3F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W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117AA2-8452-F83B-5D7F-984AAFA708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598" y="0"/>
            <a:ext cx="10674804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8A5E94A-C30A-E1C5-300C-7FC511A31CFB}"/>
              </a:ext>
            </a:extLst>
          </p:cNvPr>
          <p:cNvSpPr/>
          <p:nvPr/>
        </p:nvSpPr>
        <p:spPr>
          <a:xfrm>
            <a:off x="2362200" y="6324600"/>
            <a:ext cx="220980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9827052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pc="-10" dirty="0"/>
              <a:t>Outline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7575" y="1702288"/>
            <a:ext cx="8074025" cy="157162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855"/>
              </a:spcBef>
              <a:buFont typeface="Arial MT"/>
              <a:buChar char="•"/>
              <a:tabLst>
                <a:tab pos="241300" algn="l"/>
              </a:tabLst>
            </a:pPr>
            <a:r>
              <a:rPr sz="2750" dirty="0">
                <a:solidFill>
                  <a:srgbClr val="7E7E7E"/>
                </a:solidFill>
                <a:latin typeface="Calibri"/>
                <a:cs typeface="Calibri"/>
              </a:rPr>
              <a:t>Convolution</a:t>
            </a:r>
            <a:r>
              <a:rPr sz="2750" spc="1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750" dirty="0">
                <a:solidFill>
                  <a:srgbClr val="7E7E7E"/>
                </a:solidFill>
                <a:latin typeface="Calibri"/>
                <a:cs typeface="Calibri"/>
              </a:rPr>
              <a:t>neural</a:t>
            </a:r>
            <a:r>
              <a:rPr sz="2750" spc="1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750" spc="-10" dirty="0">
                <a:solidFill>
                  <a:srgbClr val="7E7E7E"/>
                </a:solidFill>
                <a:latin typeface="Calibri"/>
                <a:cs typeface="Calibri"/>
              </a:rPr>
              <a:t>network</a:t>
            </a:r>
            <a:endParaRPr sz="275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0665" algn="l"/>
              </a:tabLst>
            </a:pPr>
            <a:r>
              <a:rPr sz="2750" dirty="0">
                <a:solidFill>
                  <a:srgbClr val="7E7E7E"/>
                </a:solidFill>
                <a:latin typeface="Calibri"/>
                <a:cs typeface="Calibri"/>
              </a:rPr>
              <a:t>Input</a:t>
            </a:r>
            <a:r>
              <a:rPr sz="2750" spc="3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2750" spc="-10" dirty="0">
                <a:solidFill>
                  <a:srgbClr val="7E7E7E"/>
                </a:solidFill>
                <a:latin typeface="Calibri"/>
                <a:cs typeface="Calibri"/>
              </a:rPr>
              <a:t>pipeline</a:t>
            </a:r>
            <a:endParaRPr sz="275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0665" algn="l"/>
              </a:tabLst>
            </a:pPr>
            <a:r>
              <a:rPr sz="2750" dirty="0">
                <a:latin typeface="Calibri"/>
                <a:cs typeface="Calibri"/>
              </a:rPr>
              <a:t>Optimization</a:t>
            </a:r>
            <a:r>
              <a:rPr sz="2750" spc="60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for</a:t>
            </a:r>
            <a:r>
              <a:rPr sz="2750" spc="100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Input</a:t>
            </a:r>
            <a:r>
              <a:rPr sz="2750" spc="65" dirty="0">
                <a:latin typeface="Calibri"/>
                <a:cs typeface="Calibri"/>
              </a:rPr>
              <a:t> </a:t>
            </a:r>
            <a:r>
              <a:rPr sz="2750" spc="-10" dirty="0">
                <a:latin typeface="Calibri"/>
                <a:cs typeface="Calibri"/>
              </a:rPr>
              <a:t>pipeline</a:t>
            </a:r>
            <a:r>
              <a:rPr lang="en-US" sz="2750" spc="-10" dirty="0">
                <a:latin typeface="Calibri"/>
                <a:cs typeface="Calibri"/>
              </a:rPr>
              <a:t> (</a:t>
            </a:r>
            <a:r>
              <a:rPr lang="en-US" sz="2750" spc="-10" dirty="0" err="1">
                <a:latin typeface="Calibri"/>
                <a:cs typeface="Calibri"/>
              </a:rPr>
              <a:t>PyTorch</a:t>
            </a:r>
            <a:r>
              <a:rPr lang="en-US" sz="2750" spc="-10" dirty="0">
                <a:latin typeface="Calibri"/>
                <a:cs typeface="Calibri"/>
              </a:rPr>
              <a:t>)</a:t>
            </a:r>
            <a:endParaRPr sz="275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59923-D3D4-105F-6661-33A7416DF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loading</a:t>
            </a:r>
            <a:endParaRPr lang="en-TW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1D97A9-2C45-FDBB-56F8-5EB755BAC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7575" y="1754504"/>
            <a:ext cx="10079355" cy="4422877"/>
          </a:xfrm>
        </p:spPr>
        <p:txBody>
          <a:bodyPr/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Set </a:t>
            </a:r>
            <a:r>
              <a:rPr lang="en-US" sz="2800" b="1" dirty="0" err="1"/>
              <a:t>num_workers</a:t>
            </a:r>
            <a:r>
              <a:rPr lang="en-US" sz="2800" b="1" dirty="0"/>
              <a:t> </a:t>
            </a:r>
            <a:r>
              <a:rPr lang="en-US" sz="2800" dirty="0"/>
              <a:t>&gt; 0 (default : 0) : multiple worker processes read/decode samples concurrently.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TW" sz="2800" dirty="0"/>
              <a:t>If </a:t>
            </a:r>
            <a:r>
              <a:rPr lang="en-US" sz="2800" dirty="0" err="1"/>
              <a:t>num_workers</a:t>
            </a:r>
            <a:r>
              <a:rPr lang="en-US" sz="2800" dirty="0"/>
              <a:t> &gt; 0 , prefetch is default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 workers means up to N copies of whatever the dataset holds. How workers get the copy is OS dependent and may sometimes causes error without caution.</a:t>
            </a:r>
            <a:endParaRPr lang="en-US" sz="2800" dirty="0"/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37068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AAAD0-B7C2-8F8C-34DC-1478133CC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A2C7C-8E72-BE0F-161F-8351E3EBC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Prefetch</a:t>
            </a:r>
            <a:endParaRPr lang="en-TW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FA6D51-7C93-5371-DAF7-8942FDF2F3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7575" y="1754504"/>
            <a:ext cx="10079355" cy="2154436"/>
          </a:xfrm>
        </p:spPr>
        <p:txBody>
          <a:bodyPr/>
          <a:lstStyle/>
          <a:p>
            <a:r>
              <a:rPr lang="en-US" sz="2800" dirty="0"/>
              <a:t>No prefetching (</a:t>
            </a:r>
            <a:r>
              <a:rPr lang="en-US" sz="2800" dirty="0" err="1"/>
              <a:t>num_workers</a:t>
            </a:r>
            <a:r>
              <a:rPr lang="en-US" sz="2800" dirty="0"/>
              <a:t>=0):</a:t>
            </a:r>
          </a:p>
          <a:p>
            <a:r>
              <a:rPr lang="en-US" sz="2800" dirty="0"/>
              <a:t>CPU:  [load 1]   </a:t>
            </a:r>
            <a:r>
              <a:rPr lang="zh-TW" altLang="en-US" sz="2800" dirty="0"/>
              <a:t>  </a:t>
            </a:r>
            <a:r>
              <a:rPr lang="en-US" sz="2800" dirty="0"/>
              <a:t> </a:t>
            </a:r>
            <a:r>
              <a:rPr lang="zh-TW" altLang="en-US" sz="2800" dirty="0"/>
              <a:t> </a:t>
            </a:r>
            <a:r>
              <a:rPr lang="en-US" sz="2800" dirty="0"/>
              <a:t>      [load 2]  </a:t>
            </a:r>
            <a:r>
              <a:rPr lang="zh-TW" altLang="en-US" sz="2800" dirty="0"/>
              <a:t>   </a:t>
            </a:r>
            <a:r>
              <a:rPr lang="en-US" sz="2800" dirty="0"/>
              <a:t>     </a:t>
            </a:r>
            <a:r>
              <a:rPr lang="zh-TW" altLang="en-US" sz="2800" dirty="0"/>
              <a:t> </a:t>
            </a:r>
            <a:r>
              <a:rPr lang="en-US" sz="2800" dirty="0"/>
              <a:t>   [load 3]</a:t>
            </a:r>
          </a:p>
          <a:p>
            <a:r>
              <a:rPr lang="en-US" sz="2800" dirty="0"/>
              <a:t>GPU:          </a:t>
            </a:r>
            <a:r>
              <a:rPr lang="zh-TW" altLang="en-US" sz="2800" dirty="0"/>
              <a:t>    </a:t>
            </a:r>
            <a:r>
              <a:rPr lang="en-US" sz="2800" dirty="0"/>
              <a:t>[train 1]  </a:t>
            </a:r>
            <a:r>
              <a:rPr lang="zh-TW" altLang="en-US" sz="2800" dirty="0"/>
              <a:t>    </a:t>
            </a:r>
            <a:r>
              <a:rPr lang="en-US" sz="2800" dirty="0"/>
              <a:t>       [train 2]  </a:t>
            </a:r>
            <a:r>
              <a:rPr lang="zh-TW" altLang="en-US" sz="2800" dirty="0"/>
              <a:t>     </a:t>
            </a:r>
            <a:r>
              <a:rPr lang="en-US" sz="2800" dirty="0"/>
              <a:t>       [train 3]</a:t>
            </a:r>
          </a:p>
          <a:p>
            <a:r>
              <a:rPr lang="en-US" sz="2800" dirty="0"/>
              <a:t>time ─────────────────────────────────────────────────────►</a:t>
            </a:r>
            <a:endParaRPr lang="en-TW" sz="2800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9B82E88-E0D3-6FCE-A216-0A851726FE79}"/>
              </a:ext>
            </a:extLst>
          </p:cNvPr>
          <p:cNvSpPr txBox="1">
            <a:spLocks/>
          </p:cNvSpPr>
          <p:nvPr/>
        </p:nvSpPr>
        <p:spPr>
          <a:xfrm>
            <a:off x="914681" y="4094282"/>
            <a:ext cx="10079355" cy="17235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2750" b="0" i="0">
                <a:solidFill>
                  <a:schemeClr val="tx1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With prefetching:</a:t>
            </a:r>
          </a:p>
          <a:p>
            <a:r>
              <a:rPr lang="en-US" sz="2800" dirty="0"/>
              <a:t>CPU:  [load 1][load 2][load 3][load 4]</a:t>
            </a:r>
          </a:p>
          <a:p>
            <a:r>
              <a:rPr lang="en-US" sz="2800" dirty="0"/>
              <a:t>GPU:      </a:t>
            </a:r>
            <a:r>
              <a:rPr lang="zh-TW" altLang="en-US" sz="2800" dirty="0"/>
              <a:t>      </a:t>
            </a:r>
            <a:r>
              <a:rPr lang="en-US" sz="2800" dirty="0"/>
              <a:t>    [train 1][train 2][train 3][train 4]</a:t>
            </a:r>
          </a:p>
          <a:p>
            <a:r>
              <a:rPr lang="en-US" sz="2800" dirty="0"/>
              <a:t>time ───────────────────────────────────────►</a:t>
            </a:r>
            <a:endParaRPr lang="en-TW" sz="2800" dirty="0"/>
          </a:p>
        </p:txBody>
      </p:sp>
    </p:spTree>
    <p:extLst>
      <p:ext uri="{BB962C8B-B14F-4D97-AF65-F5344CB8AC3E}">
        <p14:creationId xmlns:p14="http://schemas.microsoft.com/office/powerpoint/2010/main" val="7209555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8515E-DF91-7C64-0353-2025C507D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Prefetching</a:t>
            </a:r>
            <a:endParaRPr lang="en-TW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EBA6DC-554E-FC76-5FC7-99799D1D1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7575" y="1754504"/>
            <a:ext cx="10283825" cy="4457502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 err="1"/>
              <a:t>prefetch_factor</a:t>
            </a:r>
            <a:r>
              <a:rPr lang="en-US" sz="2800" b="1" dirty="0"/>
              <a:t> </a:t>
            </a:r>
            <a:r>
              <a:rPr lang="en-US" sz="2800" dirty="0"/>
              <a:t>: The number of batches each worker loads ahead of time.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 err="1"/>
              <a:t>pin_memory</a:t>
            </a:r>
            <a:r>
              <a:rPr lang="en-US" sz="2800" b="1" dirty="0"/>
              <a:t> </a:t>
            </a:r>
            <a:r>
              <a:rPr lang="en-TW" sz="2800" dirty="0"/>
              <a:t>: </a:t>
            </a:r>
            <a:r>
              <a:rPr lang="en-US" sz="2800" dirty="0"/>
              <a:t>The GPU copies data using DMA (direct memory access), which reads RAM without the CPU’s involvement. DMA needs the data to stay at a fixed physical address, so it can only read pinned (page-locked) memory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Note that different batches don’t necessary take same time to fetch</a:t>
            </a:r>
          </a:p>
        </p:txBody>
      </p:sp>
    </p:spTree>
    <p:extLst>
      <p:ext uri="{BB962C8B-B14F-4D97-AF65-F5344CB8AC3E}">
        <p14:creationId xmlns:p14="http://schemas.microsoft.com/office/powerpoint/2010/main" val="8169143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A55B6-8D68-4F6E-54F6-9BB8738CB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TW" dirty="0"/>
              <a:t>ache (in Dataset)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980E2-A644-25AE-DA6F-C333BD480E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7575" y="1600200"/>
            <a:ext cx="10079355" cy="5012719"/>
          </a:xfrm>
        </p:spPr>
        <p:txBody>
          <a:bodyPr/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TW" dirty="0"/>
              <a:t>We go over the same data every epoch. </a:t>
            </a:r>
            <a:r>
              <a:rPr lang="en-US" dirty="0"/>
              <a:t>Without caching, each epoch repeats the same work for every image: read the file from disk, decode it, convert it to a tensor.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Cache the decoded image, then transform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Note that workers restart every epoch, The new workers start from a copy of the dataset in the main process, whose cache is empty.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Even with </a:t>
            </a:r>
            <a:r>
              <a:rPr lang="en-US" b="1" dirty="0" err="1"/>
              <a:t>persistent_workers</a:t>
            </a:r>
            <a:r>
              <a:rPr lang="en-US" b="1" dirty="0"/>
              <a:t>=True</a:t>
            </a:r>
            <a:r>
              <a:rPr lang="en-US" dirty="0"/>
              <a:t>, the caches are split across worker because of shuffle</a:t>
            </a:r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1123363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574</TotalTime>
  <Words>765</Words>
  <Application>Microsoft Macintosh PowerPoint</Application>
  <PresentationFormat>Widescreen</PresentationFormat>
  <Paragraphs>82</Paragraphs>
  <Slides>19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 MT</vt:lpstr>
      <vt:lpstr>Aptos</vt:lpstr>
      <vt:lpstr>Arial</vt:lpstr>
      <vt:lpstr>Calibri</vt:lpstr>
      <vt:lpstr>Office Theme</vt:lpstr>
      <vt:lpstr>Lab 11-1 Convolution Neural Network &amp; Data Pipelines</vt:lpstr>
      <vt:lpstr>Outline</vt:lpstr>
      <vt:lpstr>Outline</vt:lpstr>
      <vt:lpstr>Convolution Neural Network</vt:lpstr>
      <vt:lpstr>Convolution Neural Network</vt:lpstr>
      <vt:lpstr>Convolution Neural Network</vt:lpstr>
      <vt:lpstr>Convolution Neural Network</vt:lpstr>
      <vt:lpstr>Convolution Neural Network</vt:lpstr>
      <vt:lpstr>Outline</vt:lpstr>
      <vt:lpstr>PowerPoint Presentation</vt:lpstr>
      <vt:lpstr>PowerPoint Presentation</vt:lpstr>
      <vt:lpstr>Input Pipeline</vt:lpstr>
      <vt:lpstr>PowerPoint Presentation</vt:lpstr>
      <vt:lpstr>PowerPoint Presentation</vt:lpstr>
      <vt:lpstr>Outline</vt:lpstr>
      <vt:lpstr>Parallel loading</vt:lpstr>
      <vt:lpstr>Prefetch</vt:lpstr>
      <vt:lpstr>Prefetching</vt:lpstr>
      <vt:lpstr>Cache (in Dataset)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家昇 楊</cp:lastModifiedBy>
  <cp:revision>15</cp:revision>
  <dcterms:created xsi:type="dcterms:W3CDTF">2025-10-15T17:50:17Z</dcterms:created>
  <dcterms:modified xsi:type="dcterms:W3CDTF">2026-10-22T05:23:59Z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2024-10-24T00:00:00Z</vt:filetime>
  </property>
  <property fmtid="{D5CDD505-2E9C-101B-9397-08002B2CF9AE}" pid="3" name="LastSaved">
    <vt:filetime>2025-10-15T00:00:00Z</vt:filetime>
  </property>
</Properties>
</file>