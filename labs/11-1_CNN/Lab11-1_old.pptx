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90" r:id="rId33"/>
    <p:sldId id="291" r:id="rId34"/>
    <p:sldId id="293" r:id="rId35"/>
    <p:sldId id="292" r:id="rId3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1" y="26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97404" y="2273363"/>
            <a:ext cx="7997190" cy="1593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7575" y="609282"/>
            <a:ext cx="6547484" cy="701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1754504"/>
            <a:ext cx="10079355" cy="19392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9.jpg"/><Relationship Id="rId7" Type="http://schemas.openxmlformats.org/officeDocument/2006/relationships/image" Target="../media/image13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9.jpg"/><Relationship Id="rId7" Type="http://schemas.openxmlformats.org/officeDocument/2006/relationships/image" Target="../media/image13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420370" marR="5080" indent="-397510">
              <a:lnSpc>
                <a:spcPts val="5860"/>
              </a:lnSpc>
              <a:spcBef>
                <a:spcPts val="820"/>
              </a:spcBef>
            </a:pPr>
            <a:r>
              <a:rPr sz="5400" dirty="0"/>
              <a:t>Lab</a:t>
            </a:r>
            <a:r>
              <a:rPr sz="5400" spc="-15" dirty="0"/>
              <a:t> </a:t>
            </a:r>
            <a:r>
              <a:rPr sz="5400" spc="-10" dirty="0"/>
              <a:t>11-</a:t>
            </a:r>
            <a:r>
              <a:rPr sz="5400" dirty="0"/>
              <a:t>1 Convolution</a:t>
            </a:r>
            <a:r>
              <a:rPr sz="5400" spc="-25" dirty="0"/>
              <a:t> </a:t>
            </a:r>
            <a:r>
              <a:rPr sz="5400" spc="-10" dirty="0"/>
              <a:t>Neural </a:t>
            </a:r>
            <a:r>
              <a:rPr sz="5400" dirty="0"/>
              <a:t>Network</a:t>
            </a:r>
            <a:r>
              <a:rPr sz="5400" spc="-15" dirty="0"/>
              <a:t> </a:t>
            </a:r>
            <a:r>
              <a:rPr sz="5400" dirty="0"/>
              <a:t>&amp;</a:t>
            </a:r>
            <a:r>
              <a:rPr sz="5400" spc="10" dirty="0"/>
              <a:t> </a:t>
            </a:r>
            <a:r>
              <a:rPr sz="5400" dirty="0"/>
              <a:t>Data</a:t>
            </a:r>
            <a:r>
              <a:rPr sz="5400" spc="-10" dirty="0"/>
              <a:t> Pipelines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4809490" y="4401121"/>
            <a:ext cx="26085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7E7E7E"/>
                </a:solidFill>
                <a:latin typeface="Calibri"/>
                <a:cs typeface="Calibri"/>
              </a:rPr>
              <a:t>NTHU</a:t>
            </a:r>
            <a:r>
              <a:rPr sz="2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E7E7E"/>
                </a:solidFill>
                <a:latin typeface="Calibri"/>
                <a:cs typeface="Calibri"/>
              </a:rPr>
              <a:t>DataLab,</a:t>
            </a:r>
            <a:r>
              <a:rPr sz="2400" spc="-7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7E7E7E"/>
                </a:solidFill>
                <a:latin typeface="Calibri"/>
                <a:cs typeface="Calibri"/>
              </a:rPr>
              <a:t>202</a:t>
            </a:r>
            <a:r>
              <a:rPr lang="en-US" sz="2400" spc="-20" dirty="0">
                <a:solidFill>
                  <a:srgbClr val="7E7E7E"/>
                </a:solidFill>
                <a:latin typeface="Calibri"/>
                <a:cs typeface="Calibri"/>
              </a:rPr>
              <a:t>5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02288"/>
            <a:ext cx="4709795" cy="157162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55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Calibri"/>
                <a:cs typeface="Calibri"/>
              </a:rPr>
              <a:t>Convolution</a:t>
            </a:r>
            <a:r>
              <a:rPr sz="2750" spc="11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neural</a:t>
            </a:r>
            <a:r>
              <a:rPr sz="2750" spc="11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network</a:t>
            </a:r>
            <a:endParaRPr sz="27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latin typeface="Calibri"/>
                <a:cs typeface="Calibri"/>
              </a:rPr>
              <a:t>Input</a:t>
            </a:r>
            <a:r>
              <a:rPr sz="2750" spc="3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pipeline</a:t>
            </a:r>
            <a:endParaRPr sz="27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latin typeface="Calibri"/>
                <a:cs typeface="Calibri"/>
              </a:rPr>
              <a:t>Optimization</a:t>
            </a:r>
            <a:r>
              <a:rPr sz="2750" spc="6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for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Input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pipeline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02288"/>
            <a:ext cx="4709795" cy="157162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55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Calibri"/>
                <a:cs typeface="Calibri"/>
              </a:rPr>
              <a:t>Convolution</a:t>
            </a:r>
            <a:r>
              <a:rPr sz="2750" spc="11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neural</a:t>
            </a:r>
            <a:r>
              <a:rPr sz="2750" spc="11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network</a:t>
            </a:r>
            <a:endParaRPr sz="27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solidFill>
                  <a:srgbClr val="7E7E7E"/>
                </a:solidFill>
                <a:latin typeface="Calibri"/>
                <a:cs typeface="Calibri"/>
              </a:rPr>
              <a:t>Input</a:t>
            </a:r>
            <a:r>
              <a:rPr sz="2750" spc="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750" spc="-10" dirty="0">
                <a:solidFill>
                  <a:srgbClr val="7E7E7E"/>
                </a:solidFill>
                <a:latin typeface="Calibri"/>
                <a:cs typeface="Calibri"/>
              </a:rPr>
              <a:t>pipeline</a:t>
            </a:r>
            <a:endParaRPr sz="27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solidFill>
                  <a:srgbClr val="7E7E7E"/>
                </a:solidFill>
                <a:latin typeface="Calibri"/>
                <a:cs typeface="Calibri"/>
              </a:rPr>
              <a:t>Optimization</a:t>
            </a:r>
            <a:r>
              <a:rPr sz="2750" spc="6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7E7E7E"/>
                </a:solidFill>
                <a:latin typeface="Calibri"/>
                <a:cs typeface="Calibri"/>
              </a:rPr>
              <a:t>for</a:t>
            </a:r>
            <a:r>
              <a:rPr sz="2750" spc="1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7E7E7E"/>
                </a:solidFill>
                <a:latin typeface="Calibri"/>
                <a:cs typeface="Calibri"/>
              </a:rPr>
              <a:t>Input</a:t>
            </a:r>
            <a:r>
              <a:rPr sz="2750" spc="6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750" spc="-10" dirty="0">
                <a:solidFill>
                  <a:srgbClr val="7E7E7E"/>
                </a:solidFill>
                <a:latin typeface="Calibri"/>
                <a:cs typeface="Calibri"/>
              </a:rPr>
              <a:t>pipeline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Convolution</a:t>
            </a:r>
            <a:r>
              <a:rPr spc="-120" dirty="0"/>
              <a:t> </a:t>
            </a:r>
            <a:r>
              <a:rPr dirty="0"/>
              <a:t>Neural</a:t>
            </a:r>
            <a:r>
              <a:rPr spc="-6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54504"/>
            <a:ext cx="6148070" cy="88963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Calibri"/>
                <a:cs typeface="Calibri"/>
              </a:rPr>
              <a:t>Build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a</a:t>
            </a:r>
            <a:r>
              <a:rPr sz="2750" spc="12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CNN</a:t>
            </a:r>
            <a:r>
              <a:rPr sz="2750" spc="3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model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via</a:t>
            </a:r>
            <a:r>
              <a:rPr sz="2750" spc="13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Sequential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API</a:t>
            </a:r>
            <a:endParaRPr sz="275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A stack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Conv2D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MaxPooling2D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layers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3750" y="2867025"/>
            <a:ext cx="5324475" cy="12763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7175" y="4610100"/>
            <a:ext cx="11677650" cy="14954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Convolution</a:t>
            </a:r>
            <a:r>
              <a:rPr spc="-120" dirty="0"/>
              <a:t> </a:t>
            </a:r>
            <a:r>
              <a:rPr dirty="0"/>
              <a:t>Neural</a:t>
            </a:r>
            <a:r>
              <a:rPr spc="-6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54504"/>
            <a:ext cx="6148070" cy="88963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Calibri"/>
                <a:cs typeface="Calibri"/>
              </a:rPr>
              <a:t>Build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a</a:t>
            </a:r>
            <a:r>
              <a:rPr sz="2750" spc="12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CNN</a:t>
            </a:r>
            <a:r>
              <a:rPr sz="2750" spc="3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model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via</a:t>
            </a:r>
            <a:r>
              <a:rPr sz="2750" spc="13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Sequential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API</a:t>
            </a:r>
            <a:endParaRPr sz="275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A stack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Conv2D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MaxPooling2D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layers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333750" y="2867025"/>
            <a:ext cx="5324475" cy="1276350"/>
            <a:chOff x="3333750" y="2867025"/>
            <a:chExt cx="5324475" cy="12763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33750" y="2867025"/>
              <a:ext cx="5324475" cy="12763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348100" y="3138550"/>
              <a:ext cx="704850" cy="704850"/>
            </a:xfrm>
            <a:custGeom>
              <a:avLst/>
              <a:gdLst/>
              <a:ahLst/>
              <a:cxnLst/>
              <a:rect l="l" t="t" r="r" b="b"/>
              <a:pathLst>
                <a:path w="704850" h="704850">
                  <a:moveTo>
                    <a:pt x="0" y="704850"/>
                  </a:moveTo>
                  <a:lnTo>
                    <a:pt x="704850" y="704850"/>
                  </a:lnTo>
                  <a:lnTo>
                    <a:pt x="704850" y="0"/>
                  </a:lnTo>
                  <a:lnTo>
                    <a:pt x="0" y="0"/>
                  </a:lnTo>
                  <a:lnTo>
                    <a:pt x="0" y="704850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57175" y="4610100"/>
            <a:ext cx="11677650" cy="1495425"/>
            <a:chOff x="257175" y="4610100"/>
            <a:chExt cx="11677650" cy="149542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175" y="4610100"/>
              <a:ext cx="11677650" cy="149542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205976" y="4824475"/>
              <a:ext cx="2362200" cy="304800"/>
            </a:xfrm>
            <a:custGeom>
              <a:avLst/>
              <a:gdLst/>
              <a:ahLst/>
              <a:cxnLst/>
              <a:rect l="l" t="t" r="r" b="b"/>
              <a:pathLst>
                <a:path w="2362200" h="304800">
                  <a:moveTo>
                    <a:pt x="0" y="304800"/>
                  </a:moveTo>
                  <a:lnTo>
                    <a:pt x="2362200" y="304800"/>
                  </a:lnTo>
                  <a:lnTo>
                    <a:pt x="23622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959215" y="4302061"/>
            <a:ext cx="283591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Width</a:t>
            </a:r>
            <a:r>
              <a:rPr sz="2000" spc="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*</a:t>
            </a:r>
            <a:r>
              <a:rPr sz="200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Height</a:t>
            </a:r>
            <a:r>
              <a:rPr sz="20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*</a:t>
            </a:r>
            <a:r>
              <a:rPr sz="200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Channel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Convolution</a:t>
            </a:r>
            <a:r>
              <a:rPr spc="-120" dirty="0"/>
              <a:t> </a:t>
            </a:r>
            <a:r>
              <a:rPr dirty="0"/>
              <a:t>Neural</a:t>
            </a:r>
            <a:r>
              <a:rPr spc="-6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54504"/>
            <a:ext cx="6148070" cy="88963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Calibri"/>
                <a:cs typeface="Calibri"/>
              </a:rPr>
              <a:t>Build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a</a:t>
            </a:r>
            <a:r>
              <a:rPr sz="2750" spc="12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CNN</a:t>
            </a:r>
            <a:r>
              <a:rPr sz="2750" spc="3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model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via</a:t>
            </a:r>
            <a:r>
              <a:rPr sz="2750" spc="13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Sequential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API</a:t>
            </a:r>
            <a:endParaRPr sz="275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A stack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Conv2D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MaxPooling2D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layers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333750" y="2867025"/>
            <a:ext cx="5324475" cy="1276350"/>
            <a:chOff x="3333750" y="2867025"/>
            <a:chExt cx="5324475" cy="12763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33750" y="2867025"/>
              <a:ext cx="5324475" cy="12763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414774" y="3138424"/>
              <a:ext cx="353060" cy="295275"/>
            </a:xfrm>
            <a:custGeom>
              <a:avLst/>
              <a:gdLst/>
              <a:ahLst/>
              <a:cxnLst/>
              <a:rect l="l" t="t" r="r" b="b"/>
              <a:pathLst>
                <a:path w="353060" h="295275">
                  <a:moveTo>
                    <a:pt x="38353" y="207390"/>
                  </a:moveTo>
                  <a:lnTo>
                    <a:pt x="0" y="295275"/>
                  </a:lnTo>
                  <a:lnTo>
                    <a:pt x="93345" y="273050"/>
                  </a:lnTo>
                  <a:lnTo>
                    <a:pt x="82708" y="260350"/>
                  </a:lnTo>
                  <a:lnTo>
                    <a:pt x="64008" y="260350"/>
                  </a:lnTo>
                  <a:lnTo>
                    <a:pt x="45720" y="238378"/>
                  </a:lnTo>
                  <a:lnTo>
                    <a:pt x="56647" y="229233"/>
                  </a:lnTo>
                  <a:lnTo>
                    <a:pt x="38353" y="207390"/>
                  </a:lnTo>
                  <a:close/>
                </a:path>
                <a:path w="353060" h="295275">
                  <a:moveTo>
                    <a:pt x="56647" y="229233"/>
                  </a:moveTo>
                  <a:lnTo>
                    <a:pt x="45720" y="238378"/>
                  </a:lnTo>
                  <a:lnTo>
                    <a:pt x="64008" y="260350"/>
                  </a:lnTo>
                  <a:lnTo>
                    <a:pt x="75001" y="251148"/>
                  </a:lnTo>
                  <a:lnTo>
                    <a:pt x="56647" y="229233"/>
                  </a:lnTo>
                  <a:close/>
                </a:path>
                <a:path w="353060" h="295275">
                  <a:moveTo>
                    <a:pt x="75001" y="251148"/>
                  </a:moveTo>
                  <a:lnTo>
                    <a:pt x="64008" y="260350"/>
                  </a:lnTo>
                  <a:lnTo>
                    <a:pt x="82708" y="260350"/>
                  </a:lnTo>
                  <a:lnTo>
                    <a:pt x="75001" y="251148"/>
                  </a:lnTo>
                  <a:close/>
                </a:path>
                <a:path w="353060" h="295275">
                  <a:moveTo>
                    <a:pt x="277808" y="44123"/>
                  </a:moveTo>
                  <a:lnTo>
                    <a:pt x="56647" y="229233"/>
                  </a:lnTo>
                  <a:lnTo>
                    <a:pt x="75001" y="251148"/>
                  </a:lnTo>
                  <a:lnTo>
                    <a:pt x="296166" y="66035"/>
                  </a:lnTo>
                  <a:lnTo>
                    <a:pt x="277808" y="44123"/>
                  </a:lnTo>
                  <a:close/>
                </a:path>
                <a:path w="353060" h="295275">
                  <a:moveTo>
                    <a:pt x="337636" y="34925"/>
                  </a:moveTo>
                  <a:lnTo>
                    <a:pt x="288798" y="34925"/>
                  </a:lnTo>
                  <a:lnTo>
                    <a:pt x="307086" y="56896"/>
                  </a:lnTo>
                  <a:lnTo>
                    <a:pt x="296166" y="66035"/>
                  </a:lnTo>
                  <a:lnTo>
                    <a:pt x="314578" y="88011"/>
                  </a:lnTo>
                  <a:lnTo>
                    <a:pt x="337636" y="34925"/>
                  </a:lnTo>
                  <a:close/>
                </a:path>
                <a:path w="353060" h="295275">
                  <a:moveTo>
                    <a:pt x="288798" y="34925"/>
                  </a:moveTo>
                  <a:lnTo>
                    <a:pt x="277808" y="44123"/>
                  </a:lnTo>
                  <a:lnTo>
                    <a:pt x="296166" y="66035"/>
                  </a:lnTo>
                  <a:lnTo>
                    <a:pt x="307086" y="56896"/>
                  </a:lnTo>
                  <a:lnTo>
                    <a:pt x="288798" y="34925"/>
                  </a:lnTo>
                  <a:close/>
                </a:path>
                <a:path w="353060" h="295275">
                  <a:moveTo>
                    <a:pt x="352805" y="0"/>
                  </a:moveTo>
                  <a:lnTo>
                    <a:pt x="259461" y="22225"/>
                  </a:lnTo>
                  <a:lnTo>
                    <a:pt x="277808" y="44123"/>
                  </a:lnTo>
                  <a:lnTo>
                    <a:pt x="288798" y="34925"/>
                  </a:lnTo>
                  <a:lnTo>
                    <a:pt x="337636" y="34925"/>
                  </a:lnTo>
                  <a:lnTo>
                    <a:pt x="35280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57175" y="4610100"/>
            <a:ext cx="11677650" cy="1495425"/>
            <a:chOff x="257175" y="4610100"/>
            <a:chExt cx="11677650" cy="149542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175" y="4610100"/>
              <a:ext cx="11677650" cy="149542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690876" y="4853050"/>
              <a:ext cx="314325" cy="247650"/>
            </a:xfrm>
            <a:custGeom>
              <a:avLst/>
              <a:gdLst/>
              <a:ahLst/>
              <a:cxnLst/>
              <a:rect l="l" t="t" r="r" b="b"/>
              <a:pathLst>
                <a:path w="314325" h="247650">
                  <a:moveTo>
                    <a:pt x="0" y="247650"/>
                  </a:moveTo>
                  <a:lnTo>
                    <a:pt x="314325" y="247650"/>
                  </a:lnTo>
                  <a:lnTo>
                    <a:pt x="314325" y="0"/>
                  </a:lnTo>
                  <a:lnTo>
                    <a:pt x="0" y="0"/>
                  </a:lnTo>
                  <a:lnTo>
                    <a:pt x="0" y="247650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644014" y="4199001"/>
            <a:ext cx="564007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Filters:</a:t>
            </a:r>
            <a:r>
              <a:rPr sz="20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0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number</a:t>
            </a:r>
            <a:r>
              <a:rPr sz="20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000" spc="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output</a:t>
            </a:r>
            <a:r>
              <a:rPr sz="20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filters</a:t>
            </a:r>
            <a:r>
              <a:rPr sz="20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20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000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convolution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Convolution</a:t>
            </a:r>
            <a:r>
              <a:rPr spc="-120" dirty="0"/>
              <a:t> </a:t>
            </a:r>
            <a:r>
              <a:rPr dirty="0"/>
              <a:t>Neural</a:t>
            </a:r>
            <a:r>
              <a:rPr spc="-6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54504"/>
            <a:ext cx="6148070" cy="88963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Calibri"/>
                <a:cs typeface="Calibri"/>
              </a:rPr>
              <a:t>Build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a</a:t>
            </a:r>
            <a:r>
              <a:rPr sz="2750" spc="12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CNN</a:t>
            </a:r>
            <a:r>
              <a:rPr sz="2750" spc="3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model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via</a:t>
            </a:r>
            <a:r>
              <a:rPr sz="2750" spc="13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Sequential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API</a:t>
            </a:r>
            <a:endParaRPr sz="275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A stack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Conv2D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MaxPooling2D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layers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333750" y="2867025"/>
            <a:ext cx="5324475" cy="1276350"/>
            <a:chOff x="3333750" y="2867025"/>
            <a:chExt cx="5324475" cy="12763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33750" y="2867025"/>
              <a:ext cx="5324475" cy="12763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110101" y="3395726"/>
              <a:ext cx="371475" cy="295275"/>
            </a:xfrm>
            <a:custGeom>
              <a:avLst/>
              <a:gdLst/>
              <a:ahLst/>
              <a:cxnLst/>
              <a:rect l="l" t="t" r="r" b="b"/>
              <a:pathLst>
                <a:path w="371475" h="295275">
                  <a:moveTo>
                    <a:pt x="0" y="295275"/>
                  </a:moveTo>
                  <a:lnTo>
                    <a:pt x="371475" y="295275"/>
                  </a:lnTo>
                  <a:lnTo>
                    <a:pt x="371475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57175" y="4610100"/>
            <a:ext cx="11677650" cy="1495425"/>
            <a:chOff x="257175" y="4610100"/>
            <a:chExt cx="11677650" cy="149542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175" y="4610100"/>
              <a:ext cx="11677650" cy="149542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09976" y="4853050"/>
              <a:ext cx="752475" cy="247650"/>
            </a:xfrm>
            <a:custGeom>
              <a:avLst/>
              <a:gdLst/>
              <a:ahLst/>
              <a:cxnLst/>
              <a:rect l="l" t="t" r="r" b="b"/>
              <a:pathLst>
                <a:path w="752475" h="247650">
                  <a:moveTo>
                    <a:pt x="0" y="247650"/>
                  </a:moveTo>
                  <a:lnTo>
                    <a:pt x="752475" y="247650"/>
                  </a:lnTo>
                  <a:lnTo>
                    <a:pt x="752475" y="0"/>
                  </a:lnTo>
                  <a:lnTo>
                    <a:pt x="0" y="0"/>
                  </a:lnTo>
                  <a:lnTo>
                    <a:pt x="0" y="247650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644014" y="4199001"/>
            <a:ext cx="769175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Kernel</a:t>
            </a:r>
            <a:r>
              <a:rPr sz="20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size:</a:t>
            </a:r>
            <a:r>
              <a:rPr sz="20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specifying the</a:t>
            </a:r>
            <a:r>
              <a:rPr sz="20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height</a:t>
            </a:r>
            <a:r>
              <a:rPr sz="20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0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width</a:t>
            </a:r>
            <a:r>
              <a:rPr sz="20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0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000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2D</a:t>
            </a:r>
            <a:r>
              <a:rPr sz="20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convolution</a:t>
            </a:r>
            <a:r>
              <a:rPr sz="20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window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Convolution</a:t>
            </a:r>
            <a:r>
              <a:rPr spc="-120" dirty="0"/>
              <a:t> </a:t>
            </a:r>
            <a:r>
              <a:rPr dirty="0"/>
              <a:t>Neural</a:t>
            </a:r>
            <a:r>
              <a:rPr spc="-6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54504"/>
            <a:ext cx="6148070" cy="88963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Calibri"/>
                <a:cs typeface="Calibri"/>
              </a:rPr>
              <a:t>Build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a</a:t>
            </a:r>
            <a:r>
              <a:rPr sz="2750" spc="12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CNN</a:t>
            </a:r>
            <a:r>
              <a:rPr sz="2750" spc="3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model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via</a:t>
            </a:r>
            <a:r>
              <a:rPr sz="2750" spc="13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Sequential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API</a:t>
            </a:r>
            <a:endParaRPr sz="275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A stack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Conv2D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MaxPooling2D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layers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333750" y="2867025"/>
            <a:ext cx="5324475" cy="1276350"/>
            <a:chOff x="3333750" y="2867025"/>
            <a:chExt cx="5324475" cy="12763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33750" y="2867025"/>
              <a:ext cx="5324475" cy="12763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348100" y="3176650"/>
              <a:ext cx="438150" cy="219075"/>
            </a:xfrm>
            <a:custGeom>
              <a:avLst/>
              <a:gdLst/>
              <a:ahLst/>
              <a:cxnLst/>
              <a:rect l="l" t="t" r="r" b="b"/>
              <a:pathLst>
                <a:path w="438150" h="219075">
                  <a:moveTo>
                    <a:pt x="0" y="219075"/>
                  </a:moveTo>
                  <a:lnTo>
                    <a:pt x="438150" y="21907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19075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19551" y="3176650"/>
              <a:ext cx="400050" cy="219075"/>
            </a:xfrm>
            <a:custGeom>
              <a:avLst/>
              <a:gdLst/>
              <a:ahLst/>
              <a:cxnLst/>
              <a:rect l="l" t="t" r="r" b="b"/>
              <a:pathLst>
                <a:path w="400050" h="219075">
                  <a:moveTo>
                    <a:pt x="0" y="219075"/>
                  </a:moveTo>
                  <a:lnTo>
                    <a:pt x="400050" y="219075"/>
                  </a:lnTo>
                  <a:lnTo>
                    <a:pt x="400050" y="0"/>
                  </a:lnTo>
                  <a:lnTo>
                    <a:pt x="0" y="0"/>
                  </a:lnTo>
                  <a:lnTo>
                    <a:pt x="0" y="219075"/>
                  </a:lnTo>
                  <a:close/>
                </a:path>
              </a:pathLst>
            </a:custGeom>
            <a:ln w="9525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33850" y="3176650"/>
              <a:ext cx="400050" cy="219075"/>
            </a:xfrm>
            <a:custGeom>
              <a:avLst/>
              <a:gdLst/>
              <a:ahLst/>
              <a:cxnLst/>
              <a:rect l="l" t="t" r="r" b="b"/>
              <a:pathLst>
                <a:path w="400050" h="219075">
                  <a:moveTo>
                    <a:pt x="0" y="219075"/>
                  </a:moveTo>
                  <a:lnTo>
                    <a:pt x="400050" y="219075"/>
                  </a:lnTo>
                  <a:lnTo>
                    <a:pt x="400050" y="0"/>
                  </a:lnTo>
                  <a:lnTo>
                    <a:pt x="0" y="0"/>
                  </a:lnTo>
                  <a:lnTo>
                    <a:pt x="0" y="219075"/>
                  </a:lnTo>
                  <a:close/>
                </a:path>
              </a:pathLst>
            </a:custGeom>
            <a:ln w="9525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48100" y="3243325"/>
              <a:ext cx="438150" cy="257175"/>
            </a:xfrm>
            <a:custGeom>
              <a:avLst/>
              <a:gdLst/>
              <a:ahLst/>
              <a:cxnLst/>
              <a:rect l="l" t="t" r="r" b="b"/>
              <a:pathLst>
                <a:path w="438150" h="257175">
                  <a:moveTo>
                    <a:pt x="0" y="257175"/>
                  </a:moveTo>
                  <a:lnTo>
                    <a:pt x="438150" y="25717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57175"/>
                  </a:lnTo>
                  <a:close/>
                </a:path>
              </a:pathLst>
            </a:custGeom>
            <a:ln w="9525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19551" y="3243325"/>
              <a:ext cx="400050" cy="257175"/>
            </a:xfrm>
            <a:custGeom>
              <a:avLst/>
              <a:gdLst/>
              <a:ahLst/>
              <a:cxnLst/>
              <a:rect l="l" t="t" r="r" b="b"/>
              <a:pathLst>
                <a:path w="400050" h="257175">
                  <a:moveTo>
                    <a:pt x="0" y="257175"/>
                  </a:moveTo>
                  <a:lnTo>
                    <a:pt x="400050" y="257175"/>
                  </a:lnTo>
                  <a:lnTo>
                    <a:pt x="400050" y="0"/>
                  </a:lnTo>
                  <a:lnTo>
                    <a:pt x="0" y="0"/>
                  </a:lnTo>
                  <a:lnTo>
                    <a:pt x="0" y="257175"/>
                  </a:lnTo>
                  <a:close/>
                </a:path>
              </a:pathLst>
            </a:custGeom>
            <a:ln w="9525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33850" y="3243325"/>
              <a:ext cx="400050" cy="257175"/>
            </a:xfrm>
            <a:custGeom>
              <a:avLst/>
              <a:gdLst/>
              <a:ahLst/>
              <a:cxnLst/>
              <a:rect l="l" t="t" r="r" b="b"/>
              <a:pathLst>
                <a:path w="400050" h="257175">
                  <a:moveTo>
                    <a:pt x="0" y="257175"/>
                  </a:moveTo>
                  <a:lnTo>
                    <a:pt x="400050" y="257175"/>
                  </a:lnTo>
                  <a:lnTo>
                    <a:pt x="400050" y="0"/>
                  </a:lnTo>
                  <a:lnTo>
                    <a:pt x="0" y="0"/>
                  </a:lnTo>
                  <a:lnTo>
                    <a:pt x="0" y="257175"/>
                  </a:lnTo>
                  <a:close/>
                </a:path>
              </a:pathLst>
            </a:custGeom>
            <a:ln w="952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257175" y="415455"/>
            <a:ext cx="11677650" cy="5690235"/>
            <a:chOff x="257175" y="415455"/>
            <a:chExt cx="11677650" cy="569023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175" y="4610099"/>
              <a:ext cx="11677650" cy="14954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919601" y="4853050"/>
              <a:ext cx="3200400" cy="247650"/>
            </a:xfrm>
            <a:custGeom>
              <a:avLst/>
              <a:gdLst/>
              <a:ahLst/>
              <a:cxnLst/>
              <a:rect l="l" t="t" r="r" b="b"/>
              <a:pathLst>
                <a:path w="3200400" h="247650">
                  <a:moveTo>
                    <a:pt x="0" y="247650"/>
                  </a:moveTo>
                  <a:lnTo>
                    <a:pt x="3200400" y="247650"/>
                  </a:lnTo>
                  <a:lnTo>
                    <a:pt x="3200400" y="0"/>
                  </a:lnTo>
                  <a:lnTo>
                    <a:pt x="0" y="0"/>
                  </a:lnTo>
                  <a:lnTo>
                    <a:pt x="0" y="247650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28693" y="415455"/>
              <a:ext cx="3477532" cy="216755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186926" y="4853050"/>
              <a:ext cx="2381250" cy="247650"/>
            </a:xfrm>
            <a:custGeom>
              <a:avLst/>
              <a:gdLst/>
              <a:ahLst/>
              <a:cxnLst/>
              <a:rect l="l" t="t" r="r" b="b"/>
              <a:pathLst>
                <a:path w="2381250" h="247650">
                  <a:moveTo>
                    <a:pt x="0" y="247650"/>
                  </a:moveTo>
                  <a:lnTo>
                    <a:pt x="2381250" y="247650"/>
                  </a:lnTo>
                  <a:lnTo>
                    <a:pt x="2381250" y="0"/>
                  </a:lnTo>
                  <a:lnTo>
                    <a:pt x="0" y="0"/>
                  </a:lnTo>
                  <a:lnTo>
                    <a:pt x="0" y="247650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096627" y="1061974"/>
              <a:ext cx="648335" cy="3717925"/>
            </a:xfrm>
            <a:custGeom>
              <a:avLst/>
              <a:gdLst/>
              <a:ahLst/>
              <a:cxnLst/>
              <a:rect l="l" t="t" r="r" b="b"/>
              <a:pathLst>
                <a:path w="648334" h="3717925">
                  <a:moveTo>
                    <a:pt x="591675" y="82335"/>
                  </a:moveTo>
                  <a:lnTo>
                    <a:pt x="0" y="3713226"/>
                  </a:lnTo>
                  <a:lnTo>
                    <a:pt x="28321" y="3717798"/>
                  </a:lnTo>
                  <a:lnTo>
                    <a:pt x="620006" y="86972"/>
                  </a:lnTo>
                  <a:lnTo>
                    <a:pt x="591675" y="82335"/>
                  </a:lnTo>
                  <a:close/>
                </a:path>
                <a:path w="648334" h="3717925">
                  <a:moveTo>
                    <a:pt x="640821" y="68199"/>
                  </a:moveTo>
                  <a:lnTo>
                    <a:pt x="593978" y="68199"/>
                  </a:lnTo>
                  <a:lnTo>
                    <a:pt x="622300" y="72898"/>
                  </a:lnTo>
                  <a:lnTo>
                    <a:pt x="620006" y="86972"/>
                  </a:lnTo>
                  <a:lnTo>
                    <a:pt x="648080" y="91566"/>
                  </a:lnTo>
                  <a:lnTo>
                    <a:pt x="640821" y="68199"/>
                  </a:lnTo>
                  <a:close/>
                </a:path>
                <a:path w="648334" h="3717925">
                  <a:moveTo>
                    <a:pt x="593978" y="68199"/>
                  </a:moveTo>
                  <a:lnTo>
                    <a:pt x="591675" y="82335"/>
                  </a:lnTo>
                  <a:lnTo>
                    <a:pt x="620006" y="86972"/>
                  </a:lnTo>
                  <a:lnTo>
                    <a:pt x="622300" y="72898"/>
                  </a:lnTo>
                  <a:lnTo>
                    <a:pt x="593978" y="68199"/>
                  </a:lnTo>
                  <a:close/>
                </a:path>
                <a:path w="648334" h="3717925">
                  <a:moveTo>
                    <a:pt x="619632" y="0"/>
                  </a:moveTo>
                  <a:lnTo>
                    <a:pt x="563499" y="77724"/>
                  </a:lnTo>
                  <a:lnTo>
                    <a:pt x="591675" y="82335"/>
                  </a:lnTo>
                  <a:lnTo>
                    <a:pt x="593978" y="68199"/>
                  </a:lnTo>
                  <a:lnTo>
                    <a:pt x="640821" y="68199"/>
                  </a:lnTo>
                  <a:lnTo>
                    <a:pt x="61963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168001" y="738251"/>
              <a:ext cx="1400175" cy="257175"/>
            </a:xfrm>
            <a:custGeom>
              <a:avLst/>
              <a:gdLst/>
              <a:ahLst/>
              <a:cxnLst/>
              <a:rect l="l" t="t" r="r" b="b"/>
              <a:pathLst>
                <a:path w="1400175" h="257175">
                  <a:moveTo>
                    <a:pt x="0" y="257175"/>
                  </a:moveTo>
                  <a:lnTo>
                    <a:pt x="1400175" y="257175"/>
                  </a:lnTo>
                  <a:lnTo>
                    <a:pt x="1400175" y="0"/>
                  </a:lnTo>
                  <a:lnTo>
                    <a:pt x="0" y="0"/>
                  </a:lnTo>
                  <a:lnTo>
                    <a:pt x="0" y="257175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272529" y="4488497"/>
            <a:ext cx="155384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(Default</a:t>
            </a:r>
            <a:r>
              <a:rPr sz="20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value)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Convolution</a:t>
            </a:r>
            <a:r>
              <a:rPr spc="-120" dirty="0"/>
              <a:t> </a:t>
            </a:r>
            <a:r>
              <a:rPr dirty="0"/>
              <a:t>Neural</a:t>
            </a:r>
            <a:r>
              <a:rPr spc="-6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54504"/>
            <a:ext cx="6148070" cy="88963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Calibri"/>
                <a:cs typeface="Calibri"/>
              </a:rPr>
              <a:t>Build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a</a:t>
            </a:r>
            <a:r>
              <a:rPr sz="2750" spc="12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CNN</a:t>
            </a:r>
            <a:r>
              <a:rPr sz="2750" spc="3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model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via</a:t>
            </a:r>
            <a:r>
              <a:rPr sz="2750" spc="13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Sequential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API</a:t>
            </a:r>
            <a:endParaRPr sz="275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A stack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Conv2D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MaxPooling2D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layers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3750" y="2867025"/>
            <a:ext cx="5324475" cy="127635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57175" y="4610100"/>
            <a:ext cx="11677650" cy="1495425"/>
            <a:chOff x="257175" y="4610100"/>
            <a:chExt cx="11677650" cy="149542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175" y="4610100"/>
              <a:ext cx="11677650" cy="149542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00225" y="5110226"/>
              <a:ext cx="2809875" cy="247650"/>
            </a:xfrm>
            <a:custGeom>
              <a:avLst/>
              <a:gdLst/>
              <a:ahLst/>
              <a:cxnLst/>
              <a:rect l="l" t="t" r="r" b="b"/>
              <a:pathLst>
                <a:path w="2809875" h="247650">
                  <a:moveTo>
                    <a:pt x="0" y="247650"/>
                  </a:moveTo>
                  <a:lnTo>
                    <a:pt x="2809875" y="247650"/>
                  </a:lnTo>
                  <a:lnTo>
                    <a:pt x="2809875" y="0"/>
                  </a:lnTo>
                  <a:lnTo>
                    <a:pt x="0" y="0"/>
                  </a:lnTo>
                  <a:lnTo>
                    <a:pt x="0" y="247650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476938" y="3629088"/>
          <a:ext cx="560069" cy="4464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2555">
                <a:tc>
                  <a:txBody>
                    <a:bodyPr/>
                    <a:lstStyle/>
                    <a:p>
                      <a:pPr marL="635" algn="ctr">
                        <a:lnSpc>
                          <a:spcPts val="560"/>
                        </a:lnSpc>
                        <a:spcBef>
                          <a:spcPts val="309"/>
                        </a:spcBef>
                      </a:pPr>
                      <a:r>
                        <a:rPr sz="500" spc="-50" dirty="0">
                          <a:latin typeface="Arial MT"/>
                          <a:cs typeface="Arial MT"/>
                        </a:rPr>
                        <a:t>0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9525">
                      <a:solidFill>
                        <a:srgbClr val="FF0000"/>
                      </a:solidFill>
                      <a:prstDash val="solid"/>
                    </a:lnL>
                    <a:lnT w="9525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ts val="560"/>
                        </a:lnSpc>
                        <a:spcBef>
                          <a:spcPts val="309"/>
                        </a:spcBef>
                      </a:pPr>
                      <a:r>
                        <a:rPr sz="500" spc="-50" dirty="0">
                          <a:latin typeface="Arial MT"/>
                          <a:cs typeface="Arial MT"/>
                        </a:rPr>
                        <a:t>0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R w="9525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55"/>
                        </a:lnSpc>
                        <a:spcBef>
                          <a:spcPts val="310"/>
                        </a:spcBef>
                      </a:pPr>
                      <a:r>
                        <a:rPr sz="500" spc="-50" dirty="0">
                          <a:latin typeface="Arial MT"/>
                          <a:cs typeface="Arial MT"/>
                        </a:rPr>
                        <a:t>0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9525">
                      <a:solidFill>
                        <a:srgbClr val="FF0000"/>
                      </a:solidFill>
                      <a:prstDash val="solid"/>
                    </a:lnL>
                    <a:lnT w="9525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2069" algn="r">
                        <a:lnSpc>
                          <a:spcPts val="555"/>
                        </a:lnSpc>
                        <a:spcBef>
                          <a:spcPts val="310"/>
                        </a:spcBef>
                      </a:pPr>
                      <a:r>
                        <a:rPr sz="500" spc="-50" dirty="0">
                          <a:latin typeface="Arial MT"/>
                          <a:cs typeface="Arial MT"/>
                        </a:rPr>
                        <a:t>0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R w="9525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FF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410"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500" spc="-50" dirty="0">
                          <a:latin typeface="Arial MT"/>
                          <a:cs typeface="Arial MT"/>
                        </a:rPr>
                        <a:t>9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2540" marB="0">
                    <a:lnL w="9525">
                      <a:solidFill>
                        <a:srgbClr val="FF0000"/>
                      </a:solidFill>
                      <a:prstDash val="solid"/>
                    </a:lnL>
                    <a:lnB w="952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500" spc="-25" dirty="0">
                          <a:latin typeface="Arial MT"/>
                          <a:cs typeface="Arial MT"/>
                        </a:rPr>
                        <a:t>10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R w="9525">
                      <a:solidFill>
                        <a:srgbClr val="FF0000"/>
                      </a:solidFill>
                      <a:prstDash val="solid"/>
                    </a:lnR>
                    <a:lnB w="952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500" spc="-50" dirty="0">
                          <a:latin typeface="Arial MT"/>
                          <a:cs typeface="Arial MT"/>
                        </a:rPr>
                        <a:t>1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75" marB="0">
                    <a:lnL w="9525">
                      <a:solidFill>
                        <a:srgbClr val="FF0000"/>
                      </a:solidFill>
                      <a:prstDash val="solid"/>
                    </a:lnL>
                    <a:lnB w="952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556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500" spc="-50" dirty="0">
                          <a:latin typeface="Arial MT"/>
                          <a:cs typeface="Arial MT"/>
                        </a:rPr>
                        <a:t>1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R w="9525">
                      <a:solidFill>
                        <a:srgbClr val="FF0000"/>
                      </a:solidFill>
                      <a:prstDash val="solid"/>
                    </a:lnR>
                    <a:lnB w="9525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14">
                <a:tc>
                  <a:txBody>
                    <a:bodyPr/>
                    <a:lstStyle/>
                    <a:p>
                      <a:pPr marL="16510" algn="ctr">
                        <a:lnSpc>
                          <a:spcPts val="545"/>
                        </a:lnSpc>
                        <a:spcBef>
                          <a:spcPts val="300"/>
                        </a:spcBef>
                      </a:pPr>
                      <a:r>
                        <a:rPr sz="500" spc="-50" dirty="0">
                          <a:latin typeface="Arial MT"/>
                          <a:cs typeface="Arial MT"/>
                        </a:rPr>
                        <a:t>0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9525">
                      <a:solidFill>
                        <a:srgbClr val="FF0000"/>
                      </a:solidFill>
                      <a:prstDash val="solid"/>
                    </a:lnL>
                    <a:lnT w="9525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545"/>
                        </a:lnSpc>
                        <a:spcBef>
                          <a:spcPts val="300"/>
                        </a:spcBef>
                      </a:pPr>
                      <a:r>
                        <a:rPr sz="500" spc="-50" dirty="0">
                          <a:latin typeface="Arial MT"/>
                          <a:cs typeface="Arial MT"/>
                        </a:rPr>
                        <a:t>8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R w="9525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5240" algn="ctr">
                        <a:lnSpc>
                          <a:spcPts val="570"/>
                        </a:lnSpc>
                        <a:spcBef>
                          <a:spcPts val="275"/>
                        </a:spcBef>
                      </a:pPr>
                      <a:r>
                        <a:rPr sz="500" spc="-50" dirty="0">
                          <a:latin typeface="Arial MT"/>
                          <a:cs typeface="Arial MT"/>
                        </a:rPr>
                        <a:t>0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4925" marB="0">
                    <a:lnL w="9525">
                      <a:solidFill>
                        <a:srgbClr val="FF0000"/>
                      </a:solidFill>
                      <a:prstDash val="solid"/>
                    </a:lnL>
                    <a:lnT w="9525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570"/>
                        </a:lnSpc>
                        <a:spcBef>
                          <a:spcPts val="275"/>
                        </a:spcBef>
                      </a:pPr>
                      <a:r>
                        <a:rPr sz="500" spc="-50" dirty="0">
                          <a:latin typeface="Arial MT"/>
                          <a:cs typeface="Arial MT"/>
                        </a:rPr>
                        <a:t>0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4925" marB="0">
                    <a:lnR w="9525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FF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425"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500" spc="-50" dirty="0">
                          <a:latin typeface="Arial MT"/>
                          <a:cs typeface="Arial MT"/>
                        </a:rPr>
                        <a:t>5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FF0000"/>
                      </a:solidFill>
                      <a:prstDash val="solid"/>
                    </a:lnL>
                    <a:lnB w="952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585"/>
                        </a:lnSpc>
                        <a:spcBef>
                          <a:spcPts val="90"/>
                        </a:spcBef>
                      </a:pPr>
                      <a:r>
                        <a:rPr sz="50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500" spc="-50" dirty="0">
                          <a:latin typeface="Arial MT"/>
                          <a:cs typeface="Arial MT"/>
                        </a:rPr>
                        <a:t>1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R w="9525">
                      <a:solidFill>
                        <a:srgbClr val="FF0000"/>
                      </a:solidFill>
                      <a:prstDash val="solid"/>
                    </a:lnR>
                    <a:lnB w="952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50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500" spc="-50" dirty="0">
                          <a:latin typeface="Arial MT"/>
                          <a:cs typeface="Arial MT"/>
                        </a:rPr>
                        <a:t>3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1270" marB="0">
                    <a:lnL w="9525">
                      <a:solidFill>
                        <a:srgbClr val="FF0000"/>
                      </a:solidFill>
                      <a:prstDash val="solid"/>
                    </a:lnL>
                    <a:lnB w="952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50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500" spc="-50" dirty="0">
                          <a:latin typeface="Arial MT"/>
                          <a:cs typeface="Arial MT"/>
                        </a:rPr>
                        <a:t>1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R w="9525">
                      <a:solidFill>
                        <a:srgbClr val="FF0000"/>
                      </a:solidFill>
                      <a:prstDash val="solid"/>
                    </a:lnR>
                    <a:lnB w="9525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8228693" y="415455"/>
            <a:ext cx="3477895" cy="2167890"/>
            <a:chOff x="8228693" y="415455"/>
            <a:chExt cx="3477895" cy="216789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28693" y="415455"/>
              <a:ext cx="3477532" cy="216755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253726" y="700151"/>
              <a:ext cx="1390650" cy="257175"/>
            </a:xfrm>
            <a:custGeom>
              <a:avLst/>
              <a:gdLst/>
              <a:ahLst/>
              <a:cxnLst/>
              <a:rect l="l" t="t" r="r" b="b"/>
              <a:pathLst>
                <a:path w="1390650" h="257175">
                  <a:moveTo>
                    <a:pt x="0" y="257175"/>
                  </a:moveTo>
                  <a:lnTo>
                    <a:pt x="1390650" y="257175"/>
                  </a:lnTo>
                  <a:lnTo>
                    <a:pt x="1390650" y="0"/>
                  </a:lnTo>
                  <a:lnTo>
                    <a:pt x="0" y="0"/>
                  </a:lnTo>
                  <a:lnTo>
                    <a:pt x="0" y="257175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44276" y="947547"/>
              <a:ext cx="117094" cy="12357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368026" y="1071626"/>
              <a:ext cx="1209675" cy="247650"/>
            </a:xfrm>
            <a:custGeom>
              <a:avLst/>
              <a:gdLst/>
              <a:ahLst/>
              <a:cxnLst/>
              <a:rect l="l" t="t" r="r" b="b"/>
              <a:pathLst>
                <a:path w="1209675" h="247650">
                  <a:moveTo>
                    <a:pt x="0" y="247650"/>
                  </a:moveTo>
                  <a:lnTo>
                    <a:pt x="1209675" y="247650"/>
                  </a:lnTo>
                  <a:lnTo>
                    <a:pt x="1209675" y="0"/>
                  </a:lnTo>
                  <a:lnTo>
                    <a:pt x="0" y="0"/>
                  </a:lnTo>
                  <a:lnTo>
                    <a:pt x="0" y="247650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040501" y="3619892"/>
            <a:ext cx="83185" cy="35179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320"/>
              </a:spcBef>
            </a:pPr>
            <a:r>
              <a:rPr sz="500" spc="-50" dirty="0">
                <a:latin typeface="Arial MT"/>
                <a:cs typeface="Arial MT"/>
              </a:rPr>
              <a:t>1</a:t>
            </a:r>
            <a:endParaRPr sz="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500" spc="-10" dirty="0">
                <a:latin typeface="Arial MT"/>
                <a:cs typeface="Arial MT"/>
              </a:rPr>
              <a:t>-</a:t>
            </a:r>
            <a:r>
              <a:rPr sz="500" spc="-50" dirty="0">
                <a:latin typeface="Arial MT"/>
                <a:cs typeface="Arial MT"/>
              </a:rPr>
              <a:t>1</a:t>
            </a:r>
            <a:endParaRPr sz="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500" spc="-50" dirty="0">
                <a:latin typeface="Arial MT"/>
                <a:cs typeface="Arial MT"/>
              </a:rPr>
              <a:t>3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08625" y="3984244"/>
            <a:ext cx="607060" cy="184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16510" algn="r">
              <a:lnSpc>
                <a:spcPct val="100000"/>
              </a:lnSpc>
              <a:spcBef>
                <a:spcPts val="125"/>
              </a:spcBef>
            </a:pPr>
            <a:r>
              <a:rPr sz="500" spc="-50" dirty="0">
                <a:latin typeface="Arial MT"/>
                <a:cs typeface="Arial MT"/>
              </a:rPr>
              <a:t>8</a:t>
            </a:r>
            <a:endParaRPr sz="5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15"/>
              </a:spcBef>
              <a:tabLst>
                <a:tab pos="299720" algn="l"/>
              </a:tabLst>
            </a:pPr>
            <a:r>
              <a:rPr sz="750" spc="-15" baseline="5555" dirty="0">
                <a:latin typeface="Arial MT"/>
                <a:cs typeface="Arial MT"/>
              </a:rPr>
              <a:t>-</a:t>
            </a:r>
            <a:r>
              <a:rPr sz="750" baseline="5555" dirty="0">
                <a:latin typeface="Arial MT"/>
                <a:cs typeface="Arial MT"/>
              </a:rPr>
              <a:t>1</a:t>
            </a:r>
            <a:r>
              <a:rPr sz="750" spc="637" baseline="5555" dirty="0">
                <a:latin typeface="Arial MT"/>
                <a:cs typeface="Arial MT"/>
              </a:rPr>
              <a:t> </a:t>
            </a:r>
            <a:r>
              <a:rPr sz="750" spc="-75" baseline="5555" dirty="0">
                <a:latin typeface="Arial MT"/>
                <a:cs typeface="Arial MT"/>
              </a:rPr>
              <a:t>1</a:t>
            </a:r>
            <a:r>
              <a:rPr sz="750" baseline="5555" dirty="0">
                <a:latin typeface="Arial MT"/>
                <a:cs typeface="Arial MT"/>
              </a:rPr>
              <a:t>	</a:t>
            </a:r>
            <a:r>
              <a:rPr sz="500" dirty="0">
                <a:latin typeface="Arial MT"/>
                <a:cs typeface="Arial MT"/>
              </a:rPr>
              <a:t>4</a:t>
            </a:r>
            <a:r>
              <a:rPr sz="500" spc="320" dirty="0">
                <a:latin typeface="Arial MT"/>
                <a:cs typeface="Arial MT"/>
              </a:rPr>
              <a:t> </a:t>
            </a:r>
            <a:r>
              <a:rPr sz="500" spc="-10" dirty="0">
                <a:latin typeface="Arial MT"/>
                <a:cs typeface="Arial MT"/>
              </a:rPr>
              <a:t>-</a:t>
            </a:r>
            <a:r>
              <a:rPr sz="500" dirty="0">
                <a:latin typeface="Arial MT"/>
                <a:cs typeface="Arial MT"/>
              </a:rPr>
              <a:t>1</a:t>
            </a:r>
            <a:r>
              <a:rPr sz="500" spc="445" dirty="0">
                <a:latin typeface="Arial MT"/>
                <a:cs typeface="Arial MT"/>
              </a:rPr>
              <a:t> </a:t>
            </a:r>
            <a:r>
              <a:rPr sz="750" spc="-15" baseline="5555" dirty="0">
                <a:latin typeface="Arial MT"/>
                <a:cs typeface="Arial MT"/>
              </a:rPr>
              <a:t>-</a:t>
            </a:r>
            <a:r>
              <a:rPr sz="750" spc="-75" baseline="5555" dirty="0">
                <a:latin typeface="Arial MT"/>
                <a:cs typeface="Arial MT"/>
              </a:rPr>
              <a:t>6</a:t>
            </a:r>
            <a:endParaRPr sz="750" baseline="5555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83705" y="3673745"/>
            <a:ext cx="249554" cy="27368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500" dirty="0">
                <a:latin typeface="Arial MT"/>
                <a:cs typeface="Arial MT"/>
              </a:rPr>
              <a:t>10</a:t>
            </a:r>
            <a:r>
              <a:rPr sz="500" spc="275" dirty="0">
                <a:latin typeface="Arial MT"/>
                <a:cs typeface="Arial MT"/>
              </a:rPr>
              <a:t>  </a:t>
            </a:r>
            <a:r>
              <a:rPr sz="500" spc="-50" dirty="0">
                <a:latin typeface="Arial MT"/>
                <a:cs typeface="Arial MT"/>
              </a:rPr>
              <a:t>1</a:t>
            </a:r>
            <a:endParaRPr sz="500">
              <a:latin typeface="Arial MT"/>
              <a:cs typeface="Arial MT"/>
            </a:endParaRPr>
          </a:p>
          <a:p>
            <a:pPr marL="37465">
              <a:lnSpc>
                <a:spcPct val="100000"/>
              </a:lnSpc>
              <a:spcBef>
                <a:spcPts val="380"/>
              </a:spcBef>
            </a:pPr>
            <a:r>
              <a:rPr sz="500" dirty="0">
                <a:latin typeface="Arial MT"/>
                <a:cs typeface="Arial MT"/>
              </a:rPr>
              <a:t>8</a:t>
            </a:r>
            <a:r>
              <a:rPr sz="500" spc="275" dirty="0">
                <a:latin typeface="Arial MT"/>
                <a:cs typeface="Arial MT"/>
              </a:rPr>
              <a:t>  </a:t>
            </a:r>
            <a:r>
              <a:rPr sz="500" spc="-10" dirty="0">
                <a:latin typeface="Arial MT"/>
                <a:cs typeface="Arial MT"/>
              </a:rPr>
              <a:t>-</a:t>
            </a:r>
            <a:r>
              <a:rPr sz="500" spc="-50" dirty="0">
                <a:latin typeface="Arial MT"/>
                <a:cs typeface="Arial MT"/>
              </a:rPr>
              <a:t>1</a:t>
            </a:r>
            <a:endParaRPr sz="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Convolution</a:t>
            </a:r>
            <a:r>
              <a:rPr spc="-120" dirty="0"/>
              <a:t> </a:t>
            </a:r>
            <a:r>
              <a:rPr dirty="0"/>
              <a:t>Neural</a:t>
            </a:r>
            <a:r>
              <a:rPr spc="-6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54504"/>
            <a:ext cx="6148070" cy="88963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Calibri"/>
                <a:cs typeface="Calibri"/>
              </a:rPr>
              <a:t>Build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a</a:t>
            </a:r>
            <a:r>
              <a:rPr sz="2750" spc="12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CNN</a:t>
            </a:r>
            <a:r>
              <a:rPr sz="2750" spc="3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model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via</a:t>
            </a:r>
            <a:r>
              <a:rPr sz="2750" spc="13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Sequential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API</a:t>
            </a:r>
            <a:endParaRPr sz="275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A stack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Conv2D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MaxPooling2D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layers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333750" y="2867025"/>
            <a:ext cx="5324475" cy="1276350"/>
            <a:chOff x="3333750" y="2867025"/>
            <a:chExt cx="5324475" cy="12763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33750" y="2867025"/>
              <a:ext cx="5324475" cy="12763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348100" y="3176650"/>
              <a:ext cx="438150" cy="219075"/>
            </a:xfrm>
            <a:custGeom>
              <a:avLst/>
              <a:gdLst/>
              <a:ahLst/>
              <a:cxnLst/>
              <a:rect l="l" t="t" r="r" b="b"/>
              <a:pathLst>
                <a:path w="438150" h="219075">
                  <a:moveTo>
                    <a:pt x="0" y="219075"/>
                  </a:moveTo>
                  <a:lnTo>
                    <a:pt x="438150" y="21907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19075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48100" y="3338576"/>
              <a:ext cx="438150" cy="219075"/>
            </a:xfrm>
            <a:custGeom>
              <a:avLst/>
              <a:gdLst/>
              <a:ahLst/>
              <a:cxnLst/>
              <a:rect l="l" t="t" r="r" b="b"/>
              <a:pathLst>
                <a:path w="438150" h="219075">
                  <a:moveTo>
                    <a:pt x="0" y="219075"/>
                  </a:moveTo>
                  <a:lnTo>
                    <a:pt x="438150" y="21907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19075"/>
                  </a:lnTo>
                  <a:close/>
                </a:path>
              </a:pathLst>
            </a:custGeom>
            <a:ln w="9525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24325" y="3176650"/>
              <a:ext cx="400050" cy="219075"/>
            </a:xfrm>
            <a:custGeom>
              <a:avLst/>
              <a:gdLst/>
              <a:ahLst/>
              <a:cxnLst/>
              <a:rect l="l" t="t" r="r" b="b"/>
              <a:pathLst>
                <a:path w="400050" h="219075">
                  <a:moveTo>
                    <a:pt x="0" y="219075"/>
                  </a:moveTo>
                  <a:lnTo>
                    <a:pt x="400050" y="219075"/>
                  </a:lnTo>
                  <a:lnTo>
                    <a:pt x="400050" y="0"/>
                  </a:lnTo>
                  <a:lnTo>
                    <a:pt x="0" y="0"/>
                  </a:lnTo>
                  <a:lnTo>
                    <a:pt x="0" y="219075"/>
                  </a:lnTo>
                  <a:close/>
                </a:path>
              </a:pathLst>
            </a:custGeom>
            <a:ln w="9525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624325" y="3338576"/>
              <a:ext cx="400050" cy="219075"/>
            </a:xfrm>
            <a:custGeom>
              <a:avLst/>
              <a:gdLst/>
              <a:ahLst/>
              <a:cxnLst/>
              <a:rect l="l" t="t" r="r" b="b"/>
              <a:pathLst>
                <a:path w="400050" h="219075">
                  <a:moveTo>
                    <a:pt x="0" y="219075"/>
                  </a:moveTo>
                  <a:lnTo>
                    <a:pt x="400050" y="219075"/>
                  </a:lnTo>
                  <a:lnTo>
                    <a:pt x="400050" y="0"/>
                  </a:lnTo>
                  <a:lnTo>
                    <a:pt x="0" y="0"/>
                  </a:lnTo>
                  <a:lnTo>
                    <a:pt x="0" y="219075"/>
                  </a:lnTo>
                  <a:close/>
                </a:path>
              </a:pathLst>
            </a:custGeom>
            <a:ln w="952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57175" y="4610100"/>
            <a:ext cx="11677650" cy="1495425"/>
            <a:chOff x="257175" y="4610100"/>
            <a:chExt cx="11677650" cy="149542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175" y="4610100"/>
              <a:ext cx="11677650" cy="14954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957701" y="5357812"/>
              <a:ext cx="3209925" cy="247650"/>
            </a:xfrm>
            <a:custGeom>
              <a:avLst/>
              <a:gdLst/>
              <a:ahLst/>
              <a:cxnLst/>
              <a:rect l="l" t="t" r="r" b="b"/>
              <a:pathLst>
                <a:path w="3209925" h="247650">
                  <a:moveTo>
                    <a:pt x="0" y="247650"/>
                  </a:moveTo>
                  <a:lnTo>
                    <a:pt x="3209925" y="247650"/>
                  </a:lnTo>
                  <a:lnTo>
                    <a:pt x="3209925" y="0"/>
                  </a:lnTo>
                  <a:lnTo>
                    <a:pt x="0" y="0"/>
                  </a:lnTo>
                  <a:lnTo>
                    <a:pt x="0" y="247650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8228693" y="415455"/>
            <a:ext cx="3477895" cy="2167890"/>
            <a:chOff x="8228693" y="415455"/>
            <a:chExt cx="3477895" cy="216789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28693" y="415455"/>
              <a:ext cx="3477532" cy="216755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0263251" y="1043051"/>
              <a:ext cx="1390650" cy="257175"/>
            </a:xfrm>
            <a:custGeom>
              <a:avLst/>
              <a:gdLst/>
              <a:ahLst/>
              <a:cxnLst/>
              <a:rect l="l" t="t" r="r" b="b"/>
              <a:pathLst>
                <a:path w="1390650" h="257175">
                  <a:moveTo>
                    <a:pt x="0" y="257175"/>
                  </a:moveTo>
                  <a:lnTo>
                    <a:pt x="1390650" y="257175"/>
                  </a:lnTo>
                  <a:lnTo>
                    <a:pt x="1390650" y="0"/>
                  </a:lnTo>
                  <a:lnTo>
                    <a:pt x="0" y="0"/>
                  </a:lnTo>
                  <a:lnTo>
                    <a:pt x="0" y="257175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34751" y="1293748"/>
              <a:ext cx="136651" cy="25171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0215626" y="1538351"/>
              <a:ext cx="1209675" cy="257175"/>
            </a:xfrm>
            <a:custGeom>
              <a:avLst/>
              <a:gdLst/>
              <a:ahLst/>
              <a:cxnLst/>
              <a:rect l="l" t="t" r="r" b="b"/>
              <a:pathLst>
                <a:path w="1209675" h="257175">
                  <a:moveTo>
                    <a:pt x="0" y="257175"/>
                  </a:moveTo>
                  <a:lnTo>
                    <a:pt x="1209675" y="257175"/>
                  </a:lnTo>
                  <a:lnTo>
                    <a:pt x="1209675" y="0"/>
                  </a:lnTo>
                  <a:lnTo>
                    <a:pt x="0" y="0"/>
                  </a:lnTo>
                  <a:lnTo>
                    <a:pt x="0" y="257175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Convolution</a:t>
            </a:r>
            <a:r>
              <a:rPr spc="-120" dirty="0"/>
              <a:t> </a:t>
            </a:r>
            <a:r>
              <a:rPr dirty="0"/>
              <a:t>Neural</a:t>
            </a:r>
            <a:r>
              <a:rPr spc="-6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54504"/>
            <a:ext cx="6148070" cy="88963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Calibri"/>
                <a:cs typeface="Calibri"/>
              </a:rPr>
              <a:t>Build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a</a:t>
            </a:r>
            <a:r>
              <a:rPr sz="2750" spc="12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CNN</a:t>
            </a:r>
            <a:r>
              <a:rPr sz="2750" spc="3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model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via</a:t>
            </a:r>
            <a:r>
              <a:rPr sz="2750" spc="13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Sequential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API</a:t>
            </a:r>
            <a:endParaRPr sz="275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A stack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Conv2D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MaxPooling2D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layers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3750" y="2867025"/>
            <a:ext cx="5324475" cy="127635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57175" y="4610100"/>
            <a:ext cx="11677650" cy="1495425"/>
            <a:chOff x="257175" y="4610100"/>
            <a:chExt cx="11677650" cy="149542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175" y="4610100"/>
              <a:ext cx="11677650" cy="149542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919601" y="5843587"/>
              <a:ext cx="3200400" cy="247650"/>
            </a:xfrm>
            <a:custGeom>
              <a:avLst/>
              <a:gdLst/>
              <a:ahLst/>
              <a:cxnLst/>
              <a:rect l="l" t="t" r="r" b="b"/>
              <a:pathLst>
                <a:path w="3200400" h="247650">
                  <a:moveTo>
                    <a:pt x="0" y="247650"/>
                  </a:moveTo>
                  <a:lnTo>
                    <a:pt x="3200400" y="247650"/>
                  </a:lnTo>
                  <a:lnTo>
                    <a:pt x="3200400" y="0"/>
                  </a:lnTo>
                  <a:lnTo>
                    <a:pt x="0" y="0"/>
                  </a:lnTo>
                  <a:lnTo>
                    <a:pt x="0" y="247650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211195" y="3388995"/>
            <a:ext cx="523240" cy="5448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25"/>
              </a:spcBef>
            </a:pPr>
            <a:r>
              <a:rPr sz="500" spc="-50" dirty="0">
                <a:latin typeface="Arial MT"/>
                <a:cs typeface="Arial MT"/>
              </a:rPr>
              <a:t>0</a:t>
            </a:r>
            <a:endParaRPr sz="500">
              <a:latin typeface="Arial MT"/>
              <a:cs typeface="Arial MT"/>
            </a:endParaRPr>
          </a:p>
          <a:p>
            <a:pPr marL="40005">
              <a:lnSpc>
                <a:spcPct val="100000"/>
              </a:lnSpc>
              <a:spcBef>
                <a:spcPts val="60"/>
              </a:spcBef>
            </a:pPr>
            <a:r>
              <a:rPr sz="500" spc="-50" dirty="0">
                <a:latin typeface="Arial MT"/>
                <a:cs typeface="Arial MT"/>
              </a:rPr>
              <a:t>0</a:t>
            </a:r>
            <a:endParaRPr sz="5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55"/>
              </a:spcBef>
            </a:pPr>
            <a:r>
              <a:rPr sz="500" spc="-50" dirty="0">
                <a:latin typeface="Arial MT"/>
                <a:cs typeface="Arial MT"/>
              </a:rPr>
              <a:t>0</a:t>
            </a:r>
            <a:endParaRPr sz="5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</a:pPr>
            <a:r>
              <a:rPr sz="500" spc="-50" dirty="0">
                <a:latin typeface="Arial MT"/>
                <a:cs typeface="Arial MT"/>
              </a:rPr>
              <a:t>0</a:t>
            </a:r>
            <a:endParaRPr sz="5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500" spc="-50" dirty="0">
                <a:latin typeface="Arial MT"/>
                <a:cs typeface="Arial MT"/>
              </a:rPr>
              <a:t>0</a:t>
            </a:r>
            <a:endParaRPr sz="5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z="750" baseline="11111" dirty="0">
                <a:latin typeface="Arial MT"/>
                <a:cs typeface="Arial MT"/>
              </a:rPr>
              <a:t>0</a:t>
            </a:r>
            <a:r>
              <a:rPr sz="750" spc="315" baseline="11111" dirty="0">
                <a:latin typeface="Arial MT"/>
                <a:cs typeface="Arial MT"/>
              </a:rPr>
              <a:t>  </a:t>
            </a:r>
            <a:r>
              <a:rPr sz="750" baseline="5555" dirty="0">
                <a:latin typeface="Arial MT"/>
                <a:cs typeface="Arial MT"/>
              </a:rPr>
              <a:t>0</a:t>
            </a:r>
            <a:r>
              <a:rPr sz="750" spc="547" baseline="5555" dirty="0">
                <a:latin typeface="Arial MT"/>
                <a:cs typeface="Arial MT"/>
              </a:rPr>
              <a:t>  </a:t>
            </a:r>
            <a:r>
              <a:rPr sz="500" dirty="0">
                <a:latin typeface="Arial MT"/>
                <a:cs typeface="Arial MT"/>
              </a:rPr>
              <a:t>0</a:t>
            </a:r>
            <a:r>
              <a:rPr sz="500" spc="195" dirty="0">
                <a:latin typeface="Arial MT"/>
                <a:cs typeface="Arial MT"/>
              </a:rPr>
              <a:t>  </a:t>
            </a:r>
            <a:r>
              <a:rPr sz="500" spc="-50" dirty="0">
                <a:latin typeface="Arial MT"/>
                <a:cs typeface="Arial MT"/>
              </a:rPr>
              <a:t>0</a:t>
            </a:r>
            <a:endParaRPr sz="500">
              <a:latin typeface="Arial MT"/>
              <a:cs typeface="Arial MT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190938" y="3105213"/>
          <a:ext cx="923925" cy="295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7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6675">
                <a:tc>
                  <a:txBody>
                    <a:bodyPr/>
                    <a:lstStyle/>
                    <a:p>
                      <a:pPr marL="5715" algn="ctr">
                        <a:lnSpc>
                          <a:spcPts val="425"/>
                        </a:lnSpc>
                      </a:pPr>
                      <a:r>
                        <a:rPr sz="500" spc="-50" dirty="0">
                          <a:latin typeface="Arial MT"/>
                          <a:cs typeface="Arial MT"/>
                        </a:rPr>
                        <a:t>0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FF0000"/>
                      </a:solidFill>
                      <a:prstDash val="solid"/>
                    </a:lnL>
                    <a:lnR w="9525">
                      <a:solidFill>
                        <a:srgbClr val="FFC000"/>
                      </a:solidFill>
                      <a:prstDash val="solid"/>
                    </a:lnR>
                    <a:lnT w="9525">
                      <a:solidFill>
                        <a:srgbClr val="FF0000"/>
                      </a:solidFill>
                      <a:prstDash val="solid"/>
                    </a:lnT>
                    <a:lnB w="9525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ts val="425"/>
                        </a:lnSpc>
                      </a:pPr>
                      <a:r>
                        <a:rPr sz="500" spc="-50" dirty="0">
                          <a:latin typeface="Arial MT"/>
                          <a:cs typeface="Arial MT"/>
                        </a:rPr>
                        <a:t>0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FFC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9525">
                      <a:solidFill>
                        <a:srgbClr val="FFC000"/>
                      </a:solidFill>
                      <a:prstDash val="solid"/>
                    </a:lnT>
                    <a:lnB w="9525">
                      <a:solidFill>
                        <a:srgbClr val="C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33020">
                        <a:lnSpc>
                          <a:spcPts val="515"/>
                        </a:lnSpc>
                      </a:pPr>
                      <a:r>
                        <a:rPr sz="500" spc="-50" dirty="0">
                          <a:latin typeface="Arial MT"/>
                          <a:cs typeface="Arial MT"/>
                        </a:rPr>
                        <a:t>0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006FC0"/>
                      </a:solidFill>
                      <a:prstDash val="solid"/>
                    </a:lnR>
                    <a:lnT w="9525">
                      <a:solidFill>
                        <a:srgbClr val="00AF50"/>
                      </a:solidFill>
                      <a:prstDash val="solid"/>
                    </a:lnT>
                    <a:lnB w="9525">
                      <a:solidFill>
                        <a:srgbClr val="00AF5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36195">
                        <a:lnSpc>
                          <a:spcPts val="480"/>
                        </a:lnSpc>
                      </a:pPr>
                      <a:r>
                        <a:rPr sz="500" spc="-50" dirty="0">
                          <a:latin typeface="Arial MT"/>
                          <a:cs typeface="Arial MT"/>
                        </a:rPr>
                        <a:t>0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6FC0"/>
                      </a:solidFill>
                      <a:prstDash val="solid"/>
                    </a:lnL>
                    <a:lnR w="9525">
                      <a:solidFill>
                        <a:srgbClr val="6F2F9F"/>
                      </a:solidFill>
                      <a:prstDash val="solid"/>
                    </a:lnR>
                    <a:lnT w="9525">
                      <a:solidFill>
                        <a:srgbClr val="006FC0"/>
                      </a:solidFill>
                      <a:prstDash val="solid"/>
                    </a:lnT>
                    <a:lnB w="9525">
                      <a:solidFill>
                        <a:srgbClr val="006FC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6510">
                        <a:lnSpc>
                          <a:spcPts val="450"/>
                        </a:lnSpc>
                      </a:pPr>
                      <a:r>
                        <a:rPr sz="500" spc="-50" dirty="0">
                          <a:latin typeface="Arial MT"/>
                          <a:cs typeface="Arial MT"/>
                        </a:rPr>
                        <a:t>0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6F2F9F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9525">
                      <a:solidFill>
                        <a:srgbClr val="6F2F9F"/>
                      </a:solidFill>
                      <a:prstDash val="solid"/>
                    </a:lnT>
                    <a:lnB w="9525">
                      <a:solidFill>
                        <a:srgbClr val="6F2F9F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9209">
                        <a:lnSpc>
                          <a:spcPts val="459"/>
                        </a:lnSpc>
                      </a:pPr>
                      <a:r>
                        <a:rPr sz="500" spc="-50" dirty="0">
                          <a:latin typeface="Arial MT"/>
                          <a:cs typeface="Arial MT"/>
                        </a:rPr>
                        <a:t>0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AF50"/>
                      </a:solidFill>
                      <a:prstDash val="solid"/>
                    </a:lnL>
                    <a:lnR w="9525">
                      <a:solidFill>
                        <a:srgbClr val="006FC0"/>
                      </a:solidFill>
                      <a:prstDash val="solid"/>
                    </a:lnR>
                    <a:lnT w="9525">
                      <a:solidFill>
                        <a:srgbClr val="6F2F9F"/>
                      </a:solidFill>
                      <a:prstDash val="solid"/>
                    </a:lnT>
                    <a:lnB w="9525">
                      <a:solidFill>
                        <a:srgbClr val="6F2F9F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9209">
                        <a:lnSpc>
                          <a:spcPts val="455"/>
                        </a:lnSpc>
                      </a:pPr>
                      <a:r>
                        <a:rPr sz="500" spc="-50" dirty="0">
                          <a:latin typeface="Arial MT"/>
                          <a:cs typeface="Arial MT"/>
                        </a:rPr>
                        <a:t>0</a:t>
                      </a:r>
                      <a:endParaRPr sz="500">
                        <a:latin typeface="Arial MT"/>
                        <a:cs typeface="Arial MT"/>
                      </a:endParaRPr>
                    </a:p>
                    <a:p>
                      <a:pPr marL="29209">
                        <a:lnSpc>
                          <a:spcPts val="595"/>
                        </a:lnSpc>
                      </a:pPr>
                      <a:r>
                        <a:rPr sz="500" spc="-50" dirty="0">
                          <a:latin typeface="Arial MT"/>
                          <a:cs typeface="Arial MT"/>
                        </a:rPr>
                        <a:t>0</a:t>
                      </a:r>
                      <a:endParaRPr sz="500">
                        <a:latin typeface="Arial MT"/>
                        <a:cs typeface="Arial MT"/>
                      </a:endParaRPr>
                    </a:p>
                    <a:p>
                      <a:pPr marL="27940">
                        <a:lnSpc>
                          <a:spcPct val="100000"/>
                        </a:lnSpc>
                      </a:pPr>
                      <a:r>
                        <a:rPr sz="500" spc="-50" dirty="0">
                          <a:latin typeface="Arial MT"/>
                          <a:cs typeface="Arial MT"/>
                        </a:rPr>
                        <a:t>0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6FC0"/>
                      </a:solidFill>
                      <a:prstDash val="solid"/>
                    </a:lnL>
                    <a:lnR w="9525">
                      <a:solidFill>
                        <a:srgbClr val="6F2F9F"/>
                      </a:solidFill>
                      <a:prstDash val="solid"/>
                    </a:lnR>
                    <a:lnT w="9525">
                      <a:solidFill>
                        <a:srgbClr val="6F2F9F"/>
                      </a:solidFill>
                      <a:prstDash val="solid"/>
                    </a:lnT>
                    <a:lnB w="9525">
                      <a:solidFill>
                        <a:srgbClr val="6F2F9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15240" algn="ctr">
                        <a:lnSpc>
                          <a:spcPts val="500"/>
                        </a:lnSpc>
                      </a:pPr>
                      <a:r>
                        <a:rPr sz="500" spc="-50" dirty="0">
                          <a:latin typeface="Arial MT"/>
                          <a:cs typeface="Arial MT"/>
                        </a:rPr>
                        <a:t>0</a:t>
                      </a:r>
                      <a:endParaRPr sz="500">
                        <a:latin typeface="Arial MT"/>
                        <a:cs typeface="Arial MT"/>
                      </a:endParaRPr>
                    </a:p>
                    <a:p>
                      <a:pPr marL="1016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500" spc="-50" dirty="0">
                          <a:latin typeface="Arial MT"/>
                          <a:cs typeface="Arial MT"/>
                        </a:rPr>
                        <a:t>0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0000"/>
                      </a:solidFill>
                      <a:prstDash val="solid"/>
                    </a:lnL>
                    <a:lnR w="9525">
                      <a:solidFill>
                        <a:srgbClr val="FFC000"/>
                      </a:solidFill>
                      <a:prstDash val="solid"/>
                    </a:lnR>
                    <a:lnT w="9525">
                      <a:solidFill>
                        <a:srgbClr val="C00000"/>
                      </a:solidFill>
                      <a:prstDash val="solid"/>
                    </a:lnT>
                    <a:lnB w="952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C000"/>
                      </a:solidFill>
                      <a:prstDash val="solid"/>
                    </a:lnL>
                    <a:lnR w="9525">
                      <a:solidFill>
                        <a:srgbClr val="C00000"/>
                      </a:solidFill>
                      <a:prstDash val="solid"/>
                    </a:lnR>
                    <a:lnT w="9525">
                      <a:solidFill>
                        <a:srgbClr val="C00000"/>
                      </a:solidFill>
                      <a:prstDash val="solid"/>
                    </a:lnT>
                    <a:lnB w="9525">
                      <a:solidFill>
                        <a:srgbClr val="FFC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C00000"/>
                      </a:solidFill>
                      <a:prstDash val="solid"/>
                    </a:lnL>
                    <a:lnR w="9525">
                      <a:solidFill>
                        <a:srgbClr val="006FC0"/>
                      </a:solidFill>
                      <a:prstDash val="solid"/>
                    </a:lnR>
                    <a:lnT w="9525">
                      <a:solidFill>
                        <a:srgbClr val="00AF50"/>
                      </a:solidFill>
                      <a:prstDash val="solid"/>
                    </a:lnT>
                    <a:lnB w="9525">
                      <a:solidFill>
                        <a:srgbClr val="00AF5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6FC0"/>
                      </a:solidFill>
                      <a:prstDash val="solid"/>
                    </a:lnL>
                    <a:lnR w="9525">
                      <a:solidFill>
                        <a:srgbClr val="6F2F9F"/>
                      </a:solidFill>
                      <a:prstDash val="solid"/>
                    </a:lnR>
                    <a:lnT w="9525">
                      <a:solidFill>
                        <a:srgbClr val="006FC0"/>
                      </a:solidFill>
                      <a:prstDash val="solid"/>
                    </a:lnT>
                    <a:lnB w="9525">
                      <a:solidFill>
                        <a:srgbClr val="006FC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6F2F9F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9525">
                      <a:solidFill>
                        <a:srgbClr val="6F2F9F"/>
                      </a:solidFill>
                      <a:prstDash val="solid"/>
                    </a:lnT>
                    <a:lnB w="9525">
                      <a:solidFill>
                        <a:srgbClr val="6F2F9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AF50"/>
                      </a:solidFill>
                      <a:prstDash val="solid"/>
                    </a:lnL>
                    <a:lnR w="9525">
                      <a:solidFill>
                        <a:srgbClr val="006FC0"/>
                      </a:solidFill>
                      <a:prstDash val="solid"/>
                    </a:lnR>
                    <a:lnT w="9525">
                      <a:solidFill>
                        <a:srgbClr val="6F2F9F"/>
                      </a:solidFill>
                      <a:prstDash val="solid"/>
                    </a:lnT>
                    <a:lnB w="9525">
                      <a:solidFill>
                        <a:srgbClr val="6F2F9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6FC0"/>
                      </a:solidFill>
                      <a:prstDash val="solid"/>
                    </a:lnL>
                    <a:lnR w="9525">
                      <a:solidFill>
                        <a:srgbClr val="6F2F9F"/>
                      </a:solidFill>
                      <a:prstDash val="solid"/>
                    </a:lnR>
                    <a:lnT w="9525">
                      <a:solidFill>
                        <a:srgbClr val="6F2F9F"/>
                      </a:solidFill>
                      <a:prstDash val="solid"/>
                    </a:lnT>
                    <a:lnB w="9525">
                      <a:solidFill>
                        <a:srgbClr val="6F2F9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">
                <a:tc>
                  <a:txBody>
                    <a:bodyPr/>
                    <a:lstStyle/>
                    <a:p>
                      <a:pPr marL="11430" algn="ctr">
                        <a:lnSpc>
                          <a:spcPts val="425"/>
                        </a:lnSpc>
                      </a:pPr>
                      <a:r>
                        <a:rPr sz="500" spc="-50" dirty="0">
                          <a:latin typeface="Arial MT"/>
                          <a:cs typeface="Arial MT"/>
                        </a:rPr>
                        <a:t>0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0000"/>
                      </a:solidFill>
                      <a:prstDash val="solid"/>
                    </a:lnL>
                    <a:lnT w="9525">
                      <a:solidFill>
                        <a:srgbClr val="FF0000"/>
                      </a:solidFill>
                      <a:prstDash val="solid"/>
                    </a:lnT>
                    <a:lnB w="9525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C00000"/>
                      </a:solidFill>
                      <a:prstDash val="solid"/>
                    </a:lnR>
                    <a:lnT w="9525">
                      <a:solidFill>
                        <a:srgbClr val="FFC000"/>
                      </a:solidFill>
                      <a:prstDash val="solid"/>
                    </a:lnT>
                    <a:lnB w="9525">
                      <a:solidFill>
                        <a:srgbClr val="C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00000"/>
                      </a:solidFill>
                      <a:prstDash val="solid"/>
                    </a:lnL>
                    <a:lnT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3806190" y="3309937"/>
            <a:ext cx="297180" cy="6305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25"/>
              </a:spcBef>
            </a:pPr>
            <a:r>
              <a:rPr sz="500" spc="-50" dirty="0">
                <a:latin typeface="Arial MT"/>
                <a:cs typeface="Arial MT"/>
              </a:rPr>
              <a:t>0</a:t>
            </a:r>
            <a:endParaRPr sz="5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10"/>
              </a:spcBef>
            </a:pPr>
            <a:r>
              <a:rPr sz="500" spc="-50" dirty="0">
                <a:latin typeface="Arial MT"/>
                <a:cs typeface="Arial MT"/>
              </a:rPr>
              <a:t>0</a:t>
            </a:r>
            <a:endParaRPr sz="5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50"/>
              </a:spcBef>
            </a:pPr>
            <a:r>
              <a:rPr sz="500" spc="-50" dirty="0">
                <a:latin typeface="Arial MT"/>
                <a:cs typeface="Arial MT"/>
              </a:rPr>
              <a:t>0</a:t>
            </a:r>
            <a:endParaRPr sz="500">
              <a:latin typeface="Arial MT"/>
              <a:cs typeface="Arial MT"/>
            </a:endParaRPr>
          </a:p>
          <a:p>
            <a:pPr marR="5715" algn="r">
              <a:lnSpc>
                <a:spcPct val="100000"/>
              </a:lnSpc>
              <a:spcBef>
                <a:spcPts val="70"/>
              </a:spcBef>
            </a:pPr>
            <a:r>
              <a:rPr sz="500" spc="-50" dirty="0">
                <a:latin typeface="Arial MT"/>
                <a:cs typeface="Arial MT"/>
              </a:rPr>
              <a:t>0</a:t>
            </a:r>
            <a:endParaRPr sz="500">
              <a:latin typeface="Arial MT"/>
              <a:cs typeface="Arial MT"/>
            </a:endParaRPr>
          </a:p>
          <a:p>
            <a:pPr marR="5715" algn="r">
              <a:lnSpc>
                <a:spcPct val="100000"/>
              </a:lnSpc>
              <a:spcBef>
                <a:spcPts val="50"/>
              </a:spcBef>
            </a:pPr>
            <a:r>
              <a:rPr sz="500" spc="-50" dirty="0">
                <a:latin typeface="Arial MT"/>
                <a:cs typeface="Arial MT"/>
              </a:rPr>
              <a:t>0</a:t>
            </a:r>
            <a:endParaRPr sz="500">
              <a:latin typeface="Arial MT"/>
              <a:cs typeface="Arial MT"/>
            </a:endParaRPr>
          </a:p>
          <a:p>
            <a:pPr marR="5715" algn="r">
              <a:lnSpc>
                <a:spcPct val="100000"/>
              </a:lnSpc>
              <a:spcBef>
                <a:spcPts val="100"/>
              </a:spcBef>
            </a:pPr>
            <a:r>
              <a:rPr sz="500" spc="-50" dirty="0">
                <a:latin typeface="Arial MT"/>
                <a:cs typeface="Arial MT"/>
              </a:rPr>
              <a:t>0</a:t>
            </a:r>
            <a:endParaRPr sz="500">
              <a:latin typeface="Arial MT"/>
              <a:cs typeface="Arial MT"/>
            </a:endParaRPr>
          </a:p>
          <a:p>
            <a:pPr marR="5715" algn="r">
              <a:lnSpc>
                <a:spcPct val="100000"/>
              </a:lnSpc>
              <a:spcBef>
                <a:spcPts val="250"/>
              </a:spcBef>
            </a:pPr>
            <a:r>
              <a:rPr sz="500" dirty="0">
                <a:latin typeface="Arial MT"/>
                <a:cs typeface="Arial MT"/>
              </a:rPr>
              <a:t>0</a:t>
            </a:r>
            <a:r>
              <a:rPr sz="500" spc="265" dirty="0">
                <a:latin typeface="Arial MT"/>
                <a:cs typeface="Arial MT"/>
              </a:rPr>
              <a:t>  </a:t>
            </a:r>
            <a:r>
              <a:rPr sz="500" dirty="0">
                <a:latin typeface="Arial MT"/>
                <a:cs typeface="Arial MT"/>
              </a:rPr>
              <a:t>0</a:t>
            </a:r>
            <a:r>
              <a:rPr sz="500" spc="320" dirty="0">
                <a:latin typeface="Arial MT"/>
                <a:cs typeface="Arial MT"/>
              </a:rPr>
              <a:t> </a:t>
            </a:r>
            <a:r>
              <a:rPr sz="500" spc="-50" dirty="0">
                <a:latin typeface="Arial MT"/>
                <a:cs typeface="Arial MT"/>
              </a:rPr>
              <a:t>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72054" y="6198870"/>
            <a:ext cx="90582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When</a:t>
            </a:r>
            <a:r>
              <a:rPr sz="20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padding="same"</a:t>
            </a:r>
            <a:r>
              <a:rPr sz="20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and</a:t>
            </a:r>
            <a:r>
              <a:rPr sz="2000" spc="-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strides=1,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20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output</a:t>
            </a:r>
            <a:r>
              <a:rPr sz="2000" spc="-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has</a:t>
            </a:r>
            <a:r>
              <a:rPr sz="20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20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same</a:t>
            </a:r>
            <a:r>
              <a:rPr sz="2000" spc="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size</a:t>
            </a:r>
            <a:r>
              <a:rPr sz="20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as</a:t>
            </a:r>
            <a:r>
              <a:rPr sz="20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20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input.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228693" y="415455"/>
            <a:ext cx="3477895" cy="2194560"/>
            <a:chOff x="8228693" y="415455"/>
            <a:chExt cx="3477895" cy="2194560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28693" y="415455"/>
              <a:ext cx="3477532" cy="216755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253726" y="1843151"/>
              <a:ext cx="1400175" cy="257175"/>
            </a:xfrm>
            <a:custGeom>
              <a:avLst/>
              <a:gdLst/>
              <a:ahLst/>
              <a:cxnLst/>
              <a:rect l="l" t="t" r="r" b="b"/>
              <a:pathLst>
                <a:path w="1400175" h="257175">
                  <a:moveTo>
                    <a:pt x="0" y="257175"/>
                  </a:moveTo>
                  <a:lnTo>
                    <a:pt x="1400175" y="257175"/>
                  </a:lnTo>
                  <a:lnTo>
                    <a:pt x="1400175" y="0"/>
                  </a:lnTo>
                  <a:lnTo>
                    <a:pt x="0" y="0"/>
                  </a:lnTo>
                  <a:lnTo>
                    <a:pt x="0" y="257175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25226" y="2093848"/>
              <a:ext cx="136651" cy="25171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0215626" y="2347976"/>
              <a:ext cx="1209675" cy="247650"/>
            </a:xfrm>
            <a:custGeom>
              <a:avLst/>
              <a:gdLst/>
              <a:ahLst/>
              <a:cxnLst/>
              <a:rect l="l" t="t" r="r" b="b"/>
              <a:pathLst>
                <a:path w="1209675" h="247650">
                  <a:moveTo>
                    <a:pt x="0" y="247650"/>
                  </a:moveTo>
                  <a:lnTo>
                    <a:pt x="1209675" y="247650"/>
                  </a:lnTo>
                  <a:lnTo>
                    <a:pt x="1209675" y="0"/>
                  </a:lnTo>
                  <a:lnTo>
                    <a:pt x="0" y="0"/>
                  </a:lnTo>
                  <a:lnTo>
                    <a:pt x="0" y="247650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02288"/>
            <a:ext cx="4709795" cy="157162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55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solidFill>
                  <a:srgbClr val="7E7E7E"/>
                </a:solidFill>
                <a:latin typeface="Calibri"/>
                <a:cs typeface="Calibri"/>
              </a:rPr>
              <a:t>Convolution</a:t>
            </a:r>
            <a:r>
              <a:rPr sz="2750" spc="1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7E7E7E"/>
                </a:solidFill>
                <a:latin typeface="Calibri"/>
                <a:cs typeface="Calibri"/>
              </a:rPr>
              <a:t>neural</a:t>
            </a:r>
            <a:r>
              <a:rPr sz="2750" spc="1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750" spc="-10" dirty="0">
                <a:solidFill>
                  <a:srgbClr val="7E7E7E"/>
                </a:solidFill>
                <a:latin typeface="Calibri"/>
                <a:cs typeface="Calibri"/>
              </a:rPr>
              <a:t>network</a:t>
            </a:r>
            <a:endParaRPr sz="27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latin typeface="Calibri"/>
                <a:cs typeface="Calibri"/>
              </a:rPr>
              <a:t>Input</a:t>
            </a:r>
            <a:r>
              <a:rPr sz="2750" spc="3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pipeline</a:t>
            </a:r>
            <a:endParaRPr sz="27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solidFill>
                  <a:srgbClr val="7E7E7E"/>
                </a:solidFill>
                <a:latin typeface="Calibri"/>
                <a:cs typeface="Calibri"/>
              </a:rPr>
              <a:t>Optimization</a:t>
            </a:r>
            <a:r>
              <a:rPr sz="2750" spc="6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7E7E7E"/>
                </a:solidFill>
                <a:latin typeface="Calibri"/>
                <a:cs typeface="Calibri"/>
              </a:rPr>
              <a:t>for</a:t>
            </a:r>
            <a:r>
              <a:rPr sz="2750" spc="1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7E7E7E"/>
                </a:solidFill>
                <a:latin typeface="Calibri"/>
                <a:cs typeface="Calibri"/>
              </a:rPr>
              <a:t>Input</a:t>
            </a:r>
            <a:r>
              <a:rPr sz="2750" spc="6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750" spc="-10" dirty="0">
                <a:solidFill>
                  <a:srgbClr val="7E7E7E"/>
                </a:solidFill>
                <a:latin typeface="Calibri"/>
                <a:cs typeface="Calibri"/>
              </a:rPr>
              <a:t>pipeline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Input</a:t>
            </a:r>
            <a:r>
              <a:rPr spc="-85" dirty="0"/>
              <a:t> </a:t>
            </a:r>
            <a:r>
              <a:rPr spc="-10" dirty="0"/>
              <a:t>Pipeline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94255"/>
            <a:ext cx="717867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Calibri"/>
                <a:cs typeface="Calibri"/>
              </a:rPr>
              <a:t>A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series</a:t>
            </a:r>
            <a:r>
              <a:rPr sz="2750" spc="14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of</a:t>
            </a:r>
            <a:r>
              <a:rPr sz="2750" spc="7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input</a:t>
            </a:r>
            <a:r>
              <a:rPr sz="2750" spc="7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data</a:t>
            </a:r>
            <a:r>
              <a:rPr sz="2750" spc="4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processing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before</a:t>
            </a:r>
            <a:r>
              <a:rPr sz="2750" spc="7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training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Input</a:t>
            </a:r>
            <a:r>
              <a:rPr spc="-85" dirty="0"/>
              <a:t> </a:t>
            </a:r>
            <a:r>
              <a:rPr spc="-10" dirty="0"/>
              <a:t>Pipeline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94255"/>
            <a:ext cx="717867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Calibri"/>
                <a:cs typeface="Calibri"/>
              </a:rPr>
              <a:t>A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series</a:t>
            </a:r>
            <a:r>
              <a:rPr sz="2750" spc="14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of</a:t>
            </a:r>
            <a:r>
              <a:rPr sz="2750" spc="7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input</a:t>
            </a:r>
            <a:r>
              <a:rPr sz="2750" spc="7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data</a:t>
            </a:r>
            <a:r>
              <a:rPr sz="2750" spc="4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processing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before</a:t>
            </a:r>
            <a:r>
              <a:rPr sz="2750" spc="7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training</a:t>
            </a:r>
            <a:endParaRPr sz="27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0" y="3429000"/>
            <a:ext cx="1152525" cy="11525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24625" y="3429000"/>
            <a:ext cx="1152525" cy="115252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638800" y="3724275"/>
            <a:ext cx="590550" cy="285750"/>
          </a:xfrm>
          <a:custGeom>
            <a:avLst/>
            <a:gdLst/>
            <a:ahLst/>
            <a:cxnLst/>
            <a:rect l="l" t="t" r="r" b="b"/>
            <a:pathLst>
              <a:path w="590550" h="285750">
                <a:moveTo>
                  <a:pt x="447675" y="0"/>
                </a:moveTo>
                <a:lnTo>
                  <a:pt x="447675" y="71374"/>
                </a:lnTo>
                <a:lnTo>
                  <a:pt x="0" y="71374"/>
                </a:lnTo>
                <a:lnTo>
                  <a:pt x="0" y="214249"/>
                </a:lnTo>
                <a:lnTo>
                  <a:pt x="447675" y="214249"/>
                </a:lnTo>
                <a:lnTo>
                  <a:pt x="447675" y="285750"/>
                </a:lnTo>
                <a:lnTo>
                  <a:pt x="590550" y="142875"/>
                </a:lnTo>
                <a:lnTo>
                  <a:pt x="447675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15051" y="3978846"/>
            <a:ext cx="6451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Rotate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Input</a:t>
            </a:r>
            <a:r>
              <a:rPr spc="-85" dirty="0"/>
              <a:t> </a:t>
            </a:r>
            <a:r>
              <a:rPr spc="-10" dirty="0"/>
              <a:t>Pipeline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94255"/>
            <a:ext cx="717867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Calibri"/>
                <a:cs typeface="Calibri"/>
              </a:rPr>
              <a:t>A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series</a:t>
            </a:r>
            <a:r>
              <a:rPr sz="2750" spc="14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of</a:t>
            </a:r>
            <a:r>
              <a:rPr sz="2750" spc="7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input</a:t>
            </a:r>
            <a:r>
              <a:rPr sz="2750" spc="7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data</a:t>
            </a:r>
            <a:r>
              <a:rPr sz="2750" spc="4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processing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before</a:t>
            </a:r>
            <a:r>
              <a:rPr sz="2750" spc="7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training</a:t>
            </a:r>
            <a:endParaRPr sz="27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5" y="2981325"/>
            <a:ext cx="1152525" cy="11525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48125" y="2981325"/>
            <a:ext cx="1152525" cy="1143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10200" y="2981325"/>
            <a:ext cx="1152525" cy="115252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62750" y="2981325"/>
            <a:ext cx="1152525" cy="11525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15300" y="2981325"/>
            <a:ext cx="1152525" cy="11430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5300" y="5153025"/>
            <a:ext cx="1152525" cy="115252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95575" y="5153025"/>
            <a:ext cx="1152525" cy="115252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0" y="5162550"/>
            <a:ext cx="1152525" cy="115252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48125" y="5153025"/>
            <a:ext cx="1152525" cy="115252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10200" y="5162550"/>
            <a:ext cx="1152525" cy="1152525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5838825" y="4343400"/>
            <a:ext cx="285750" cy="600075"/>
          </a:xfrm>
          <a:custGeom>
            <a:avLst/>
            <a:gdLst/>
            <a:ahLst/>
            <a:cxnLst/>
            <a:rect l="l" t="t" r="r" b="b"/>
            <a:pathLst>
              <a:path w="285750" h="600075">
                <a:moveTo>
                  <a:pt x="214375" y="0"/>
                </a:moveTo>
                <a:lnTo>
                  <a:pt x="71500" y="0"/>
                </a:lnTo>
                <a:lnTo>
                  <a:pt x="71500" y="457200"/>
                </a:lnTo>
                <a:lnTo>
                  <a:pt x="0" y="457200"/>
                </a:lnTo>
                <a:lnTo>
                  <a:pt x="142875" y="600075"/>
                </a:lnTo>
                <a:lnTo>
                  <a:pt x="285750" y="457200"/>
                </a:lnTo>
                <a:lnTo>
                  <a:pt x="214375" y="457200"/>
                </a:lnTo>
                <a:lnTo>
                  <a:pt x="214375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384035" y="4417123"/>
            <a:ext cx="6819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Shuffle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Input</a:t>
            </a:r>
            <a:r>
              <a:rPr spc="-85" dirty="0"/>
              <a:t> </a:t>
            </a:r>
            <a:r>
              <a:rPr spc="-10" dirty="0"/>
              <a:t>Pipeline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94255"/>
            <a:ext cx="717867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Calibri"/>
                <a:cs typeface="Calibri"/>
              </a:rPr>
              <a:t>A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series</a:t>
            </a:r>
            <a:r>
              <a:rPr sz="2750" spc="14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of</a:t>
            </a:r>
            <a:r>
              <a:rPr sz="2750" spc="7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input</a:t>
            </a:r>
            <a:r>
              <a:rPr sz="2750" spc="7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data</a:t>
            </a:r>
            <a:r>
              <a:rPr sz="2750" spc="4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processing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before</a:t>
            </a:r>
            <a:r>
              <a:rPr sz="2750" spc="7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training</a:t>
            </a:r>
            <a:endParaRPr sz="27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5" y="2981325"/>
            <a:ext cx="1152525" cy="11525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48125" y="2981325"/>
            <a:ext cx="1152525" cy="1143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10200" y="2981325"/>
            <a:ext cx="1152525" cy="115252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62750" y="2981325"/>
            <a:ext cx="1152525" cy="11525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15300" y="2981325"/>
            <a:ext cx="1152525" cy="1143000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5838825" y="4343400"/>
            <a:ext cx="285750" cy="600075"/>
          </a:xfrm>
          <a:custGeom>
            <a:avLst/>
            <a:gdLst/>
            <a:ahLst/>
            <a:cxnLst/>
            <a:rect l="l" t="t" r="r" b="b"/>
            <a:pathLst>
              <a:path w="285750" h="600075">
                <a:moveTo>
                  <a:pt x="214375" y="0"/>
                </a:moveTo>
                <a:lnTo>
                  <a:pt x="71500" y="0"/>
                </a:lnTo>
                <a:lnTo>
                  <a:pt x="71500" y="457200"/>
                </a:lnTo>
                <a:lnTo>
                  <a:pt x="0" y="457200"/>
                </a:lnTo>
                <a:lnTo>
                  <a:pt x="142875" y="600075"/>
                </a:lnTo>
                <a:lnTo>
                  <a:pt x="285750" y="457200"/>
                </a:lnTo>
                <a:lnTo>
                  <a:pt x="214375" y="457200"/>
                </a:lnTo>
                <a:lnTo>
                  <a:pt x="214375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384035" y="4417123"/>
            <a:ext cx="5556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Batch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7850" y="5162550"/>
            <a:ext cx="1152525" cy="115252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90875" y="5153025"/>
            <a:ext cx="1152525" cy="115252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43475" y="5162550"/>
            <a:ext cx="1152525" cy="115252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96025" y="5162550"/>
            <a:ext cx="1152525" cy="115252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15300" y="5153025"/>
            <a:ext cx="1152525" cy="1152525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4629150" y="4943475"/>
            <a:ext cx="0" cy="1581785"/>
          </a:xfrm>
          <a:custGeom>
            <a:avLst/>
            <a:gdLst/>
            <a:ahLst/>
            <a:cxnLst/>
            <a:rect l="l" t="t" r="r" b="b"/>
            <a:pathLst>
              <a:path h="1581784">
                <a:moveTo>
                  <a:pt x="0" y="0"/>
                </a:moveTo>
                <a:lnTo>
                  <a:pt x="0" y="1581162"/>
                </a:lnTo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791450" y="4943475"/>
            <a:ext cx="0" cy="1581785"/>
          </a:xfrm>
          <a:custGeom>
            <a:avLst/>
            <a:gdLst/>
            <a:ahLst/>
            <a:cxnLst/>
            <a:rect l="l" t="t" r="r" b="b"/>
            <a:pathLst>
              <a:path h="1581784">
                <a:moveTo>
                  <a:pt x="0" y="0"/>
                </a:moveTo>
                <a:lnTo>
                  <a:pt x="0" y="1581162"/>
                </a:lnTo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Input</a:t>
            </a:r>
            <a:r>
              <a:rPr spc="-85" dirty="0"/>
              <a:t> </a:t>
            </a:r>
            <a:r>
              <a:rPr spc="-10" dirty="0"/>
              <a:t>Pipeline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02288"/>
            <a:ext cx="10006965" cy="233489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55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Calibri"/>
                <a:cs typeface="Calibri"/>
              </a:rPr>
              <a:t>A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series</a:t>
            </a:r>
            <a:r>
              <a:rPr sz="2750" spc="14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of</a:t>
            </a:r>
            <a:r>
              <a:rPr sz="2750" spc="7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input</a:t>
            </a:r>
            <a:r>
              <a:rPr sz="2750" spc="7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data</a:t>
            </a:r>
            <a:r>
              <a:rPr sz="2750" spc="4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processing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before</a:t>
            </a:r>
            <a:r>
              <a:rPr sz="2750" spc="7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training</a:t>
            </a:r>
            <a:endParaRPr sz="2750">
              <a:latin typeface="Calibri"/>
              <a:cs typeface="Calibri"/>
            </a:endParaRPr>
          </a:p>
          <a:p>
            <a:pPr marL="240665" indent="-227965">
              <a:lnSpc>
                <a:spcPts val="315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latin typeface="Calibri"/>
                <a:cs typeface="Calibri"/>
              </a:rPr>
              <a:t>Building</a:t>
            </a:r>
            <a:r>
              <a:rPr sz="2750" spc="4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the</a:t>
            </a:r>
            <a:r>
              <a:rPr sz="2750" spc="4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input</a:t>
            </a:r>
            <a:r>
              <a:rPr sz="2750" spc="5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pipeline</a:t>
            </a:r>
            <a:r>
              <a:rPr sz="2750" spc="4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is</a:t>
            </a:r>
            <a:r>
              <a:rPr sz="2750" spc="4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long</a:t>
            </a:r>
            <a:r>
              <a:rPr sz="2750" spc="4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and</a:t>
            </a:r>
            <a:r>
              <a:rPr sz="2750" spc="4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painful,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and</a:t>
            </a:r>
            <a:r>
              <a:rPr sz="2750" spc="4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it’s</a:t>
            </a:r>
            <a:r>
              <a:rPr sz="2750" spc="4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hard</a:t>
            </a:r>
            <a:r>
              <a:rPr sz="2750" spc="12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to</a:t>
            </a:r>
            <a:r>
              <a:rPr sz="2750" spc="4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reuse</a:t>
            </a:r>
            <a:endParaRPr sz="2750">
              <a:latin typeface="Calibri"/>
              <a:cs typeface="Calibri"/>
            </a:endParaRPr>
          </a:p>
          <a:p>
            <a:pPr marL="241300">
              <a:lnSpc>
                <a:spcPts val="3150"/>
              </a:lnSpc>
            </a:pPr>
            <a:r>
              <a:rPr sz="2750" dirty="0">
                <a:latin typeface="Calibri"/>
                <a:cs typeface="Calibri"/>
              </a:rPr>
              <a:t>due</a:t>
            </a:r>
            <a:r>
              <a:rPr sz="2750" spc="5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to</a:t>
            </a:r>
            <a:r>
              <a:rPr sz="2750" spc="5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different</a:t>
            </a:r>
            <a:r>
              <a:rPr sz="2750" spc="5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type</a:t>
            </a:r>
            <a:r>
              <a:rPr sz="2750" spc="5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of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data</a:t>
            </a:r>
            <a:endParaRPr sz="2750">
              <a:latin typeface="Calibri"/>
              <a:cs typeface="Calibri"/>
            </a:endParaRPr>
          </a:p>
          <a:p>
            <a:pPr marL="241300" marR="190500" indent="-229235">
              <a:lnSpc>
                <a:spcPts val="3000"/>
              </a:lnSpc>
              <a:spcBef>
                <a:spcPts val="1105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Calibri"/>
                <a:cs typeface="Calibri"/>
              </a:rPr>
              <a:t>TensorFlow</a:t>
            </a:r>
            <a:r>
              <a:rPr sz="2750" spc="7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provides</a:t>
            </a:r>
            <a:r>
              <a:rPr sz="2750" spc="8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an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API</a:t>
            </a:r>
            <a:r>
              <a:rPr sz="2750" spc="145" dirty="0"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6FC0"/>
                </a:solidFill>
                <a:latin typeface="Consolas"/>
                <a:cs typeface="Consolas"/>
              </a:rPr>
              <a:t>tf.data</a:t>
            </a:r>
            <a:r>
              <a:rPr sz="2400" spc="-59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750" dirty="0">
                <a:latin typeface="Calibri"/>
                <a:cs typeface="Calibri"/>
              </a:rPr>
              <a:t>enables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you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to</a:t>
            </a:r>
            <a:r>
              <a:rPr sz="2750" spc="8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build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complex </a:t>
            </a:r>
            <a:r>
              <a:rPr sz="2750" dirty="0">
                <a:latin typeface="Calibri"/>
                <a:cs typeface="Calibri"/>
              </a:rPr>
              <a:t>input</a:t>
            </a:r>
            <a:r>
              <a:rPr sz="2750" spc="7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pipelines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from</a:t>
            </a:r>
            <a:r>
              <a:rPr sz="2750" spc="14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simple,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reusable</a:t>
            </a:r>
            <a:r>
              <a:rPr sz="2750" spc="7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pieces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Input</a:t>
            </a:r>
            <a:r>
              <a:rPr spc="-65" dirty="0"/>
              <a:t> </a:t>
            </a:r>
            <a:r>
              <a:rPr dirty="0"/>
              <a:t>Pipeline</a:t>
            </a:r>
            <a:r>
              <a:rPr spc="-60" dirty="0"/>
              <a:t> </a:t>
            </a:r>
            <a:r>
              <a:rPr dirty="0"/>
              <a:t>-</a:t>
            </a:r>
            <a:r>
              <a:rPr spc="-45" dirty="0"/>
              <a:t> </a:t>
            </a:r>
            <a:r>
              <a:rPr spc="-10" dirty="0"/>
              <a:t>TensorFlow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94255"/>
            <a:ext cx="9025255" cy="84010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41300" marR="5080" indent="-229235">
              <a:lnSpc>
                <a:spcPts val="3080"/>
              </a:lnSpc>
              <a:spcBef>
                <a:spcPts val="415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Calibri"/>
                <a:cs typeface="Calibri"/>
              </a:rPr>
              <a:t>To</a:t>
            </a:r>
            <a:r>
              <a:rPr sz="2750" spc="6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apply</a:t>
            </a:r>
            <a:r>
              <a:rPr sz="2750" spc="4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transformations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on</a:t>
            </a:r>
            <a:r>
              <a:rPr sz="2750" spc="7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your</a:t>
            </a:r>
            <a:r>
              <a:rPr sz="2750" spc="114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input</a:t>
            </a:r>
            <a:r>
              <a:rPr sz="2750" spc="7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data,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we</a:t>
            </a:r>
            <a:r>
              <a:rPr sz="2750" spc="7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will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need</a:t>
            </a:r>
            <a:r>
              <a:rPr sz="2750" spc="70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to </a:t>
            </a:r>
            <a:r>
              <a:rPr sz="2750" dirty="0">
                <a:latin typeface="Calibri"/>
                <a:cs typeface="Calibri"/>
              </a:rPr>
              <a:t>construct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a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06FC0"/>
                </a:solidFill>
                <a:latin typeface="Consolas"/>
                <a:cs typeface="Consolas"/>
              </a:rPr>
              <a:t>tf.data.Dataset</a:t>
            </a:r>
            <a:r>
              <a:rPr sz="2400" spc="-55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750" spc="-10" dirty="0">
                <a:latin typeface="Calibri"/>
                <a:cs typeface="Calibri"/>
              </a:rPr>
              <a:t>object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Input</a:t>
            </a:r>
            <a:r>
              <a:rPr spc="-65" dirty="0"/>
              <a:t> </a:t>
            </a:r>
            <a:r>
              <a:rPr dirty="0"/>
              <a:t>Pipeline</a:t>
            </a:r>
            <a:r>
              <a:rPr spc="-60" dirty="0"/>
              <a:t> </a:t>
            </a:r>
            <a:r>
              <a:rPr dirty="0"/>
              <a:t>-</a:t>
            </a:r>
            <a:r>
              <a:rPr spc="-45" dirty="0"/>
              <a:t> </a:t>
            </a:r>
            <a:r>
              <a:rPr spc="-10" dirty="0"/>
              <a:t>TensorFlow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54504"/>
            <a:ext cx="4109085" cy="88963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Calibri"/>
                <a:cs typeface="Calibri"/>
              </a:rPr>
              <a:t>Construct</a:t>
            </a:r>
            <a:r>
              <a:rPr sz="2750" spc="13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Dataset</a:t>
            </a:r>
            <a:endParaRPr sz="275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small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b="1" dirty="0">
                <a:latin typeface="Calibri"/>
                <a:cs typeface="Calibri"/>
              </a:rPr>
              <a:t>in-</a:t>
            </a:r>
            <a:r>
              <a:rPr sz="2400" b="1" spc="-10" dirty="0">
                <a:latin typeface="Calibri"/>
                <a:cs typeface="Calibri"/>
              </a:rPr>
              <a:t>memory</a:t>
            </a:r>
            <a:r>
              <a:rPr sz="2400" spc="-10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38275" y="3019425"/>
            <a:ext cx="9324975" cy="2066925"/>
            <a:chOff x="1438275" y="3019425"/>
            <a:chExt cx="9324975" cy="20669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8275" y="3019425"/>
              <a:ext cx="9324975" cy="20669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557525" y="4510150"/>
              <a:ext cx="4578350" cy="171450"/>
            </a:xfrm>
            <a:custGeom>
              <a:avLst/>
              <a:gdLst/>
              <a:ahLst/>
              <a:cxnLst/>
              <a:rect l="l" t="t" r="r" b="b"/>
              <a:pathLst>
                <a:path w="4578350" h="171450">
                  <a:moveTo>
                    <a:pt x="0" y="161925"/>
                  </a:moveTo>
                  <a:lnTo>
                    <a:pt x="2686050" y="161925"/>
                  </a:lnTo>
                  <a:lnTo>
                    <a:pt x="2686050" y="0"/>
                  </a:lnTo>
                  <a:lnTo>
                    <a:pt x="0" y="0"/>
                  </a:lnTo>
                  <a:lnTo>
                    <a:pt x="0" y="161925"/>
                  </a:lnTo>
                  <a:close/>
                </a:path>
                <a:path w="4578350" h="171450">
                  <a:moveTo>
                    <a:pt x="2800350" y="171450"/>
                  </a:moveTo>
                  <a:lnTo>
                    <a:pt x="4578350" y="17145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505071" y="3431222"/>
            <a:ext cx="61429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All</a:t>
            </a:r>
            <a:r>
              <a:rPr sz="1800" spc="-3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input</a:t>
            </a:r>
            <a:r>
              <a:rPr sz="1800" spc="-6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tensors</a:t>
            </a:r>
            <a:r>
              <a:rPr sz="1800" spc="-1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must</a:t>
            </a:r>
            <a:r>
              <a:rPr sz="1800" spc="1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have</a:t>
            </a:r>
            <a:r>
              <a:rPr sz="1800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same</a:t>
            </a:r>
            <a:r>
              <a:rPr sz="1800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size</a:t>
            </a:r>
            <a:r>
              <a:rPr sz="1800" spc="1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in</a:t>
            </a:r>
            <a:r>
              <a:rPr sz="1800" spc="3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their</a:t>
            </a:r>
            <a:r>
              <a:rPr sz="1800" spc="-1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first</a:t>
            </a:r>
            <a:r>
              <a:rPr sz="1800" spc="1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EC7C30"/>
                </a:solidFill>
                <a:latin typeface="Calibri"/>
                <a:cs typeface="Calibri"/>
              </a:rPr>
              <a:t>dimensions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248088" y="3733863"/>
            <a:ext cx="1190625" cy="1826260"/>
            <a:chOff x="3248088" y="3733863"/>
            <a:chExt cx="1190625" cy="1826260"/>
          </a:xfrm>
        </p:grpSpPr>
        <p:sp>
          <p:nvSpPr>
            <p:cNvPr id="9" name="object 9"/>
            <p:cNvSpPr/>
            <p:nvPr/>
          </p:nvSpPr>
          <p:spPr>
            <a:xfrm>
              <a:off x="3262376" y="3748151"/>
              <a:ext cx="1162050" cy="438150"/>
            </a:xfrm>
            <a:custGeom>
              <a:avLst/>
              <a:gdLst/>
              <a:ahLst/>
              <a:cxnLst/>
              <a:rect l="l" t="t" r="r" b="b"/>
              <a:pathLst>
                <a:path w="1162050" h="438150">
                  <a:moveTo>
                    <a:pt x="390525" y="123825"/>
                  </a:moveTo>
                  <a:lnTo>
                    <a:pt x="1162050" y="123825"/>
                  </a:lnTo>
                  <a:lnTo>
                    <a:pt x="1162050" y="0"/>
                  </a:lnTo>
                  <a:lnTo>
                    <a:pt x="390525" y="0"/>
                  </a:lnTo>
                  <a:lnTo>
                    <a:pt x="390525" y="123825"/>
                  </a:lnTo>
                  <a:close/>
                </a:path>
                <a:path w="1162050" h="438150">
                  <a:moveTo>
                    <a:pt x="0" y="438150"/>
                  </a:moveTo>
                  <a:lnTo>
                    <a:pt x="781050" y="438150"/>
                  </a:lnTo>
                  <a:lnTo>
                    <a:pt x="781050" y="323850"/>
                  </a:lnTo>
                  <a:lnTo>
                    <a:pt x="0" y="323850"/>
                  </a:lnTo>
                  <a:lnTo>
                    <a:pt x="0" y="438150"/>
                  </a:lnTo>
                  <a:close/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57625" y="4681474"/>
              <a:ext cx="85725" cy="878840"/>
            </a:xfrm>
            <a:custGeom>
              <a:avLst/>
              <a:gdLst/>
              <a:ahLst/>
              <a:cxnLst/>
              <a:rect l="l" t="t" r="r" b="b"/>
              <a:pathLst>
                <a:path w="85725" h="878839">
                  <a:moveTo>
                    <a:pt x="28575" y="792734"/>
                  </a:moveTo>
                  <a:lnTo>
                    <a:pt x="0" y="792734"/>
                  </a:lnTo>
                  <a:lnTo>
                    <a:pt x="42925" y="878459"/>
                  </a:lnTo>
                  <a:lnTo>
                    <a:pt x="78623" y="806957"/>
                  </a:lnTo>
                  <a:lnTo>
                    <a:pt x="28575" y="806957"/>
                  </a:lnTo>
                  <a:lnTo>
                    <a:pt x="28575" y="792734"/>
                  </a:lnTo>
                  <a:close/>
                </a:path>
                <a:path w="85725" h="878839">
                  <a:moveTo>
                    <a:pt x="57150" y="0"/>
                  </a:moveTo>
                  <a:lnTo>
                    <a:pt x="28575" y="0"/>
                  </a:lnTo>
                  <a:lnTo>
                    <a:pt x="28575" y="806957"/>
                  </a:lnTo>
                  <a:lnTo>
                    <a:pt x="57150" y="806957"/>
                  </a:lnTo>
                  <a:lnTo>
                    <a:pt x="57150" y="0"/>
                  </a:lnTo>
                  <a:close/>
                </a:path>
                <a:path w="85725" h="878839">
                  <a:moveTo>
                    <a:pt x="85725" y="792734"/>
                  </a:moveTo>
                  <a:lnTo>
                    <a:pt x="57150" y="792734"/>
                  </a:lnTo>
                  <a:lnTo>
                    <a:pt x="57150" y="806957"/>
                  </a:lnTo>
                  <a:lnTo>
                    <a:pt x="78623" y="806957"/>
                  </a:lnTo>
                  <a:lnTo>
                    <a:pt x="85725" y="79273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308735" y="5584825"/>
            <a:ext cx="51625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given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tensors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sliced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along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their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first</a:t>
            </a:r>
            <a:r>
              <a:rPr sz="180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dimension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53230" y="1510067"/>
            <a:ext cx="3905464" cy="25674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12493" y="1972540"/>
            <a:ext cx="3846200" cy="25907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580629" y="1780920"/>
            <a:ext cx="227965" cy="16891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670"/>
              </a:lnSpc>
            </a:pPr>
            <a:r>
              <a:rPr sz="1400" spc="-25" dirty="0">
                <a:latin typeface="Arial MT"/>
                <a:cs typeface="Arial MT"/>
              </a:rPr>
              <a:t>...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11644" y="2318067"/>
            <a:ext cx="194056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Arial MT"/>
                <a:cs typeface="Arial MT"/>
              </a:rPr>
              <a:t>raw_data_b: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[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0, 1,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2,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…</a:t>
            </a:r>
            <a:r>
              <a:rPr sz="1100" spc="-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199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]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11644" y="1445577"/>
            <a:ext cx="79629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10" dirty="0">
                <a:latin typeface="Arial MT"/>
                <a:cs typeface="Arial MT"/>
              </a:rPr>
              <a:t>raw_data_a: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Input</a:t>
            </a:r>
            <a:r>
              <a:rPr spc="-65" dirty="0"/>
              <a:t> </a:t>
            </a:r>
            <a:r>
              <a:rPr dirty="0"/>
              <a:t>Pipeline</a:t>
            </a:r>
            <a:r>
              <a:rPr spc="-60" dirty="0"/>
              <a:t> </a:t>
            </a:r>
            <a:r>
              <a:rPr dirty="0"/>
              <a:t>-</a:t>
            </a:r>
            <a:r>
              <a:rPr spc="-45" dirty="0"/>
              <a:t> </a:t>
            </a:r>
            <a:r>
              <a:rPr spc="-10" dirty="0"/>
              <a:t>TensorFlow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54504"/>
            <a:ext cx="4109085" cy="88963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Calibri"/>
                <a:cs typeface="Calibri"/>
              </a:rPr>
              <a:t>Construct</a:t>
            </a:r>
            <a:r>
              <a:rPr sz="2750" spc="13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Dataset</a:t>
            </a:r>
            <a:endParaRPr sz="275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small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b="1" dirty="0">
                <a:latin typeface="Calibri"/>
                <a:cs typeface="Calibri"/>
              </a:rPr>
              <a:t>in-</a:t>
            </a:r>
            <a:r>
              <a:rPr sz="2400" b="1" spc="-10" dirty="0">
                <a:latin typeface="Calibri"/>
                <a:cs typeface="Calibri"/>
              </a:rPr>
              <a:t>memory</a:t>
            </a:r>
            <a:r>
              <a:rPr sz="2400" spc="-10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8275" y="3019425"/>
            <a:ext cx="9324975" cy="206692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028825" y="5448300"/>
            <a:ext cx="8134350" cy="428625"/>
            <a:chOff x="2028825" y="5448300"/>
            <a:chExt cx="8134350" cy="42862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8825" y="5448300"/>
              <a:ext cx="8134350" cy="4286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4775" y="5486400"/>
              <a:ext cx="2247900" cy="3619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67600" y="5695950"/>
              <a:ext cx="2247900" cy="1524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957575" y="5481637"/>
              <a:ext cx="3028950" cy="161925"/>
            </a:xfrm>
            <a:custGeom>
              <a:avLst/>
              <a:gdLst/>
              <a:ahLst/>
              <a:cxnLst/>
              <a:rect l="l" t="t" r="r" b="b"/>
              <a:pathLst>
                <a:path w="3028950" h="161925">
                  <a:moveTo>
                    <a:pt x="0" y="161925"/>
                  </a:moveTo>
                  <a:lnTo>
                    <a:pt x="3028950" y="161925"/>
                  </a:lnTo>
                  <a:lnTo>
                    <a:pt x="3028950" y="0"/>
                  </a:lnTo>
                  <a:lnTo>
                    <a:pt x="0" y="0"/>
                  </a:lnTo>
                  <a:lnTo>
                    <a:pt x="0" y="161925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00826" y="5481637"/>
              <a:ext cx="723900" cy="161925"/>
            </a:xfrm>
            <a:custGeom>
              <a:avLst/>
              <a:gdLst/>
              <a:ahLst/>
              <a:cxnLst/>
              <a:rect l="l" t="t" r="r" b="b"/>
              <a:pathLst>
                <a:path w="723900" h="161925">
                  <a:moveTo>
                    <a:pt x="0" y="161925"/>
                  </a:moveTo>
                  <a:lnTo>
                    <a:pt x="723900" y="161925"/>
                  </a:lnTo>
                  <a:lnTo>
                    <a:pt x="723900" y="0"/>
                  </a:lnTo>
                  <a:lnTo>
                    <a:pt x="0" y="0"/>
                  </a:lnTo>
                  <a:lnTo>
                    <a:pt x="0" y="161925"/>
                  </a:lnTo>
                  <a:close/>
                </a:path>
              </a:pathLst>
            </a:custGeom>
            <a:ln w="28575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19976" y="5481637"/>
              <a:ext cx="723900" cy="161925"/>
            </a:xfrm>
            <a:custGeom>
              <a:avLst/>
              <a:gdLst/>
              <a:ahLst/>
              <a:cxnLst/>
              <a:rect l="l" t="t" r="r" b="b"/>
              <a:pathLst>
                <a:path w="723900" h="161925">
                  <a:moveTo>
                    <a:pt x="0" y="161925"/>
                  </a:moveTo>
                  <a:lnTo>
                    <a:pt x="723900" y="161925"/>
                  </a:lnTo>
                  <a:lnTo>
                    <a:pt x="723900" y="0"/>
                  </a:lnTo>
                  <a:lnTo>
                    <a:pt x="0" y="0"/>
                  </a:lnTo>
                  <a:lnTo>
                    <a:pt x="0" y="161925"/>
                  </a:lnTo>
                  <a:close/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241796" y="5131117"/>
            <a:ext cx="4406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538135"/>
                </a:solidFill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98334" y="5131117"/>
            <a:ext cx="4781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EC7C30"/>
                </a:solidFill>
                <a:latin typeface="Calibri"/>
                <a:cs typeface="Calibri"/>
              </a:rPr>
              <a:t>label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Input</a:t>
            </a:r>
            <a:r>
              <a:rPr spc="-65" dirty="0"/>
              <a:t> </a:t>
            </a:r>
            <a:r>
              <a:rPr dirty="0"/>
              <a:t>Pipeline</a:t>
            </a:r>
            <a:r>
              <a:rPr spc="-60" dirty="0"/>
              <a:t> </a:t>
            </a:r>
            <a:r>
              <a:rPr dirty="0"/>
              <a:t>-</a:t>
            </a:r>
            <a:r>
              <a:rPr spc="-45" dirty="0"/>
              <a:t> </a:t>
            </a:r>
            <a:r>
              <a:rPr spc="-10" dirty="0"/>
              <a:t>TensorFlow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43482"/>
            <a:ext cx="10319385" cy="3265804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spc="-10" dirty="0">
                <a:latin typeface="Calibri"/>
                <a:cs typeface="Calibri"/>
              </a:rPr>
              <a:t>Transformations</a:t>
            </a:r>
            <a:endParaRPr sz="275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b="1" dirty="0">
                <a:latin typeface="Calibri"/>
                <a:cs typeface="Calibri"/>
              </a:rPr>
              <a:t>Map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apply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dataset</a:t>
            </a:r>
            <a:endParaRPr sz="2400">
              <a:latin typeface="Calibri"/>
              <a:cs typeface="Calibri"/>
            </a:endParaRPr>
          </a:p>
          <a:p>
            <a:pPr marL="697865" marR="5080" lvl="1" indent="-227965">
              <a:lnSpc>
                <a:spcPts val="2860"/>
              </a:lnSpc>
              <a:spcBef>
                <a:spcPts val="46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b="1" dirty="0">
                <a:latin typeface="Calibri"/>
                <a:cs typeface="Calibri"/>
              </a:rPr>
              <a:t>Shuffle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maintains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fixed-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buffer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chooses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next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uniformly 	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random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buffer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17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b="1" dirty="0">
                <a:latin typeface="Calibri"/>
                <a:cs typeface="Calibri"/>
              </a:rPr>
              <a:t>Batch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combines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consecutive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dataset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batches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b="1" dirty="0">
                <a:latin typeface="Calibri"/>
                <a:cs typeface="Calibri"/>
              </a:rPr>
              <a:t>Repeat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repeat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dataset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original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seen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times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b="1" dirty="0">
                <a:latin typeface="Calibri"/>
                <a:cs typeface="Calibri"/>
              </a:rPr>
              <a:t>Prefetch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allows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later elements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prepared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current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</a:t>
            </a:r>
            <a:endParaRPr sz="2400">
              <a:latin typeface="Calibri"/>
              <a:cs typeface="Calibri"/>
            </a:endParaRPr>
          </a:p>
          <a:p>
            <a:pPr marL="699135">
              <a:lnSpc>
                <a:spcPct val="100000"/>
              </a:lnSpc>
              <a:spcBef>
                <a:spcPts val="45"/>
              </a:spcBef>
            </a:pPr>
            <a:r>
              <a:rPr sz="2400" dirty="0">
                <a:latin typeface="Calibri"/>
                <a:cs typeface="Calibri"/>
              </a:rPr>
              <a:t>being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processed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Input</a:t>
            </a:r>
            <a:r>
              <a:rPr spc="-65" dirty="0"/>
              <a:t> </a:t>
            </a:r>
            <a:r>
              <a:rPr dirty="0"/>
              <a:t>Pipeline</a:t>
            </a:r>
            <a:r>
              <a:rPr spc="-60" dirty="0"/>
              <a:t> </a:t>
            </a:r>
            <a:r>
              <a:rPr dirty="0"/>
              <a:t>-</a:t>
            </a:r>
            <a:r>
              <a:rPr spc="-45" dirty="0"/>
              <a:t> </a:t>
            </a:r>
            <a:r>
              <a:rPr spc="-10" dirty="0"/>
              <a:t>TensorFlow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54504"/>
            <a:ext cx="8230234" cy="88963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spc="-10" dirty="0">
                <a:latin typeface="Calibri"/>
                <a:cs typeface="Calibri"/>
              </a:rPr>
              <a:t>Transformations</a:t>
            </a:r>
            <a:endParaRPr sz="275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b="1" dirty="0">
                <a:latin typeface="Calibri"/>
                <a:cs typeface="Calibri"/>
              </a:rPr>
              <a:t>Map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apply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dataset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57300" y="3048000"/>
            <a:ext cx="9201150" cy="2333625"/>
            <a:chOff x="1257300" y="3048000"/>
            <a:chExt cx="9201150" cy="23336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7300" y="3048000"/>
              <a:ext cx="9201150" cy="23336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548126" y="4767326"/>
              <a:ext cx="1619250" cy="219075"/>
            </a:xfrm>
            <a:custGeom>
              <a:avLst/>
              <a:gdLst/>
              <a:ahLst/>
              <a:cxnLst/>
              <a:rect l="l" t="t" r="r" b="b"/>
              <a:pathLst>
                <a:path w="1619250" h="219075">
                  <a:moveTo>
                    <a:pt x="0" y="219075"/>
                  </a:moveTo>
                  <a:lnTo>
                    <a:pt x="1619250" y="219075"/>
                  </a:lnTo>
                  <a:lnTo>
                    <a:pt x="1619250" y="0"/>
                  </a:lnTo>
                  <a:lnTo>
                    <a:pt x="0" y="0"/>
                  </a:lnTo>
                  <a:lnTo>
                    <a:pt x="0" y="219075"/>
                  </a:lnTo>
                  <a:close/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715003" y="4417377"/>
            <a:ext cx="12814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Map</a:t>
            </a:r>
            <a:r>
              <a:rPr sz="1800" spc="-2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EC7C30"/>
                </a:solidFill>
                <a:latin typeface="Calibri"/>
                <a:cs typeface="Calibri"/>
              </a:rPr>
              <a:t>function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43860" y="5439092"/>
            <a:ext cx="2058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reduce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dimension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24226" y="5424551"/>
            <a:ext cx="811530" cy="0"/>
          </a:xfrm>
          <a:custGeom>
            <a:avLst/>
            <a:gdLst/>
            <a:ahLst/>
            <a:cxnLst/>
            <a:rect l="l" t="t" r="r" b="b"/>
            <a:pathLst>
              <a:path w="811529">
                <a:moveTo>
                  <a:pt x="0" y="0"/>
                </a:moveTo>
                <a:lnTo>
                  <a:pt x="811529" y="0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Input</a:t>
            </a:r>
            <a:r>
              <a:rPr spc="-65" dirty="0"/>
              <a:t> </a:t>
            </a:r>
            <a:r>
              <a:rPr dirty="0"/>
              <a:t>Pipeline</a:t>
            </a:r>
            <a:r>
              <a:rPr spc="-60" dirty="0"/>
              <a:t> </a:t>
            </a:r>
            <a:r>
              <a:rPr dirty="0"/>
              <a:t>-</a:t>
            </a:r>
            <a:r>
              <a:rPr spc="-45" dirty="0"/>
              <a:t> </a:t>
            </a:r>
            <a:r>
              <a:rPr spc="-10" dirty="0"/>
              <a:t>TensorFlow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54504"/>
            <a:ext cx="9450705" cy="151003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spc="-10" dirty="0">
                <a:latin typeface="Calibri"/>
                <a:cs typeface="Calibri"/>
              </a:rPr>
              <a:t>Transformations</a:t>
            </a:r>
            <a:endParaRPr sz="275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b="1" dirty="0">
                <a:latin typeface="Calibri"/>
                <a:cs typeface="Calibri"/>
              </a:rPr>
              <a:t>Map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apply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dataset</a:t>
            </a:r>
            <a:endParaRPr sz="2400">
              <a:latin typeface="Calibri"/>
              <a:cs typeface="Calibri"/>
            </a:endParaRPr>
          </a:p>
          <a:p>
            <a:pPr marL="1156335" marR="5080" lvl="2" indent="-229235">
              <a:lnSpc>
                <a:spcPts val="2180"/>
              </a:lnSpc>
              <a:spcBef>
                <a:spcPts val="555"/>
              </a:spcBef>
              <a:buFont typeface="Arial MT"/>
              <a:buChar char="•"/>
              <a:tabLst>
                <a:tab pos="1156335" algn="l"/>
              </a:tabLst>
            </a:pPr>
            <a:r>
              <a:rPr sz="2000" dirty="0">
                <a:latin typeface="Calibri"/>
                <a:cs typeface="Calibri"/>
              </a:rPr>
              <a:t>Data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augmentation:</a:t>
            </a:r>
            <a:r>
              <a:rPr sz="2000" spc="4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technique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increase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diversity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training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by </a:t>
            </a:r>
            <a:r>
              <a:rPr sz="2000" dirty="0">
                <a:latin typeface="Calibri"/>
                <a:cs typeface="Calibri"/>
              </a:rPr>
              <a:t>applying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random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transformations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such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image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rotation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3075" y="3295650"/>
            <a:ext cx="1676400" cy="16859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91650" y="5076823"/>
            <a:ext cx="1676400" cy="16764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5800" y="3708716"/>
            <a:ext cx="8153400" cy="193960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Input</a:t>
            </a:r>
            <a:r>
              <a:rPr spc="-65" dirty="0"/>
              <a:t> </a:t>
            </a:r>
            <a:r>
              <a:rPr dirty="0"/>
              <a:t>Pipeline</a:t>
            </a:r>
            <a:r>
              <a:rPr spc="-60" dirty="0"/>
              <a:t> </a:t>
            </a:r>
            <a:r>
              <a:rPr dirty="0"/>
              <a:t>-</a:t>
            </a:r>
            <a:r>
              <a:rPr spc="-45" dirty="0"/>
              <a:t> </a:t>
            </a:r>
            <a:r>
              <a:rPr spc="-10" dirty="0"/>
              <a:t>TensorFlow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54504"/>
            <a:ext cx="10319385" cy="166751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spc="-10" dirty="0">
                <a:latin typeface="Calibri"/>
                <a:cs typeface="Calibri"/>
              </a:rPr>
              <a:t>Transformations</a:t>
            </a:r>
            <a:endParaRPr sz="2750" dirty="0">
              <a:latin typeface="Calibri"/>
              <a:cs typeface="Calibri"/>
            </a:endParaRPr>
          </a:p>
          <a:p>
            <a:pPr marL="697865" marR="5080" lvl="1" indent="-227965">
              <a:lnSpc>
                <a:spcPts val="2630"/>
              </a:lnSpc>
              <a:spcBef>
                <a:spcPts val="57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b="1" dirty="0">
                <a:latin typeface="Calibri"/>
                <a:cs typeface="Calibri"/>
              </a:rPr>
              <a:t>Shuffle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maintains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fixed-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buffer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chooses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next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uniformly 	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random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from</a:t>
            </a:r>
            <a:r>
              <a:rPr sz="24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that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buffer</a:t>
            </a:r>
            <a:endParaRPr sz="2400" dirty="0">
              <a:latin typeface="Calibri"/>
              <a:cs typeface="Calibri"/>
            </a:endParaRPr>
          </a:p>
          <a:p>
            <a:pPr marL="1624965" algn="ctr">
              <a:lnSpc>
                <a:spcPct val="100000"/>
              </a:lnSpc>
              <a:spcBef>
                <a:spcPts val="1290"/>
              </a:spcBef>
            </a:pP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Buffer</a:t>
            </a:r>
            <a:r>
              <a:rPr sz="1800" spc="-3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EC7C30"/>
                </a:solidFill>
                <a:latin typeface="Calibri"/>
                <a:cs typeface="Calibri"/>
              </a:rPr>
              <a:t>size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133725" y="3429000"/>
            <a:ext cx="6029325" cy="590550"/>
            <a:chOff x="3133725" y="3429000"/>
            <a:chExt cx="6029325" cy="5905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33725" y="3505200"/>
              <a:ext cx="5219700" cy="4286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81975" y="3429000"/>
              <a:ext cx="981075" cy="5905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634226" y="3519551"/>
              <a:ext cx="504825" cy="400050"/>
            </a:xfrm>
            <a:custGeom>
              <a:avLst/>
              <a:gdLst/>
              <a:ahLst/>
              <a:cxnLst/>
              <a:rect l="l" t="t" r="r" b="b"/>
              <a:pathLst>
                <a:path w="504825" h="400050">
                  <a:moveTo>
                    <a:pt x="0" y="400050"/>
                  </a:moveTo>
                  <a:lnTo>
                    <a:pt x="504825" y="400050"/>
                  </a:lnTo>
                  <a:lnTo>
                    <a:pt x="504825" y="0"/>
                  </a:lnTo>
                  <a:lnTo>
                    <a:pt x="0" y="0"/>
                  </a:lnTo>
                  <a:lnTo>
                    <a:pt x="0" y="400050"/>
                  </a:lnTo>
                  <a:close/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23875" y="4305300"/>
          <a:ext cx="2009775" cy="2371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9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461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7785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3025" marB="0"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114800" y="4657725"/>
          <a:ext cx="2009775" cy="1551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9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970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T w="285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4610" marB="0"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3948176" y="4510087"/>
            <a:ext cx="2371725" cy="1809750"/>
          </a:xfrm>
          <a:custGeom>
            <a:avLst/>
            <a:gdLst/>
            <a:ahLst/>
            <a:cxnLst/>
            <a:rect l="l" t="t" r="r" b="b"/>
            <a:pathLst>
              <a:path w="2371725" h="1809750">
                <a:moveTo>
                  <a:pt x="0" y="1809750"/>
                </a:moveTo>
                <a:lnTo>
                  <a:pt x="2371725" y="1809750"/>
                </a:lnTo>
                <a:lnTo>
                  <a:pt x="2371725" y="0"/>
                </a:lnTo>
                <a:lnTo>
                  <a:pt x="0" y="0"/>
                </a:lnTo>
                <a:lnTo>
                  <a:pt x="0" y="1809750"/>
                </a:lnTo>
                <a:close/>
              </a:path>
            </a:pathLst>
          </a:custGeom>
          <a:ln w="28575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43225" y="5267325"/>
            <a:ext cx="600075" cy="285750"/>
          </a:xfrm>
          <a:custGeom>
            <a:avLst/>
            <a:gdLst/>
            <a:ahLst/>
            <a:cxnLst/>
            <a:rect l="l" t="t" r="r" b="b"/>
            <a:pathLst>
              <a:path w="600075" h="285750">
                <a:moveTo>
                  <a:pt x="457200" y="0"/>
                </a:moveTo>
                <a:lnTo>
                  <a:pt x="457200" y="71500"/>
                </a:lnTo>
                <a:lnTo>
                  <a:pt x="0" y="71500"/>
                </a:lnTo>
                <a:lnTo>
                  <a:pt x="0" y="214375"/>
                </a:lnTo>
                <a:lnTo>
                  <a:pt x="457200" y="214375"/>
                </a:lnTo>
                <a:lnTo>
                  <a:pt x="457200" y="285750"/>
                </a:lnTo>
                <a:lnTo>
                  <a:pt x="600075" y="142875"/>
                </a:lnTo>
                <a:lnTo>
                  <a:pt x="4572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614041" y="5606415"/>
            <a:ext cx="12401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Buffer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size: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524625" y="5267325"/>
            <a:ext cx="600075" cy="285750"/>
          </a:xfrm>
          <a:custGeom>
            <a:avLst/>
            <a:gdLst/>
            <a:ahLst/>
            <a:cxnLst/>
            <a:rect l="l" t="t" r="r" b="b"/>
            <a:pathLst>
              <a:path w="600075" h="285750">
                <a:moveTo>
                  <a:pt x="457200" y="0"/>
                </a:moveTo>
                <a:lnTo>
                  <a:pt x="457200" y="71500"/>
                </a:lnTo>
                <a:lnTo>
                  <a:pt x="0" y="71500"/>
                </a:lnTo>
                <a:lnTo>
                  <a:pt x="0" y="214375"/>
                </a:lnTo>
                <a:lnTo>
                  <a:pt x="457200" y="214375"/>
                </a:lnTo>
                <a:lnTo>
                  <a:pt x="457200" y="285750"/>
                </a:lnTo>
                <a:lnTo>
                  <a:pt x="600075" y="142875"/>
                </a:lnTo>
                <a:lnTo>
                  <a:pt x="4572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460490" y="5606415"/>
            <a:ext cx="6921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Output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29475" y="5267325"/>
            <a:ext cx="2009775" cy="361950"/>
          </a:xfrm>
          <a:prstGeom prst="rect">
            <a:avLst/>
          </a:prstGeom>
          <a:solidFill>
            <a:srgbClr val="6FAC46"/>
          </a:solidFill>
        </p:spPr>
        <p:txBody>
          <a:bodyPr vert="horz" wrap="square" lIns="0" tIns="31114" rIns="0" bIns="0" rtlCol="0">
            <a:spAutoFit/>
          </a:bodyPr>
          <a:lstStyle/>
          <a:p>
            <a:pPr marL="7620" algn="ctr">
              <a:lnSpc>
                <a:spcPct val="100000"/>
              </a:lnSpc>
              <a:spcBef>
                <a:spcPts val="244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33239" y="6398895"/>
            <a:ext cx="6007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EC7C30"/>
                </a:solidFill>
                <a:latin typeface="Calibri"/>
                <a:cs typeface="Calibri"/>
              </a:rPr>
              <a:t>Buffer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9553575" y="4705350"/>
          <a:ext cx="2000250" cy="1551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970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T w="285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461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9377426" y="4557712"/>
            <a:ext cx="2381250" cy="1809750"/>
          </a:xfrm>
          <a:custGeom>
            <a:avLst/>
            <a:gdLst/>
            <a:ahLst/>
            <a:cxnLst/>
            <a:rect l="l" t="t" r="r" b="b"/>
            <a:pathLst>
              <a:path w="2381250" h="1809750">
                <a:moveTo>
                  <a:pt x="0" y="1809750"/>
                </a:moveTo>
                <a:lnTo>
                  <a:pt x="2381250" y="1809750"/>
                </a:lnTo>
                <a:lnTo>
                  <a:pt x="2381250" y="0"/>
                </a:lnTo>
                <a:lnTo>
                  <a:pt x="0" y="0"/>
                </a:lnTo>
                <a:lnTo>
                  <a:pt x="0" y="1809750"/>
                </a:lnTo>
                <a:close/>
              </a:path>
            </a:pathLst>
          </a:custGeom>
          <a:ln w="28575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0269601" y="6448107"/>
            <a:ext cx="6019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EC7C30"/>
                </a:solidFill>
                <a:latin typeface="Calibri"/>
                <a:cs typeface="Calibri"/>
              </a:rPr>
              <a:t>Buffer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Input</a:t>
            </a:r>
            <a:r>
              <a:rPr spc="-65" dirty="0"/>
              <a:t> </a:t>
            </a:r>
            <a:r>
              <a:rPr dirty="0"/>
              <a:t>Pipeline</a:t>
            </a:r>
            <a:r>
              <a:rPr spc="-60" dirty="0"/>
              <a:t> </a:t>
            </a:r>
            <a:r>
              <a:rPr dirty="0"/>
              <a:t>-</a:t>
            </a:r>
            <a:r>
              <a:rPr spc="-45" dirty="0"/>
              <a:t> </a:t>
            </a:r>
            <a:r>
              <a:rPr spc="-10" dirty="0"/>
              <a:t>TensorFlow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54504"/>
            <a:ext cx="8962390" cy="88963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spc="-10" dirty="0">
                <a:latin typeface="Calibri"/>
                <a:cs typeface="Calibri"/>
              </a:rPr>
              <a:t>Transformations</a:t>
            </a:r>
            <a:endParaRPr sz="275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b="1" dirty="0">
                <a:latin typeface="Calibri"/>
                <a:cs typeface="Calibri"/>
              </a:rPr>
              <a:t>Batch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combines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consecutive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dataset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batches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5028" y="3826192"/>
            <a:ext cx="9533255" cy="725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2755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dirty="0">
                <a:latin typeface="Calibri"/>
                <a:cs typeface="Calibri"/>
              </a:rPr>
              <a:t>Be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careful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apply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shuffle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after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batch,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you'll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shuffled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batch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but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55"/>
              </a:lnSpc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batch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remains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same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714625" y="3076575"/>
            <a:ext cx="6334125" cy="447675"/>
            <a:chOff x="2714625" y="3076575"/>
            <a:chExt cx="6334125" cy="4476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4625" y="3095625"/>
              <a:ext cx="6057900" cy="3714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72425" y="3076575"/>
              <a:ext cx="1076325" cy="447675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1352550" y="5057775"/>
            <a:ext cx="542925" cy="542925"/>
          </a:xfrm>
          <a:custGeom>
            <a:avLst/>
            <a:gdLst/>
            <a:ahLst/>
            <a:cxnLst/>
            <a:rect l="l" t="t" r="r" b="b"/>
            <a:pathLst>
              <a:path w="542925" h="542925">
                <a:moveTo>
                  <a:pt x="542925" y="0"/>
                </a:moveTo>
                <a:lnTo>
                  <a:pt x="0" y="0"/>
                </a:lnTo>
                <a:lnTo>
                  <a:pt x="0" y="542925"/>
                </a:lnTo>
                <a:lnTo>
                  <a:pt x="542925" y="542925"/>
                </a:lnTo>
                <a:lnTo>
                  <a:pt x="542925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28825" y="5057775"/>
            <a:ext cx="542925" cy="542925"/>
          </a:xfrm>
          <a:custGeom>
            <a:avLst/>
            <a:gdLst/>
            <a:ahLst/>
            <a:cxnLst/>
            <a:rect l="l" t="t" r="r" b="b"/>
            <a:pathLst>
              <a:path w="542925" h="542925">
                <a:moveTo>
                  <a:pt x="542925" y="0"/>
                </a:moveTo>
                <a:lnTo>
                  <a:pt x="0" y="0"/>
                </a:lnTo>
                <a:lnTo>
                  <a:pt x="0" y="542925"/>
                </a:lnTo>
                <a:lnTo>
                  <a:pt x="542925" y="542925"/>
                </a:lnTo>
                <a:lnTo>
                  <a:pt x="542925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05100" y="5057775"/>
            <a:ext cx="542925" cy="542925"/>
          </a:xfrm>
          <a:custGeom>
            <a:avLst/>
            <a:gdLst/>
            <a:ahLst/>
            <a:cxnLst/>
            <a:rect l="l" t="t" r="r" b="b"/>
            <a:pathLst>
              <a:path w="542925" h="542925">
                <a:moveTo>
                  <a:pt x="542925" y="0"/>
                </a:moveTo>
                <a:lnTo>
                  <a:pt x="0" y="0"/>
                </a:lnTo>
                <a:lnTo>
                  <a:pt x="0" y="542925"/>
                </a:lnTo>
                <a:lnTo>
                  <a:pt x="542925" y="542925"/>
                </a:lnTo>
                <a:lnTo>
                  <a:pt x="542925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90900" y="5057775"/>
            <a:ext cx="533400" cy="542925"/>
          </a:xfrm>
          <a:custGeom>
            <a:avLst/>
            <a:gdLst/>
            <a:ahLst/>
            <a:cxnLst/>
            <a:rect l="l" t="t" r="r" b="b"/>
            <a:pathLst>
              <a:path w="533400" h="542925">
                <a:moveTo>
                  <a:pt x="533400" y="0"/>
                </a:moveTo>
                <a:lnTo>
                  <a:pt x="0" y="0"/>
                </a:lnTo>
                <a:lnTo>
                  <a:pt x="0" y="542925"/>
                </a:lnTo>
                <a:lnTo>
                  <a:pt x="533400" y="542925"/>
                </a:lnTo>
                <a:lnTo>
                  <a:pt x="533400" y="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067175" y="5057775"/>
            <a:ext cx="542925" cy="542925"/>
          </a:xfrm>
          <a:custGeom>
            <a:avLst/>
            <a:gdLst/>
            <a:ahLst/>
            <a:cxnLst/>
            <a:rect l="l" t="t" r="r" b="b"/>
            <a:pathLst>
              <a:path w="542925" h="542925">
                <a:moveTo>
                  <a:pt x="542925" y="0"/>
                </a:moveTo>
                <a:lnTo>
                  <a:pt x="0" y="0"/>
                </a:lnTo>
                <a:lnTo>
                  <a:pt x="0" y="542925"/>
                </a:lnTo>
                <a:lnTo>
                  <a:pt x="542925" y="542925"/>
                </a:lnTo>
                <a:lnTo>
                  <a:pt x="542925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1457325" y="5772150"/>
            <a:ext cx="1076325" cy="542925"/>
            <a:chOff x="1457325" y="5772150"/>
            <a:chExt cx="1076325" cy="542925"/>
          </a:xfrm>
        </p:grpSpPr>
        <p:sp>
          <p:nvSpPr>
            <p:cNvPr id="14" name="object 14"/>
            <p:cNvSpPr/>
            <p:nvPr/>
          </p:nvSpPr>
          <p:spPr>
            <a:xfrm>
              <a:off x="2000250" y="5772150"/>
              <a:ext cx="533400" cy="542925"/>
            </a:xfrm>
            <a:custGeom>
              <a:avLst/>
              <a:gdLst/>
              <a:ahLst/>
              <a:cxnLst/>
              <a:rect l="l" t="t" r="r" b="b"/>
              <a:pathLst>
                <a:path w="533400" h="542925">
                  <a:moveTo>
                    <a:pt x="533400" y="0"/>
                  </a:moveTo>
                  <a:lnTo>
                    <a:pt x="0" y="0"/>
                  </a:lnTo>
                  <a:lnTo>
                    <a:pt x="0" y="542925"/>
                  </a:lnTo>
                  <a:lnTo>
                    <a:pt x="533400" y="542925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57325" y="5772150"/>
              <a:ext cx="542925" cy="542925"/>
            </a:xfrm>
            <a:custGeom>
              <a:avLst/>
              <a:gdLst/>
              <a:ahLst/>
              <a:cxnLst/>
              <a:rect l="l" t="t" r="r" b="b"/>
              <a:pathLst>
                <a:path w="542925" h="542925">
                  <a:moveTo>
                    <a:pt x="542925" y="0"/>
                  </a:moveTo>
                  <a:lnTo>
                    <a:pt x="0" y="0"/>
                  </a:lnTo>
                  <a:lnTo>
                    <a:pt x="0" y="542925"/>
                  </a:lnTo>
                  <a:lnTo>
                    <a:pt x="542925" y="542925"/>
                  </a:lnTo>
                  <a:lnTo>
                    <a:pt x="542925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2733675" y="5772150"/>
            <a:ext cx="1085850" cy="542925"/>
            <a:chOff x="2733675" y="5772150"/>
            <a:chExt cx="1085850" cy="542925"/>
          </a:xfrm>
        </p:grpSpPr>
        <p:sp>
          <p:nvSpPr>
            <p:cNvPr id="17" name="object 17"/>
            <p:cNvSpPr/>
            <p:nvPr/>
          </p:nvSpPr>
          <p:spPr>
            <a:xfrm>
              <a:off x="3276600" y="5772150"/>
              <a:ext cx="542925" cy="542925"/>
            </a:xfrm>
            <a:custGeom>
              <a:avLst/>
              <a:gdLst/>
              <a:ahLst/>
              <a:cxnLst/>
              <a:rect l="l" t="t" r="r" b="b"/>
              <a:pathLst>
                <a:path w="542925" h="542925">
                  <a:moveTo>
                    <a:pt x="542925" y="0"/>
                  </a:moveTo>
                  <a:lnTo>
                    <a:pt x="0" y="0"/>
                  </a:lnTo>
                  <a:lnTo>
                    <a:pt x="0" y="542925"/>
                  </a:lnTo>
                  <a:lnTo>
                    <a:pt x="542925" y="542925"/>
                  </a:lnTo>
                  <a:lnTo>
                    <a:pt x="542925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33675" y="5772150"/>
              <a:ext cx="542925" cy="542925"/>
            </a:xfrm>
            <a:custGeom>
              <a:avLst/>
              <a:gdLst/>
              <a:ahLst/>
              <a:cxnLst/>
              <a:rect l="l" t="t" r="r" b="b"/>
              <a:pathLst>
                <a:path w="542925" h="542925">
                  <a:moveTo>
                    <a:pt x="542925" y="0"/>
                  </a:moveTo>
                  <a:lnTo>
                    <a:pt x="0" y="0"/>
                  </a:lnTo>
                  <a:lnTo>
                    <a:pt x="0" y="542925"/>
                  </a:lnTo>
                  <a:lnTo>
                    <a:pt x="542925" y="542925"/>
                  </a:lnTo>
                  <a:lnTo>
                    <a:pt x="542925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3943350" y="5772150"/>
            <a:ext cx="542925" cy="542925"/>
          </a:xfrm>
          <a:custGeom>
            <a:avLst/>
            <a:gdLst/>
            <a:ahLst/>
            <a:cxnLst/>
            <a:rect l="l" t="t" r="r" b="b"/>
            <a:pathLst>
              <a:path w="542925" h="542925">
                <a:moveTo>
                  <a:pt x="542925" y="0"/>
                </a:moveTo>
                <a:lnTo>
                  <a:pt x="0" y="0"/>
                </a:lnTo>
                <a:lnTo>
                  <a:pt x="0" y="542925"/>
                </a:lnTo>
                <a:lnTo>
                  <a:pt x="542925" y="542925"/>
                </a:lnTo>
                <a:lnTo>
                  <a:pt x="542925" y="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6877050" y="5057775"/>
            <a:ext cx="1085850" cy="542925"/>
            <a:chOff x="6877050" y="5057775"/>
            <a:chExt cx="1085850" cy="542925"/>
          </a:xfrm>
        </p:grpSpPr>
        <p:sp>
          <p:nvSpPr>
            <p:cNvPr id="21" name="object 21"/>
            <p:cNvSpPr/>
            <p:nvPr/>
          </p:nvSpPr>
          <p:spPr>
            <a:xfrm>
              <a:off x="6877050" y="5057775"/>
              <a:ext cx="542925" cy="542925"/>
            </a:xfrm>
            <a:custGeom>
              <a:avLst/>
              <a:gdLst/>
              <a:ahLst/>
              <a:cxnLst/>
              <a:rect l="l" t="t" r="r" b="b"/>
              <a:pathLst>
                <a:path w="542925" h="542925">
                  <a:moveTo>
                    <a:pt x="542925" y="0"/>
                  </a:moveTo>
                  <a:lnTo>
                    <a:pt x="0" y="0"/>
                  </a:lnTo>
                  <a:lnTo>
                    <a:pt x="0" y="542925"/>
                  </a:lnTo>
                  <a:lnTo>
                    <a:pt x="542925" y="542925"/>
                  </a:lnTo>
                  <a:lnTo>
                    <a:pt x="54292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419975" y="5057775"/>
              <a:ext cx="542925" cy="542925"/>
            </a:xfrm>
            <a:custGeom>
              <a:avLst/>
              <a:gdLst/>
              <a:ahLst/>
              <a:cxnLst/>
              <a:rect l="l" t="t" r="r" b="b"/>
              <a:pathLst>
                <a:path w="542925" h="542925">
                  <a:moveTo>
                    <a:pt x="542925" y="0"/>
                  </a:moveTo>
                  <a:lnTo>
                    <a:pt x="0" y="0"/>
                  </a:lnTo>
                  <a:lnTo>
                    <a:pt x="0" y="542925"/>
                  </a:lnTo>
                  <a:lnTo>
                    <a:pt x="542925" y="542925"/>
                  </a:lnTo>
                  <a:lnTo>
                    <a:pt x="542925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8096250" y="5057775"/>
            <a:ext cx="1076325" cy="542925"/>
            <a:chOff x="8096250" y="5057775"/>
            <a:chExt cx="1076325" cy="542925"/>
          </a:xfrm>
        </p:grpSpPr>
        <p:sp>
          <p:nvSpPr>
            <p:cNvPr id="24" name="object 24"/>
            <p:cNvSpPr/>
            <p:nvPr/>
          </p:nvSpPr>
          <p:spPr>
            <a:xfrm>
              <a:off x="8096250" y="5057775"/>
              <a:ext cx="533400" cy="542925"/>
            </a:xfrm>
            <a:custGeom>
              <a:avLst/>
              <a:gdLst/>
              <a:ahLst/>
              <a:cxnLst/>
              <a:rect l="l" t="t" r="r" b="b"/>
              <a:pathLst>
                <a:path w="533400" h="542925">
                  <a:moveTo>
                    <a:pt x="0" y="542925"/>
                  </a:moveTo>
                  <a:lnTo>
                    <a:pt x="533400" y="542925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542925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629650" y="5057775"/>
              <a:ext cx="542925" cy="542925"/>
            </a:xfrm>
            <a:custGeom>
              <a:avLst/>
              <a:gdLst/>
              <a:ahLst/>
              <a:cxnLst/>
              <a:rect l="l" t="t" r="r" b="b"/>
              <a:pathLst>
                <a:path w="542925" h="542925">
                  <a:moveTo>
                    <a:pt x="542925" y="0"/>
                  </a:moveTo>
                  <a:lnTo>
                    <a:pt x="0" y="0"/>
                  </a:lnTo>
                  <a:lnTo>
                    <a:pt x="0" y="542925"/>
                  </a:lnTo>
                  <a:lnTo>
                    <a:pt x="542925" y="542925"/>
                  </a:lnTo>
                  <a:lnTo>
                    <a:pt x="542925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9420225" y="5057775"/>
            <a:ext cx="542925" cy="542925"/>
          </a:xfrm>
          <a:custGeom>
            <a:avLst/>
            <a:gdLst/>
            <a:ahLst/>
            <a:cxnLst/>
            <a:rect l="l" t="t" r="r" b="b"/>
            <a:pathLst>
              <a:path w="542925" h="542925">
                <a:moveTo>
                  <a:pt x="542925" y="0"/>
                </a:moveTo>
                <a:lnTo>
                  <a:pt x="0" y="0"/>
                </a:lnTo>
                <a:lnTo>
                  <a:pt x="0" y="542925"/>
                </a:lnTo>
                <a:lnTo>
                  <a:pt x="542925" y="542925"/>
                </a:lnTo>
                <a:lnTo>
                  <a:pt x="542925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7858125" y="5772150"/>
            <a:ext cx="1076325" cy="542925"/>
            <a:chOff x="7858125" y="5772150"/>
            <a:chExt cx="1076325" cy="542925"/>
          </a:xfrm>
        </p:grpSpPr>
        <p:sp>
          <p:nvSpPr>
            <p:cNvPr id="28" name="object 28"/>
            <p:cNvSpPr/>
            <p:nvPr/>
          </p:nvSpPr>
          <p:spPr>
            <a:xfrm>
              <a:off x="7858125" y="5772150"/>
              <a:ext cx="533400" cy="542925"/>
            </a:xfrm>
            <a:custGeom>
              <a:avLst/>
              <a:gdLst/>
              <a:ahLst/>
              <a:cxnLst/>
              <a:rect l="l" t="t" r="r" b="b"/>
              <a:pathLst>
                <a:path w="533400" h="542925">
                  <a:moveTo>
                    <a:pt x="533400" y="0"/>
                  </a:moveTo>
                  <a:lnTo>
                    <a:pt x="0" y="0"/>
                  </a:lnTo>
                  <a:lnTo>
                    <a:pt x="0" y="542925"/>
                  </a:lnTo>
                  <a:lnTo>
                    <a:pt x="533400" y="542925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391525" y="5772150"/>
              <a:ext cx="542925" cy="542925"/>
            </a:xfrm>
            <a:custGeom>
              <a:avLst/>
              <a:gdLst/>
              <a:ahLst/>
              <a:cxnLst/>
              <a:rect l="l" t="t" r="r" b="b"/>
              <a:pathLst>
                <a:path w="542925" h="542925">
                  <a:moveTo>
                    <a:pt x="542925" y="0"/>
                  </a:moveTo>
                  <a:lnTo>
                    <a:pt x="0" y="0"/>
                  </a:lnTo>
                  <a:lnTo>
                    <a:pt x="0" y="542925"/>
                  </a:lnTo>
                  <a:lnTo>
                    <a:pt x="542925" y="542925"/>
                  </a:lnTo>
                  <a:lnTo>
                    <a:pt x="542925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9163050" y="5772150"/>
            <a:ext cx="1066800" cy="542925"/>
            <a:chOff x="9163050" y="5772150"/>
            <a:chExt cx="1066800" cy="542925"/>
          </a:xfrm>
        </p:grpSpPr>
        <p:sp>
          <p:nvSpPr>
            <p:cNvPr id="31" name="object 31"/>
            <p:cNvSpPr/>
            <p:nvPr/>
          </p:nvSpPr>
          <p:spPr>
            <a:xfrm>
              <a:off x="9163050" y="5772150"/>
              <a:ext cx="533400" cy="542925"/>
            </a:xfrm>
            <a:custGeom>
              <a:avLst/>
              <a:gdLst/>
              <a:ahLst/>
              <a:cxnLst/>
              <a:rect l="l" t="t" r="r" b="b"/>
              <a:pathLst>
                <a:path w="533400" h="542925">
                  <a:moveTo>
                    <a:pt x="533400" y="0"/>
                  </a:moveTo>
                  <a:lnTo>
                    <a:pt x="0" y="0"/>
                  </a:lnTo>
                  <a:lnTo>
                    <a:pt x="0" y="542925"/>
                  </a:lnTo>
                  <a:lnTo>
                    <a:pt x="533400" y="542925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696450" y="5772150"/>
              <a:ext cx="533400" cy="542925"/>
            </a:xfrm>
            <a:custGeom>
              <a:avLst/>
              <a:gdLst/>
              <a:ahLst/>
              <a:cxnLst/>
              <a:rect l="l" t="t" r="r" b="b"/>
              <a:pathLst>
                <a:path w="533400" h="542925">
                  <a:moveTo>
                    <a:pt x="533400" y="0"/>
                  </a:moveTo>
                  <a:lnTo>
                    <a:pt x="0" y="0"/>
                  </a:lnTo>
                  <a:lnTo>
                    <a:pt x="0" y="542925"/>
                  </a:lnTo>
                  <a:lnTo>
                    <a:pt x="533400" y="542925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/>
          <p:nvPr/>
        </p:nvSpPr>
        <p:spPr>
          <a:xfrm>
            <a:off x="6877050" y="5772150"/>
            <a:ext cx="542925" cy="542925"/>
          </a:xfrm>
          <a:custGeom>
            <a:avLst/>
            <a:gdLst/>
            <a:ahLst/>
            <a:cxnLst/>
            <a:rect l="l" t="t" r="r" b="b"/>
            <a:pathLst>
              <a:path w="542925" h="542925">
                <a:moveTo>
                  <a:pt x="542925" y="0"/>
                </a:moveTo>
                <a:lnTo>
                  <a:pt x="0" y="0"/>
                </a:lnTo>
                <a:lnTo>
                  <a:pt x="0" y="542925"/>
                </a:lnTo>
                <a:lnTo>
                  <a:pt x="542925" y="542925"/>
                </a:lnTo>
                <a:lnTo>
                  <a:pt x="542925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238375" y="6417945"/>
            <a:ext cx="14776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shuffle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-</a:t>
            </a:r>
            <a:r>
              <a:rPr sz="1800" dirty="0">
                <a:latin typeface="Calibri"/>
                <a:cs typeface="Calibri"/>
              </a:rPr>
              <a:t>&gt;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batch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930260" y="6417945"/>
            <a:ext cx="14738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batch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-</a:t>
            </a:r>
            <a:r>
              <a:rPr sz="1800" dirty="0">
                <a:latin typeface="Calibri"/>
                <a:cs typeface="Calibri"/>
              </a:rPr>
              <a:t>&gt;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shuffle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Input</a:t>
            </a:r>
            <a:r>
              <a:rPr spc="-65" dirty="0"/>
              <a:t> </a:t>
            </a:r>
            <a:r>
              <a:rPr dirty="0"/>
              <a:t>Pipeline</a:t>
            </a:r>
            <a:r>
              <a:rPr spc="-60" dirty="0"/>
              <a:t> </a:t>
            </a:r>
            <a:r>
              <a:rPr dirty="0"/>
              <a:t>-</a:t>
            </a:r>
            <a:r>
              <a:rPr spc="-45" dirty="0"/>
              <a:t> </a:t>
            </a:r>
            <a:r>
              <a:rPr spc="-10" dirty="0"/>
              <a:t>TensorFlow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54504"/>
            <a:ext cx="9595485" cy="88963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spc="-10" dirty="0">
                <a:latin typeface="Calibri"/>
                <a:cs typeface="Calibri"/>
              </a:rPr>
              <a:t>Transformations</a:t>
            </a:r>
            <a:endParaRPr sz="275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b="1" dirty="0">
                <a:latin typeface="Calibri"/>
                <a:cs typeface="Calibri"/>
              </a:rPr>
              <a:t>Repeat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repeat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dataset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original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seen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times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162425" y="2943225"/>
            <a:ext cx="5067300" cy="485775"/>
            <a:chOff x="3162425" y="2943225"/>
            <a:chExt cx="5067300" cy="4857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2425" y="2990850"/>
              <a:ext cx="4829049" cy="381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43750" y="2943225"/>
              <a:ext cx="1085850" cy="485775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00200" y="3676650"/>
            <a:ext cx="3571875" cy="25527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81675" y="3676650"/>
            <a:ext cx="3600450" cy="25527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Input</a:t>
            </a:r>
            <a:r>
              <a:rPr spc="-65" dirty="0"/>
              <a:t> </a:t>
            </a:r>
            <a:r>
              <a:rPr dirty="0"/>
              <a:t>Pipeline</a:t>
            </a:r>
            <a:r>
              <a:rPr spc="-60" dirty="0"/>
              <a:t> </a:t>
            </a:r>
            <a:r>
              <a:rPr dirty="0"/>
              <a:t>-</a:t>
            </a:r>
            <a:r>
              <a:rPr spc="-45" dirty="0"/>
              <a:t> </a:t>
            </a:r>
            <a:r>
              <a:rPr spc="-10" dirty="0"/>
              <a:t>TensorFlow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241300" algn="l"/>
              </a:tabLst>
            </a:pPr>
            <a:r>
              <a:rPr spc="-10" dirty="0"/>
              <a:t>Transformations</a:t>
            </a:r>
          </a:p>
          <a:p>
            <a:pPr marL="697865" marR="5080" lvl="1" indent="-227965">
              <a:lnSpc>
                <a:spcPts val="2630"/>
              </a:lnSpc>
              <a:spcBef>
                <a:spcPts val="57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b="1" dirty="0">
                <a:latin typeface="Calibri"/>
                <a:cs typeface="Calibri"/>
              </a:rPr>
              <a:t>Prefetch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allows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later elements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prepared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current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 	</a:t>
            </a:r>
            <a:r>
              <a:rPr sz="2400" dirty="0">
                <a:latin typeface="Calibri"/>
                <a:cs typeface="Calibri"/>
              </a:rPr>
              <a:t>being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processed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ts val="2715"/>
              </a:lnSpc>
              <a:spcBef>
                <a:spcPts val="15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often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improves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latency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throughput,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cost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additional</a:t>
            </a:r>
            <a:endParaRPr sz="2400">
              <a:latin typeface="Calibri"/>
              <a:cs typeface="Calibri"/>
            </a:endParaRPr>
          </a:p>
          <a:p>
            <a:pPr marL="699135">
              <a:lnSpc>
                <a:spcPts val="2715"/>
              </a:lnSpc>
            </a:pPr>
            <a:r>
              <a:rPr sz="2400" dirty="0"/>
              <a:t>memory</a:t>
            </a:r>
            <a:r>
              <a:rPr sz="2400" spc="-35" dirty="0"/>
              <a:t> </a:t>
            </a:r>
            <a:r>
              <a:rPr sz="2400" dirty="0"/>
              <a:t>to</a:t>
            </a:r>
            <a:r>
              <a:rPr sz="2400" spc="-50" dirty="0"/>
              <a:t> </a:t>
            </a:r>
            <a:r>
              <a:rPr sz="2400" dirty="0"/>
              <a:t>store</a:t>
            </a:r>
            <a:r>
              <a:rPr sz="2400" spc="-50" dirty="0"/>
              <a:t> </a:t>
            </a:r>
            <a:r>
              <a:rPr sz="2400" dirty="0"/>
              <a:t>prefetched</a:t>
            </a:r>
            <a:r>
              <a:rPr sz="2400" spc="-45" dirty="0"/>
              <a:t> </a:t>
            </a:r>
            <a:r>
              <a:rPr sz="2400" spc="-10" dirty="0"/>
              <a:t>elements</a:t>
            </a:r>
            <a:endParaRPr sz="2400"/>
          </a:p>
        </p:txBody>
      </p:sp>
      <p:grpSp>
        <p:nvGrpSpPr>
          <p:cNvPr id="4" name="object 4"/>
          <p:cNvGrpSpPr/>
          <p:nvPr/>
        </p:nvGrpSpPr>
        <p:grpSpPr>
          <a:xfrm>
            <a:off x="1647825" y="4057650"/>
            <a:ext cx="8134350" cy="438150"/>
            <a:chOff x="1647825" y="4057650"/>
            <a:chExt cx="8134350" cy="4381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7825" y="4086225"/>
              <a:ext cx="7515225" cy="381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29675" y="4057650"/>
              <a:ext cx="952500" cy="4381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643626" y="4395850"/>
              <a:ext cx="3006090" cy="0"/>
            </a:xfrm>
            <a:custGeom>
              <a:avLst/>
              <a:gdLst/>
              <a:ahLst/>
              <a:cxnLst/>
              <a:rect l="l" t="t" r="r" b="b"/>
              <a:pathLst>
                <a:path w="3006090">
                  <a:moveTo>
                    <a:pt x="0" y="0"/>
                  </a:moveTo>
                  <a:lnTo>
                    <a:pt x="300609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475990" y="4536757"/>
            <a:ext cx="712850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prompt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tf.data</a:t>
            </a:r>
            <a:r>
              <a:rPr sz="1550" spc="-43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dirty="0">
                <a:latin typeface="Calibri"/>
                <a:cs typeface="Calibri"/>
              </a:rPr>
              <a:t>runtime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tune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value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dynamically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runtime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Input</a:t>
            </a:r>
            <a:r>
              <a:rPr spc="-65" dirty="0"/>
              <a:t> </a:t>
            </a:r>
            <a:r>
              <a:rPr dirty="0"/>
              <a:t>Pipeline</a:t>
            </a:r>
            <a:r>
              <a:rPr spc="-60" dirty="0"/>
              <a:t> </a:t>
            </a:r>
            <a:r>
              <a:rPr dirty="0"/>
              <a:t>-</a:t>
            </a:r>
            <a:r>
              <a:rPr spc="-45" dirty="0"/>
              <a:t> </a:t>
            </a:r>
            <a:r>
              <a:rPr spc="-10" dirty="0"/>
              <a:t>TensorFlow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241300" algn="l"/>
              </a:tabLst>
            </a:pPr>
            <a:r>
              <a:rPr spc="-10" dirty="0"/>
              <a:t>Transformations</a:t>
            </a:r>
          </a:p>
          <a:p>
            <a:pPr marL="697865" marR="5080" lvl="1" indent="-227965">
              <a:lnSpc>
                <a:spcPts val="2630"/>
              </a:lnSpc>
              <a:spcBef>
                <a:spcPts val="57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b="1" dirty="0">
                <a:latin typeface="Calibri"/>
                <a:cs typeface="Calibri"/>
              </a:rPr>
              <a:t>Prefetch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allows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later elements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prepared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current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 	</a:t>
            </a:r>
            <a:r>
              <a:rPr sz="2400" dirty="0">
                <a:latin typeface="Calibri"/>
                <a:cs typeface="Calibri"/>
              </a:rPr>
              <a:t>being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processed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ts val="2715"/>
              </a:lnSpc>
              <a:spcBef>
                <a:spcPts val="15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often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improves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latency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throughput,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cost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additional</a:t>
            </a:r>
            <a:endParaRPr sz="2400">
              <a:latin typeface="Calibri"/>
              <a:cs typeface="Calibri"/>
            </a:endParaRPr>
          </a:p>
          <a:p>
            <a:pPr marL="699135">
              <a:lnSpc>
                <a:spcPts val="2715"/>
              </a:lnSpc>
            </a:pPr>
            <a:r>
              <a:rPr sz="2400" dirty="0"/>
              <a:t>memory</a:t>
            </a:r>
            <a:r>
              <a:rPr sz="2400" spc="-35" dirty="0"/>
              <a:t> </a:t>
            </a:r>
            <a:r>
              <a:rPr sz="2400" dirty="0"/>
              <a:t>to</a:t>
            </a:r>
            <a:r>
              <a:rPr sz="2400" spc="-50" dirty="0"/>
              <a:t> </a:t>
            </a:r>
            <a:r>
              <a:rPr sz="2400" dirty="0"/>
              <a:t>store</a:t>
            </a:r>
            <a:r>
              <a:rPr sz="2400" spc="-50" dirty="0"/>
              <a:t> </a:t>
            </a:r>
            <a:r>
              <a:rPr sz="2400" dirty="0"/>
              <a:t>prefetched</a:t>
            </a:r>
            <a:r>
              <a:rPr sz="2400" spc="-45" dirty="0"/>
              <a:t> </a:t>
            </a:r>
            <a:r>
              <a:rPr sz="2400" spc="-10" dirty="0"/>
              <a:t>elements</a:t>
            </a:r>
            <a:endParaRPr sz="2400"/>
          </a:p>
        </p:txBody>
      </p:sp>
      <p:grpSp>
        <p:nvGrpSpPr>
          <p:cNvPr id="4" name="object 4"/>
          <p:cNvGrpSpPr/>
          <p:nvPr/>
        </p:nvGrpSpPr>
        <p:grpSpPr>
          <a:xfrm>
            <a:off x="1647825" y="4057650"/>
            <a:ext cx="8134350" cy="438150"/>
            <a:chOff x="1647825" y="4057650"/>
            <a:chExt cx="8134350" cy="4381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7825" y="4086225"/>
              <a:ext cx="7515225" cy="381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29675" y="4057650"/>
              <a:ext cx="952500" cy="4381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643626" y="4395850"/>
              <a:ext cx="3006090" cy="0"/>
            </a:xfrm>
            <a:custGeom>
              <a:avLst/>
              <a:gdLst/>
              <a:ahLst/>
              <a:cxnLst/>
              <a:rect l="l" t="t" r="r" b="b"/>
              <a:pathLst>
                <a:path w="3006090">
                  <a:moveTo>
                    <a:pt x="0" y="0"/>
                  </a:moveTo>
                  <a:lnTo>
                    <a:pt x="300609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076325" y="4543425"/>
            <a:ext cx="9525000" cy="1952625"/>
            <a:chOff x="1076325" y="4543425"/>
            <a:chExt cx="9525000" cy="195262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6325" y="4543425"/>
              <a:ext cx="9525000" cy="195262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195951" y="6415087"/>
              <a:ext cx="3822065" cy="0"/>
            </a:xfrm>
            <a:custGeom>
              <a:avLst/>
              <a:gdLst/>
              <a:ahLst/>
              <a:cxnLst/>
              <a:rect l="l" t="t" r="r" b="b"/>
              <a:pathLst>
                <a:path w="3822065">
                  <a:moveTo>
                    <a:pt x="0" y="0"/>
                  </a:moveTo>
                  <a:lnTo>
                    <a:pt x="3821556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Input</a:t>
            </a:r>
            <a:r>
              <a:rPr spc="-65" dirty="0"/>
              <a:t> </a:t>
            </a:r>
            <a:r>
              <a:rPr dirty="0"/>
              <a:t>Pipeline</a:t>
            </a:r>
            <a:r>
              <a:rPr spc="-60" dirty="0"/>
              <a:t> </a:t>
            </a:r>
            <a:r>
              <a:rPr dirty="0"/>
              <a:t>-</a:t>
            </a:r>
            <a:r>
              <a:rPr spc="-45" dirty="0"/>
              <a:t> </a:t>
            </a:r>
            <a:r>
              <a:rPr spc="-10" dirty="0"/>
              <a:t>TensorFlow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54504"/>
            <a:ext cx="10079355" cy="122364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spc="-10" dirty="0">
                <a:latin typeface="Calibri"/>
                <a:cs typeface="Calibri"/>
              </a:rPr>
              <a:t>Transformations</a:t>
            </a:r>
            <a:endParaRPr sz="2750">
              <a:latin typeface="Calibri"/>
              <a:cs typeface="Calibri"/>
            </a:endParaRPr>
          </a:p>
          <a:p>
            <a:pPr marL="697865" marR="5080" lvl="1" indent="-227965">
              <a:lnSpc>
                <a:spcPts val="2630"/>
              </a:lnSpc>
              <a:spcBef>
                <a:spcPts val="57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b="1" dirty="0">
                <a:latin typeface="Calibri"/>
                <a:cs typeface="Calibri"/>
              </a:rPr>
              <a:t>Prefetch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allows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later elements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prepared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current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 	</a:t>
            </a:r>
            <a:r>
              <a:rPr sz="2400" dirty="0">
                <a:latin typeface="Calibri"/>
                <a:cs typeface="Calibri"/>
              </a:rPr>
              <a:t>being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processed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38300" y="3200400"/>
            <a:ext cx="8134350" cy="438150"/>
            <a:chOff x="1638300" y="3200400"/>
            <a:chExt cx="8134350" cy="4381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8300" y="3228975"/>
              <a:ext cx="7515225" cy="381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20150" y="3200400"/>
              <a:ext cx="952500" cy="4381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634101" y="3548125"/>
              <a:ext cx="3006090" cy="0"/>
            </a:xfrm>
            <a:custGeom>
              <a:avLst/>
              <a:gdLst/>
              <a:ahLst/>
              <a:cxnLst/>
              <a:rect l="l" t="t" r="r" b="b"/>
              <a:pathLst>
                <a:path w="3006090">
                  <a:moveTo>
                    <a:pt x="0" y="0"/>
                  </a:moveTo>
                  <a:lnTo>
                    <a:pt x="300609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464559" y="3678872"/>
            <a:ext cx="71291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prompt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tf.data</a:t>
            </a:r>
            <a:r>
              <a:rPr sz="1550" spc="-43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dirty="0">
                <a:latin typeface="Calibri"/>
                <a:cs typeface="Calibri"/>
              </a:rPr>
              <a:t>runtime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tune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value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dynamically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runtime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85975" y="4295775"/>
            <a:ext cx="8172450" cy="227647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Input</a:t>
            </a:r>
            <a:r>
              <a:rPr spc="-65" dirty="0"/>
              <a:t> </a:t>
            </a:r>
            <a:r>
              <a:rPr dirty="0"/>
              <a:t>Pipeline</a:t>
            </a:r>
            <a:r>
              <a:rPr spc="-60" dirty="0"/>
              <a:t> </a:t>
            </a:r>
            <a:r>
              <a:rPr dirty="0"/>
              <a:t>-</a:t>
            </a:r>
            <a:r>
              <a:rPr spc="-45" dirty="0"/>
              <a:t> </a:t>
            </a:r>
            <a:r>
              <a:rPr spc="-10" dirty="0"/>
              <a:t>TensorFlow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54504"/>
            <a:ext cx="10079355" cy="122364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spc="-10" dirty="0">
                <a:latin typeface="Calibri"/>
                <a:cs typeface="Calibri"/>
              </a:rPr>
              <a:t>Transformations</a:t>
            </a:r>
            <a:endParaRPr sz="2750">
              <a:latin typeface="Calibri"/>
              <a:cs typeface="Calibri"/>
            </a:endParaRPr>
          </a:p>
          <a:p>
            <a:pPr marL="697865" marR="5080" lvl="1" indent="-227965">
              <a:lnSpc>
                <a:spcPts val="2630"/>
              </a:lnSpc>
              <a:spcBef>
                <a:spcPts val="57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b="1" dirty="0">
                <a:latin typeface="Calibri"/>
                <a:cs typeface="Calibri"/>
              </a:rPr>
              <a:t>Prefetch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allows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later elements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prepared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current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 	</a:t>
            </a:r>
            <a:r>
              <a:rPr sz="2400" dirty="0">
                <a:latin typeface="Calibri"/>
                <a:cs typeface="Calibri"/>
              </a:rPr>
              <a:t>being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processed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38300" y="3200400"/>
            <a:ext cx="8134350" cy="438150"/>
            <a:chOff x="1638300" y="3200400"/>
            <a:chExt cx="8134350" cy="4381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8300" y="3228975"/>
              <a:ext cx="7515225" cy="381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20150" y="3200400"/>
              <a:ext cx="952500" cy="4381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634101" y="3548125"/>
              <a:ext cx="3006090" cy="0"/>
            </a:xfrm>
            <a:custGeom>
              <a:avLst/>
              <a:gdLst/>
              <a:ahLst/>
              <a:cxnLst/>
              <a:rect l="l" t="t" r="r" b="b"/>
              <a:pathLst>
                <a:path w="3006090">
                  <a:moveTo>
                    <a:pt x="0" y="0"/>
                  </a:moveTo>
                  <a:lnTo>
                    <a:pt x="300609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464559" y="3678872"/>
            <a:ext cx="71291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prompt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tf.data</a:t>
            </a:r>
            <a:r>
              <a:rPr sz="1550" spc="-43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dirty="0">
                <a:latin typeface="Calibri"/>
                <a:cs typeface="Calibri"/>
              </a:rPr>
              <a:t>runtime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tune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value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dynamically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runtime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85975" y="4295775"/>
            <a:ext cx="8172450" cy="22764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Input</a:t>
            </a:r>
            <a:r>
              <a:rPr spc="-65" dirty="0"/>
              <a:t> </a:t>
            </a:r>
            <a:r>
              <a:rPr dirty="0"/>
              <a:t>Pipeline</a:t>
            </a:r>
            <a:r>
              <a:rPr spc="-60" dirty="0"/>
              <a:t> </a:t>
            </a:r>
            <a:r>
              <a:rPr dirty="0"/>
              <a:t>-</a:t>
            </a:r>
            <a:r>
              <a:rPr spc="-45" dirty="0"/>
              <a:t> </a:t>
            </a:r>
            <a:r>
              <a:rPr spc="-10" dirty="0"/>
              <a:t>TensorFlow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02288"/>
            <a:ext cx="10082530" cy="105664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55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Calibri"/>
                <a:cs typeface="Calibri"/>
              </a:rPr>
              <a:t>Now</a:t>
            </a:r>
            <a:r>
              <a:rPr sz="2750" spc="4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you</a:t>
            </a:r>
            <a:r>
              <a:rPr sz="2750" spc="5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can</a:t>
            </a:r>
            <a:r>
              <a:rPr sz="2750" spc="12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iterate</a:t>
            </a:r>
            <a:r>
              <a:rPr sz="2750" spc="5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through</a:t>
            </a:r>
            <a:r>
              <a:rPr sz="2750" spc="12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the</a:t>
            </a:r>
            <a:r>
              <a:rPr sz="2750" spc="5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data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and</a:t>
            </a:r>
            <a:r>
              <a:rPr sz="2750" spc="5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train</a:t>
            </a:r>
            <a:endParaRPr sz="27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latin typeface="Calibri"/>
                <a:cs typeface="Calibri"/>
              </a:rPr>
              <a:t>Aware</a:t>
            </a:r>
            <a:r>
              <a:rPr sz="2750" spc="6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that</a:t>
            </a:r>
            <a:r>
              <a:rPr sz="2750" spc="7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if</a:t>
            </a:r>
            <a:r>
              <a:rPr sz="2750" spc="7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you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do</a:t>
            </a:r>
            <a:r>
              <a:rPr sz="2750" spc="6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batch,</a:t>
            </a:r>
            <a:r>
              <a:rPr sz="2750" spc="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the</a:t>
            </a:r>
            <a:r>
              <a:rPr sz="2750" spc="7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first</a:t>
            </a:r>
            <a:r>
              <a:rPr sz="2750" spc="7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dimension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will</a:t>
            </a:r>
            <a:r>
              <a:rPr sz="2750" spc="6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be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the</a:t>
            </a:r>
            <a:r>
              <a:rPr sz="2750" spc="7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batch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size</a:t>
            </a:r>
            <a:endParaRPr sz="27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00325" y="3324225"/>
            <a:ext cx="7048500" cy="1352550"/>
            <a:chOff x="2600325" y="3324225"/>
            <a:chExt cx="7048500" cy="13525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0325" y="3390900"/>
              <a:ext cx="5391150" cy="12287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05650" y="3324225"/>
              <a:ext cx="2543175" cy="13525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681351" y="4214875"/>
              <a:ext cx="428625" cy="238125"/>
            </a:xfrm>
            <a:custGeom>
              <a:avLst/>
              <a:gdLst/>
              <a:ahLst/>
              <a:cxnLst/>
              <a:rect l="l" t="t" r="r" b="b"/>
              <a:pathLst>
                <a:path w="428625" h="238125">
                  <a:moveTo>
                    <a:pt x="0" y="238125"/>
                  </a:moveTo>
                  <a:lnTo>
                    <a:pt x="428625" y="238125"/>
                  </a:lnTo>
                  <a:lnTo>
                    <a:pt x="428625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02288"/>
            <a:ext cx="4709795" cy="157162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55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solidFill>
                  <a:srgbClr val="7E7E7E"/>
                </a:solidFill>
                <a:latin typeface="Calibri"/>
                <a:cs typeface="Calibri"/>
              </a:rPr>
              <a:t>Convolution</a:t>
            </a:r>
            <a:r>
              <a:rPr sz="2750" spc="1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7E7E7E"/>
                </a:solidFill>
                <a:latin typeface="Calibri"/>
                <a:cs typeface="Calibri"/>
              </a:rPr>
              <a:t>neural</a:t>
            </a:r>
            <a:r>
              <a:rPr sz="2750" spc="1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750" spc="-10" dirty="0">
                <a:solidFill>
                  <a:srgbClr val="7E7E7E"/>
                </a:solidFill>
                <a:latin typeface="Calibri"/>
                <a:cs typeface="Calibri"/>
              </a:rPr>
              <a:t>network</a:t>
            </a:r>
            <a:endParaRPr sz="27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solidFill>
                  <a:srgbClr val="7E7E7E"/>
                </a:solidFill>
                <a:latin typeface="Calibri"/>
                <a:cs typeface="Calibri"/>
              </a:rPr>
              <a:t>Input</a:t>
            </a:r>
            <a:r>
              <a:rPr sz="2750" spc="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750" spc="-10" dirty="0">
                <a:solidFill>
                  <a:srgbClr val="7E7E7E"/>
                </a:solidFill>
                <a:latin typeface="Calibri"/>
                <a:cs typeface="Calibri"/>
              </a:rPr>
              <a:t>pipeline</a:t>
            </a:r>
            <a:endParaRPr sz="27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latin typeface="Calibri"/>
                <a:cs typeface="Calibri"/>
              </a:rPr>
              <a:t>Optimization</a:t>
            </a:r>
            <a:r>
              <a:rPr sz="2750" spc="6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for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Input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pipeline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5" y="609282"/>
            <a:ext cx="7058659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Optimization</a:t>
            </a:r>
            <a:r>
              <a:rPr spc="-105" dirty="0"/>
              <a:t> </a:t>
            </a:r>
            <a:r>
              <a:rPr dirty="0"/>
              <a:t>for</a:t>
            </a:r>
            <a:r>
              <a:rPr spc="-65" dirty="0"/>
              <a:t> </a:t>
            </a:r>
            <a:r>
              <a:rPr dirty="0"/>
              <a:t>Input</a:t>
            </a:r>
            <a:r>
              <a:rPr spc="-65" dirty="0"/>
              <a:t> </a:t>
            </a:r>
            <a:r>
              <a:rPr spc="-10" dirty="0"/>
              <a:t>pipeline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" y="1759493"/>
            <a:ext cx="11163300" cy="189810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F5EC8CBA-6DA8-532C-0AAC-748CC48B5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1" y="4184107"/>
            <a:ext cx="5867399" cy="2196227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64C5C969-4443-80DE-0236-F8AA88C4F2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800" y="3912682"/>
            <a:ext cx="6096000" cy="247102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2E36DE7-6F1F-41C7-F8CC-57E17F44E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BC8495E-C105-3A4C-298F-EFEA7B93BD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575" y="609282"/>
            <a:ext cx="7058659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Optimization</a:t>
            </a:r>
            <a:r>
              <a:rPr spc="-105" dirty="0"/>
              <a:t> </a:t>
            </a:r>
            <a:r>
              <a:rPr dirty="0"/>
              <a:t>for</a:t>
            </a:r>
            <a:r>
              <a:rPr spc="-65" dirty="0"/>
              <a:t> </a:t>
            </a:r>
            <a:r>
              <a:rPr dirty="0"/>
              <a:t>Input</a:t>
            </a:r>
            <a:r>
              <a:rPr spc="-65" dirty="0"/>
              <a:t> </a:t>
            </a:r>
            <a:r>
              <a:rPr spc="-10" dirty="0"/>
              <a:t>pipeline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471433E-87BA-F313-C510-615A31FD4A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2230"/>
          <a:stretch>
            <a:fillRect/>
          </a:stretch>
        </p:blipFill>
        <p:spPr>
          <a:xfrm>
            <a:off x="2209800" y="3416834"/>
            <a:ext cx="7581900" cy="330501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927C9B5-5222-89ED-C7DC-37AFD46F7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259" y="1371600"/>
            <a:ext cx="9893481" cy="1901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2834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Assignment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2192" y="1887696"/>
            <a:ext cx="9926955" cy="344614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20"/>
              </a:spcBef>
              <a:buSzPct val="75000"/>
              <a:buFont typeface="Arial MT"/>
              <a:buChar char="•"/>
              <a:tabLst>
                <a:tab pos="354965" algn="l"/>
              </a:tabLst>
            </a:pPr>
            <a:r>
              <a:rPr sz="2400" spc="-20" dirty="0">
                <a:latin typeface="Calibri"/>
                <a:cs typeface="Calibri"/>
              </a:rPr>
              <a:t>Goal</a:t>
            </a:r>
            <a:endParaRPr sz="2400" dirty="0">
              <a:latin typeface="Calibri"/>
              <a:cs typeface="Calibri"/>
            </a:endParaRPr>
          </a:p>
          <a:p>
            <a:pPr marL="812800" marR="397510" lvl="1" indent="-342900">
              <a:lnSpc>
                <a:spcPct val="90800"/>
              </a:lnSpc>
              <a:spcBef>
                <a:spcPts val="520"/>
              </a:spcBef>
              <a:buSzPct val="90000"/>
              <a:buFont typeface="Arial MT"/>
              <a:buChar char="•"/>
              <a:tabLst>
                <a:tab pos="812800" algn="l"/>
              </a:tabLst>
            </a:pPr>
            <a:r>
              <a:rPr sz="2000" dirty="0">
                <a:latin typeface="Calibri"/>
                <a:cs typeface="Calibri"/>
              </a:rPr>
              <a:t>Try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some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input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transfromation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mentioned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above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(e.g.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shuffle,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batch,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repeat, </a:t>
            </a:r>
            <a:r>
              <a:rPr sz="2000" dirty="0">
                <a:latin typeface="Calibri"/>
                <a:cs typeface="Calibri"/>
              </a:rPr>
              <a:t>map(random_crop,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random_flip_left_right,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...))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without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optimization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terms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(e.g. </a:t>
            </a:r>
            <a:r>
              <a:rPr sz="2000" dirty="0">
                <a:latin typeface="Calibri"/>
                <a:cs typeface="Calibri"/>
              </a:rPr>
              <a:t>prefetch,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cache,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num_parallel_calls),</a:t>
            </a:r>
            <a:r>
              <a:rPr sz="2000" dirty="0">
                <a:latin typeface="Calibri"/>
                <a:cs typeface="Calibri"/>
              </a:rPr>
              <a:t> comparing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performance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input transfromation</a:t>
            </a:r>
            <a:endParaRPr sz="2000" dirty="0">
              <a:latin typeface="Calibri"/>
              <a:cs typeface="Calibri"/>
            </a:endParaRPr>
          </a:p>
          <a:p>
            <a:pPr marL="812800" lvl="1" indent="-342900">
              <a:lnSpc>
                <a:spcPct val="100000"/>
              </a:lnSpc>
              <a:spcBef>
                <a:spcPts val="225"/>
              </a:spcBef>
              <a:buSzPct val="90000"/>
              <a:buFont typeface="Arial MT"/>
              <a:buChar char="•"/>
              <a:tabLst>
                <a:tab pos="812800" algn="l"/>
              </a:tabLst>
            </a:pPr>
            <a:r>
              <a:rPr sz="2000" dirty="0">
                <a:latin typeface="Calibri"/>
                <a:cs typeface="Calibri"/>
              </a:rPr>
              <a:t>Retrain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optimized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terms,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compare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consuming</a:t>
            </a:r>
            <a:endParaRPr sz="2000" dirty="0">
              <a:latin typeface="Calibri"/>
              <a:cs typeface="Calibri"/>
            </a:endParaRPr>
          </a:p>
          <a:p>
            <a:pPr marL="812800" lvl="1" indent="-342900">
              <a:lnSpc>
                <a:spcPct val="100000"/>
              </a:lnSpc>
              <a:spcBef>
                <a:spcPts val="305"/>
              </a:spcBef>
              <a:buSzPct val="90000"/>
              <a:buFont typeface="Arial MT"/>
              <a:buChar char="•"/>
              <a:tabLst>
                <a:tab pos="812800" algn="l"/>
              </a:tabLst>
            </a:pPr>
            <a:r>
              <a:rPr sz="2000" dirty="0">
                <a:latin typeface="Calibri"/>
                <a:cs typeface="Calibri"/>
              </a:rPr>
              <a:t>Training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both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above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least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epochs</a:t>
            </a:r>
            <a:endParaRPr sz="2000" dirty="0">
              <a:latin typeface="Calibri"/>
              <a:cs typeface="Calibri"/>
            </a:endParaRPr>
          </a:p>
          <a:p>
            <a:pPr marL="812800" lvl="1" indent="-342900">
              <a:lnSpc>
                <a:spcPts val="2290"/>
              </a:lnSpc>
              <a:spcBef>
                <a:spcPts val="229"/>
              </a:spcBef>
              <a:buSzPct val="90000"/>
              <a:buFont typeface="Arial MT"/>
              <a:buChar char="•"/>
              <a:tabLst>
                <a:tab pos="812800" algn="l"/>
              </a:tabLst>
            </a:pPr>
            <a:r>
              <a:rPr sz="2000" dirty="0">
                <a:latin typeface="Calibri"/>
                <a:cs typeface="Calibri"/>
              </a:rPr>
              <a:t>Briefly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summarize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what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explain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performance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results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(accuracy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time</a:t>
            </a:r>
            <a:endParaRPr sz="2000" dirty="0">
              <a:latin typeface="Calibri"/>
              <a:cs typeface="Calibri"/>
            </a:endParaRPr>
          </a:p>
          <a:p>
            <a:pPr marL="812800">
              <a:lnSpc>
                <a:spcPts val="2290"/>
              </a:lnSpc>
            </a:pPr>
            <a:r>
              <a:rPr sz="2000" spc="-10" dirty="0">
                <a:latin typeface="Calibri"/>
                <a:cs typeface="Calibri"/>
              </a:rPr>
              <a:t>consuming)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480"/>
              </a:spcBef>
              <a:buSzPct val="75000"/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Deadline: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202</a:t>
            </a:r>
            <a:r>
              <a:rPr lang="en-US" sz="2400" dirty="0">
                <a:latin typeface="Calibri"/>
                <a:cs typeface="Calibri"/>
              </a:rPr>
              <a:t>5</a:t>
            </a:r>
            <a:r>
              <a:rPr sz="2400" dirty="0">
                <a:latin typeface="Calibri"/>
                <a:cs typeface="Calibri"/>
              </a:rPr>
              <a:t>/10/</a:t>
            </a:r>
            <a:r>
              <a:rPr lang="en-US" sz="2400" dirty="0">
                <a:latin typeface="Calibri"/>
                <a:cs typeface="Calibri"/>
              </a:rPr>
              <a:t>23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(Thr)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00</a:t>
            </a:r>
            <a:r>
              <a:rPr sz="2400" spc="-10" dirty="0">
                <a:latin typeface="Calibri"/>
                <a:cs typeface="Calibri"/>
              </a:rPr>
              <a:t>:</a:t>
            </a:r>
            <a:r>
              <a:rPr lang="en-US" sz="2400" spc="-10" dirty="0">
                <a:latin typeface="Calibri"/>
                <a:cs typeface="Calibri"/>
              </a:rPr>
              <a:t>00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1064</Words>
  <Application>Microsoft Office PowerPoint</Application>
  <PresentationFormat>寬螢幕</PresentationFormat>
  <Paragraphs>208</Paragraphs>
  <Slides>35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40" baseType="lpstr">
      <vt:lpstr>Arial MT</vt:lpstr>
      <vt:lpstr>Calibri</vt:lpstr>
      <vt:lpstr>Consolas</vt:lpstr>
      <vt:lpstr>Times New Roman</vt:lpstr>
      <vt:lpstr>Office Theme</vt:lpstr>
      <vt:lpstr>Lab 11-1 Convolution Neural Network &amp; Data Pipelines</vt:lpstr>
      <vt:lpstr>Outline</vt:lpstr>
      <vt:lpstr>Outline</vt:lpstr>
      <vt:lpstr>Convolution Neural Network</vt:lpstr>
      <vt:lpstr>Convolution Neural Network</vt:lpstr>
      <vt:lpstr>Convolution Neural Network</vt:lpstr>
      <vt:lpstr>Convolution Neural Network</vt:lpstr>
      <vt:lpstr>Convolution Neural Network</vt:lpstr>
      <vt:lpstr>Convolution Neural Network</vt:lpstr>
      <vt:lpstr>Convolution Neural Network</vt:lpstr>
      <vt:lpstr>Convolution Neural Network</vt:lpstr>
      <vt:lpstr>Outline</vt:lpstr>
      <vt:lpstr>Input Pipeline</vt:lpstr>
      <vt:lpstr>Input Pipeline</vt:lpstr>
      <vt:lpstr>Input Pipeline</vt:lpstr>
      <vt:lpstr>Input Pipeline</vt:lpstr>
      <vt:lpstr>Input Pipeline</vt:lpstr>
      <vt:lpstr>Input Pipeline - TensorFlow</vt:lpstr>
      <vt:lpstr>Input Pipeline - TensorFlow</vt:lpstr>
      <vt:lpstr>Input Pipeline - TensorFlow</vt:lpstr>
      <vt:lpstr>Input Pipeline - TensorFlow</vt:lpstr>
      <vt:lpstr>Input Pipeline - TensorFlow</vt:lpstr>
      <vt:lpstr>Input Pipeline - TensorFlow</vt:lpstr>
      <vt:lpstr>Input Pipeline - TensorFlow</vt:lpstr>
      <vt:lpstr>Input Pipeline - TensorFlow</vt:lpstr>
      <vt:lpstr>Input Pipeline - TensorFlow</vt:lpstr>
      <vt:lpstr>Input Pipeline - TensorFlow</vt:lpstr>
      <vt:lpstr>Input Pipeline - TensorFlow</vt:lpstr>
      <vt:lpstr>Input Pipeline - TensorFlow</vt:lpstr>
      <vt:lpstr>Input Pipeline - TensorFlow</vt:lpstr>
      <vt:lpstr>Input Pipeline - TensorFlow</vt:lpstr>
      <vt:lpstr>Outline</vt:lpstr>
      <vt:lpstr>Optimization for Input pipeline</vt:lpstr>
      <vt:lpstr>Optimization for Input pipeline</vt:lpstr>
      <vt:lpstr>Assignment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忠明 郭</cp:lastModifiedBy>
  <cp:revision>4</cp:revision>
  <dcterms:created xsi:type="dcterms:W3CDTF">2025-10-15T17:50:17Z</dcterms:created>
  <dcterms:modified xsi:type="dcterms:W3CDTF">2025-10-15T18:19:38Z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2024-10-24T00:00:00Z</vt:filetime>
  </property>
  <property fmtid="{D5CDD505-2E9C-101B-9397-08002B2CF9AE}" pid="3" name="LastSaved">
    <vt:filetime>2025-10-15T00:00:00Z</vt:filetime>
  </property>
</Properties>
</file>