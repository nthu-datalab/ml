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4"/>
  </p:notesMasterIdLst>
  <p:sldIdLst>
    <p:sldId id="256" r:id="rId2"/>
    <p:sldId id="265" r:id="rId3"/>
    <p:sldId id="259" r:id="rId4"/>
    <p:sldId id="261" r:id="rId5"/>
    <p:sldId id="262" r:id="rId6"/>
    <p:sldId id="260" r:id="rId7"/>
    <p:sldId id="264" r:id="rId8"/>
    <p:sldId id="263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88" r:id="rId33"/>
    <p:sldId id="290" r:id="rId34"/>
    <p:sldId id="292" r:id="rId35"/>
    <p:sldId id="291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4" r:id="rId47"/>
    <p:sldId id="303" r:id="rId48"/>
    <p:sldId id="305" r:id="rId49"/>
    <p:sldId id="306" r:id="rId50"/>
    <p:sldId id="307" r:id="rId51"/>
    <p:sldId id="308" r:id="rId52"/>
    <p:sldId id="309" r:id="rId5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359"/>
    <p:restoredTop sz="94747"/>
  </p:normalViewPr>
  <p:slideViewPr>
    <p:cSldViewPr snapToGrid="0">
      <p:cViewPr>
        <p:scale>
          <a:sx n="126" d="100"/>
          <a:sy n="126" d="100"/>
        </p:scale>
        <p:origin x="180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36EF56-1F55-6345-98C0-9BA29820464C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TW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87BCE2-A4D4-6345-8F1E-64740A16ECF1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857240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7BCE2-A4D4-6345-8F1E-64740A16ECF1}" type="slidenum">
              <a:rPr lang="en-TW" smtClean="0"/>
              <a:t>33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807612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87BCE2-A4D4-6345-8F1E-64740A16ECF1}" type="slidenum">
              <a:rPr lang="en-TW" smtClean="0"/>
              <a:t>42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3016958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5806290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548654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31091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9596129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037149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272550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81906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154444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1760118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405140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44897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A7A893-04CD-5F4A-A578-1B93FE97B4FD}" type="datetimeFigureOut">
              <a:rPr lang="en-TW" smtClean="0"/>
              <a:t>2026/10/27</a:t>
            </a:fld>
            <a:endParaRPr lang="en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CB13E0-4FEE-2A44-8FA2-03272A193C04}" type="slidenum">
              <a:rPr lang="en-TW" smtClean="0"/>
              <a:t>‹#›</a:t>
            </a:fld>
            <a:endParaRPr lang="en-TW"/>
          </a:p>
        </p:txBody>
      </p:sp>
    </p:spTree>
    <p:extLst>
      <p:ext uri="{BB962C8B-B14F-4D97-AF65-F5344CB8AC3E}">
        <p14:creationId xmlns:p14="http://schemas.microsoft.com/office/powerpoint/2010/main" val="233446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1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2C89E-7030-89E8-AD22-C39BDC7F66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TW" sz="4800" dirty="0"/>
              <a:t>Deep Learning Lab 11-2 </a:t>
            </a:r>
            <a:br>
              <a:rPr lang="en-TW" sz="4800" dirty="0"/>
            </a:br>
            <a:r>
              <a:rPr lang="en-US" sz="4800" dirty="0"/>
              <a:t>Visualization &amp; Style Transfer </a:t>
            </a:r>
            <a:endParaRPr lang="en-TW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B9E7DD-F78C-4E26-79E2-8EC5EC9F69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189179"/>
            <a:ext cx="6858000" cy="1655762"/>
          </a:xfrm>
        </p:spPr>
        <p:txBody>
          <a:bodyPr/>
          <a:lstStyle/>
          <a:p>
            <a:r>
              <a:rPr lang="en-TW" dirty="0">
                <a:solidFill>
                  <a:srgbClr val="919191"/>
                </a:solidFill>
                <a:latin typeface="ArialMT"/>
              </a:rPr>
              <a:t>Datalab</a:t>
            </a:r>
          </a:p>
          <a:p>
            <a:r>
              <a:rPr lang="en-US" sz="1350" dirty="0">
                <a:solidFill>
                  <a:srgbClr val="919191"/>
                </a:solidFill>
                <a:latin typeface="ArialMT"/>
              </a:rPr>
              <a:t>Department of Computer Science, </a:t>
            </a:r>
          </a:p>
          <a:p>
            <a:r>
              <a:rPr lang="en-US" sz="1350" dirty="0">
                <a:solidFill>
                  <a:srgbClr val="919191"/>
                </a:solidFill>
                <a:latin typeface="ArialMT"/>
              </a:rPr>
              <a:t>National Tsing Hua University, </a:t>
            </a:r>
          </a:p>
          <a:p>
            <a:r>
              <a:rPr lang="en-US" sz="1350" dirty="0">
                <a:solidFill>
                  <a:srgbClr val="919191"/>
                </a:solidFill>
                <a:latin typeface="ArialMT"/>
              </a:rPr>
              <a:t>Taiwan </a:t>
            </a:r>
            <a:endParaRPr lang="en-US" dirty="0">
              <a:effectLst/>
            </a:endParaRP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2855060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5E09-E4F8-AF92-D0F7-6ABA87F9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3E30-5FB9-41C9-72E0-9002CD3B6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Visualization </a:t>
            </a:r>
          </a:p>
          <a:p>
            <a:r>
              <a:rPr lang="en-TW" dirty="0"/>
              <a:t>Neural Style Transfer</a:t>
            </a:r>
          </a:p>
          <a:p>
            <a:pPr lvl="1"/>
            <a:r>
              <a:rPr lang="en-TW" altLang="en-TW" dirty="0"/>
              <a:t>A Neural Algorithm of Artistic Style </a:t>
            </a:r>
          </a:p>
          <a:p>
            <a:pPr lvl="1"/>
            <a:r>
              <a:rPr lang="en-TW" dirty="0"/>
              <a:t>AdaIN (Adaptive Instance Normalization)</a:t>
            </a:r>
          </a:p>
        </p:txBody>
      </p:sp>
      <p:pic>
        <p:nvPicPr>
          <p:cNvPr id="1029" name="Picture 5" descr="page3image853840">
            <a:extLst>
              <a:ext uri="{FF2B5EF4-FFF2-40B4-BE49-F238E27FC236}">
                <a16:creationId xmlns:a16="http://schemas.microsoft.com/office/drawing/2014/main" id="{FB79422D-EFF6-3BB7-CC4C-E6AF7967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35433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EEFDDD6A-C4EA-B77C-C29E-A58D2114B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TW" altLang="en-TW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4482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B270-3F8F-0778-598E-DBFAF6BD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VGG19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3283C-8E64-8C58-72F5-2690A4B3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VGG19 is known for its simplicity, using only 3×3 convolutional layers stacked on top of each other in increasing depth.</a:t>
            </a:r>
          </a:p>
          <a:p>
            <a:endParaRPr lang="en-TW" dirty="0"/>
          </a:p>
        </p:txBody>
      </p:sp>
      <p:pic>
        <p:nvPicPr>
          <p:cNvPr id="4" name="Picture 2" descr="page4image17777312">
            <a:extLst>
              <a:ext uri="{FF2B5EF4-FFF2-40B4-BE49-F238E27FC236}">
                <a16:creationId xmlns:a16="http://schemas.microsoft.com/office/drawing/2014/main" id="{13D31D8D-764D-4661-402A-58E158065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243" y="3329058"/>
            <a:ext cx="4905513" cy="316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253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B270-3F8F-0778-598E-DBFAF6BD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VGG19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3283C-8E64-8C58-72F5-2690A4B3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CNN learns how to create useful </a:t>
            </a:r>
            <a:r>
              <a:rPr lang="en-US" dirty="0">
                <a:solidFill>
                  <a:srgbClr val="FF0000"/>
                </a:solidFill>
              </a:rPr>
              <a:t>representations</a:t>
            </a:r>
            <a:r>
              <a:rPr lang="en-US" dirty="0"/>
              <a:t> of the data to differentiate between different classes.</a:t>
            </a:r>
            <a:endParaRPr lang="en-TW" dirty="0"/>
          </a:p>
        </p:txBody>
      </p:sp>
      <p:pic>
        <p:nvPicPr>
          <p:cNvPr id="4" name="Picture 2" descr="page4image17777312">
            <a:extLst>
              <a:ext uri="{FF2B5EF4-FFF2-40B4-BE49-F238E27FC236}">
                <a16:creationId xmlns:a16="http://schemas.microsoft.com/office/drawing/2014/main" id="{13D31D8D-764D-4661-402A-58E1580655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243" y="3329058"/>
            <a:ext cx="4905513" cy="3163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179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B270-3F8F-0778-598E-DBFAF6BD17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VGG19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3283C-8E64-8C58-72F5-2690A4B338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this tutorial, we are going to use VGG19 pretrained on ImageNet for visualization.</a:t>
            </a:r>
          </a:p>
          <a:p>
            <a:r>
              <a:rPr lang="en-TW" altLang="en-TW" dirty="0"/>
              <a:t>ImageNet is a large dataset used in ImageNet Large Scale Visual Recognition Challenge(ILSVRC). The training dataset contains around 1.2 million images composed of 1000 different types of objects    </a:t>
            </a:r>
          </a:p>
          <a:p>
            <a:endParaRPr lang="en-US" dirty="0"/>
          </a:p>
          <a:p>
            <a:endParaRPr lang="en-TW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3FDDEC-30AA-903A-767B-7BAF326A81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1883" y="4393097"/>
            <a:ext cx="4860234" cy="2099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622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about Pretrained Networks...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Pretrained network is useful and convenient for several further usages, such as </a:t>
            </a:r>
            <a:r>
              <a:rPr lang="en-US" dirty="0">
                <a:solidFill>
                  <a:srgbClr val="FF0000"/>
                </a:solidFill>
              </a:rPr>
              <a:t>style transfer, transfer learning, fine-tuning</a:t>
            </a:r>
            <a:r>
              <a:rPr lang="en-US" dirty="0"/>
              <a:t>, and so on.</a:t>
            </a:r>
          </a:p>
          <a:p>
            <a:r>
              <a:rPr lang="en-US" dirty="0"/>
              <a:t>Generally, using pretrained network can save a lot of time and also easier to train a model on more complex dataset or small dataset.</a:t>
            </a:r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763485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5E09-E4F8-AF92-D0F7-6ABA87F9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3E30-5FB9-41C9-72E0-9002CD3B6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/>
              <a:t>Visualization </a:t>
            </a:r>
          </a:p>
          <a:p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Neural Style Transfer</a:t>
            </a:r>
          </a:p>
          <a:p>
            <a:pPr lvl="1"/>
            <a:r>
              <a:rPr lang="en-TW" altLang="en-TW" dirty="0">
                <a:solidFill>
                  <a:schemeClr val="bg1">
                    <a:lumMod val="85000"/>
                  </a:schemeClr>
                </a:solidFill>
              </a:rPr>
              <a:t>A Neural Algorithm of Artistic Style </a:t>
            </a:r>
          </a:p>
          <a:p>
            <a:pPr lvl="1"/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AdaIN (Adaptive Instance Normalization)</a:t>
            </a:r>
          </a:p>
          <a:p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Save and Load models (Checkpoints)</a:t>
            </a:r>
          </a:p>
        </p:txBody>
      </p:sp>
      <p:pic>
        <p:nvPicPr>
          <p:cNvPr id="1029" name="Picture 5" descr="page3image853840">
            <a:extLst>
              <a:ext uri="{FF2B5EF4-FFF2-40B4-BE49-F238E27FC236}">
                <a16:creationId xmlns:a16="http://schemas.microsoft.com/office/drawing/2014/main" id="{FB79422D-EFF6-3BB7-CC4C-E6AF7967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35433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EEFDDD6A-C4EA-B77C-C29E-A58D2114B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TW" altLang="en-TW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38922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Filters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Visualize the weights of the convolution filters to help us understand </a:t>
            </a:r>
            <a:r>
              <a:rPr lang="en-US" dirty="0">
                <a:solidFill>
                  <a:srgbClr val="FF0000"/>
                </a:solidFill>
              </a:rPr>
              <a:t>what neural network have learned</a:t>
            </a:r>
            <a:r>
              <a:rPr lang="en-US" dirty="0"/>
              <a:t>.</a:t>
            </a:r>
          </a:p>
          <a:p>
            <a:r>
              <a:rPr lang="en-US" dirty="0"/>
              <a:t>Learned filters are simply weights, yet because of the specialized two-dimensional structure of the filters, the weight values have a spatial relationship to each other and plotting each filter as a two-dimensional image is meaningful (or could be)</a:t>
            </a:r>
          </a:p>
        </p:txBody>
      </p:sp>
    </p:spTree>
    <p:extLst>
      <p:ext uri="{BB962C8B-B14F-4D97-AF65-F5344CB8AC3E}">
        <p14:creationId xmlns:p14="http://schemas.microsoft.com/office/powerpoint/2010/main" val="4875582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Filters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look at some filters in the first convolutional layer.</a:t>
            </a:r>
          </a:p>
          <a:p>
            <a:r>
              <a:rPr lang="en-US" dirty="0"/>
              <a:t>The dark squares indicate small or inhibitory weights and the light squares represent large or excitatory weights.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4D603-F3F6-62FF-EBDE-4345E3216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550" y="4229099"/>
            <a:ext cx="21209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00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Feature Maps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Activation maps, called feature maps, capture the result of applying the filters to input, such as the input image or another feature map.</a:t>
            </a:r>
          </a:p>
          <a:p>
            <a:r>
              <a:rPr lang="en-US" dirty="0"/>
              <a:t>The idea of visualizing a feature map for a specific input image would be to understand </a:t>
            </a:r>
            <a:r>
              <a:rPr lang="en-US" dirty="0">
                <a:solidFill>
                  <a:srgbClr val="FF0000"/>
                </a:solidFill>
              </a:rPr>
              <a:t>what features of the input are detected or preserved </a:t>
            </a:r>
            <a:r>
              <a:rPr lang="en-US" dirty="0"/>
              <a:t>in the feature maps</a:t>
            </a:r>
          </a:p>
        </p:txBody>
      </p:sp>
      <p:pic>
        <p:nvPicPr>
          <p:cNvPr id="9217" name="Picture 1" descr="page11image797664">
            <a:extLst>
              <a:ext uri="{FF2B5EF4-FFF2-40B4-BE49-F238E27FC236}">
                <a16:creationId xmlns:a16="http://schemas.microsoft.com/office/drawing/2014/main" id="{C1A0171F-27D6-2185-22EC-0FB036BE90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7132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Feature Maps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Result of applying the filters in the first convolutional layer is a lot of versions of the input image with </a:t>
            </a:r>
            <a:r>
              <a:rPr lang="en-US" dirty="0">
                <a:solidFill>
                  <a:srgbClr val="FF0000"/>
                </a:solidFill>
              </a:rPr>
              <a:t>different features highlighted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F779C51-623A-CAF8-6DE8-03F52A791E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120" y="3339316"/>
            <a:ext cx="3005759" cy="2972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2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“Deeper” Feature Maps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Let's visualize the feature maps output from each block of VGG19.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586946C-A116-5A7A-C656-66074616B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092" y="2867105"/>
            <a:ext cx="5445815" cy="3444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005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6A924EE-D8FD-1B39-4F38-5045E556E7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739" y="0"/>
            <a:ext cx="705652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0258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EA3954-8544-7F23-2C8D-FB4461E9CB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500" y="0"/>
            <a:ext cx="7029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305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7E672F-E7D3-27DE-2184-E2DBAB9A4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680" y="0"/>
            <a:ext cx="70206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98595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4938E5-73DD-6AC3-B83E-DB296A85BC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001" y="0"/>
            <a:ext cx="70479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88166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DA59B0D-6393-CD3E-6D27-06378380B8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87" y="0"/>
            <a:ext cx="70292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20567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“Deeper” Feature Maps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Feature maps </a:t>
            </a:r>
            <a:r>
              <a:rPr lang="en-US" dirty="0">
                <a:solidFill>
                  <a:srgbClr val="FF0000"/>
                </a:solidFill>
              </a:rPr>
              <a:t>closer to the input </a:t>
            </a:r>
            <a:r>
              <a:rPr lang="en-US" dirty="0"/>
              <a:t>of the model capture </a:t>
            </a:r>
            <a:r>
              <a:rPr lang="en-US" dirty="0">
                <a:solidFill>
                  <a:srgbClr val="FF0000"/>
                </a:solidFill>
              </a:rPr>
              <a:t>a lot of fine detail </a:t>
            </a:r>
            <a:r>
              <a:rPr lang="en-US" dirty="0"/>
              <a:t>in the image and that as we progress deeper into the model, the feature maps show less and less detail.</a:t>
            </a:r>
          </a:p>
          <a:p>
            <a:r>
              <a:rPr lang="en-US" dirty="0"/>
              <a:t>This pattern was to be expected, as the model abstracts the features from the image into more general concepts that can be used to make a classification.</a:t>
            </a:r>
          </a:p>
          <a:p>
            <a:r>
              <a:rPr lang="en-US" dirty="0"/>
              <a:t>block 1 block 2 block 3 block 4 block 5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76118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Visualize “Deeper” Feature Maps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block 1      block 2       block 3      block 4      block 5</a:t>
            </a:r>
          </a:p>
          <a:p>
            <a:endParaRPr lang="en-US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5" name="Picture 3" descr="page19image17458144">
            <a:extLst>
              <a:ext uri="{FF2B5EF4-FFF2-40B4-BE49-F238E27FC236}">
                <a16:creationId xmlns:a16="http://schemas.microsoft.com/office/drawing/2014/main" id="{5E0700A1-0B54-E10C-A244-28933E6E1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863" y="2405912"/>
            <a:ext cx="1535818" cy="148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6" name="Picture 4" descr="page19image17463632">
            <a:extLst>
              <a:ext uri="{FF2B5EF4-FFF2-40B4-BE49-F238E27FC236}">
                <a16:creationId xmlns:a16="http://schemas.microsoft.com/office/drawing/2014/main" id="{15808AD1-2E15-B0E2-7FE3-DAAB7C8F22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681" y="2399030"/>
            <a:ext cx="4677575" cy="148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7" name="Picture 5" descr="page19image17450640">
            <a:extLst>
              <a:ext uri="{FF2B5EF4-FFF2-40B4-BE49-F238E27FC236}">
                <a16:creationId xmlns:a16="http://schemas.microsoft.com/office/drawing/2014/main" id="{BC06E404-4841-54D4-95F1-7700C21EC8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1256" y="2399030"/>
            <a:ext cx="1496389" cy="148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2917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Gradients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Visualizing convolutional output is a pretty useful technique for visualizing shallow convolution layers.</a:t>
            </a:r>
          </a:p>
          <a:p>
            <a:r>
              <a:rPr lang="en-US" dirty="0"/>
              <a:t>Unfortunately, when we get into the deeper layers, it’s hard to understand them just by just looking at the convolution output.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4713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Gradients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we want to understand what the deeper layers are really doing, we can try to use backpropagation to show us the gradients of a particular neuron with respect to our input image, which is called </a:t>
            </a:r>
            <a:r>
              <a:rPr lang="en-US" dirty="0">
                <a:solidFill>
                  <a:srgbClr val="FF0000"/>
                </a:solidFill>
              </a:rPr>
              <a:t>saliency map</a:t>
            </a:r>
            <a:r>
              <a:rPr lang="en-US" dirty="0"/>
              <a:t>.</a:t>
            </a:r>
          </a:p>
          <a:p>
            <a:r>
              <a:rPr lang="en-US" dirty="0"/>
              <a:t>We will make a forward pass up to the layer that we are interested in, and then backpropagate to help us understand which pixels contributed the most to the activation of that layer.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5349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Gradients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 the gradient of maximum neurons among all activations in the required layer with respect to the input image.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1" name="Picture 1" descr="page22image17201152">
            <a:extLst>
              <a:ext uri="{FF2B5EF4-FFF2-40B4-BE49-F238E27FC236}">
                <a16:creationId xmlns:a16="http://schemas.microsoft.com/office/drawing/2014/main" id="{4A9BDDCF-6F89-F205-214A-214A697849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9050" y="3429000"/>
            <a:ext cx="6565900" cy="2162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58896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Visualize Gradients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 also visualize the gradient of any single feature map.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09" name="Picture 1" descr="page23image16879104">
            <a:extLst>
              <a:ext uri="{FF2B5EF4-FFF2-40B4-BE49-F238E27FC236}">
                <a16:creationId xmlns:a16="http://schemas.microsoft.com/office/drawing/2014/main" id="{BACB4F3C-4C1C-2D3F-BE30-C9C1DCC24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1559" y="3429000"/>
            <a:ext cx="6700882" cy="2206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34972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Guided-Backpropagation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 we can see above, the results are still hard to explain and not very satisfying.</a:t>
            </a:r>
          </a:p>
          <a:p>
            <a:r>
              <a:rPr lang="en-US" dirty="0"/>
              <a:t>Ideally, neurons act like detectors of particular image features. We are only interested in </a:t>
            </a:r>
            <a:r>
              <a:rPr lang="en-US" dirty="0">
                <a:solidFill>
                  <a:srgbClr val="FF0000"/>
                </a:solidFill>
              </a:rPr>
              <a:t>what image features the neuron detects</a:t>
            </a:r>
            <a:r>
              <a:rPr lang="en-US" dirty="0"/>
              <a:t>, not in what kind of stuff it doesn’t detect. </a:t>
            </a:r>
          </a:p>
          <a:p>
            <a:r>
              <a:rPr lang="en-US" dirty="0"/>
              <a:t>Therefore, when propagating the gradient, we set all the negative gradients to 0.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12697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Guided-Backpropagation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Thus, the gradient is </a:t>
            </a:r>
            <a:r>
              <a:rPr lang="en-US" dirty="0">
                <a:solidFill>
                  <a:srgbClr val="FF0000"/>
                </a:solidFill>
              </a:rPr>
              <a:t>“guided” by both the input and the error signal</a:t>
            </a:r>
            <a:r>
              <a:rPr lang="en-US" dirty="0"/>
              <a:t>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57" name="Picture 1" descr="page25image17202944">
            <a:extLst>
              <a:ext uri="{FF2B5EF4-FFF2-40B4-BE49-F238E27FC236}">
                <a16:creationId xmlns:a16="http://schemas.microsoft.com/office/drawing/2014/main" id="{52037593-0840-5C92-F5DB-D7345E3F71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787" y="2945658"/>
            <a:ext cx="6788426" cy="3071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8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Guided-Backpropagation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Thus, the gradient is </a:t>
            </a:r>
            <a:r>
              <a:rPr lang="en-US" dirty="0">
                <a:solidFill>
                  <a:srgbClr val="FF0000"/>
                </a:solidFill>
              </a:rPr>
              <a:t>“guided” by both the input and the error signal</a:t>
            </a:r>
            <a:r>
              <a:rPr lang="en-US" dirty="0"/>
              <a:t>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5" name="Picture 1" descr="page26image16850480">
            <a:extLst>
              <a:ext uri="{FF2B5EF4-FFF2-40B4-BE49-F238E27FC236}">
                <a16:creationId xmlns:a16="http://schemas.microsoft.com/office/drawing/2014/main" id="{28DDCE7A-2DEC-A499-FE45-1CB7F54E7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539" y="2965763"/>
            <a:ext cx="6840922" cy="32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9406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Guided-Backpropagation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Thus, the gradient is </a:t>
            </a:r>
            <a:r>
              <a:rPr lang="en-US" dirty="0">
                <a:solidFill>
                  <a:srgbClr val="FF0000"/>
                </a:solidFill>
              </a:rPr>
              <a:t>“guided” by both the input and the error signal</a:t>
            </a:r>
            <a:r>
              <a:rPr lang="en-US" dirty="0"/>
              <a:t>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05" name="Picture 1" descr="page26image16850480">
            <a:extLst>
              <a:ext uri="{FF2B5EF4-FFF2-40B4-BE49-F238E27FC236}">
                <a16:creationId xmlns:a16="http://schemas.microsoft.com/office/drawing/2014/main" id="{28DDCE7A-2DEC-A499-FE45-1CB7F54E7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539" y="2965763"/>
            <a:ext cx="6840922" cy="321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2391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5E09-E4F8-AF92-D0F7-6ABA87F9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3E30-5FB9-41C9-72E0-9002CD3B6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Visualization</a:t>
            </a:r>
            <a:r>
              <a:rPr lang="en-TW" dirty="0"/>
              <a:t> </a:t>
            </a:r>
          </a:p>
          <a:p>
            <a:r>
              <a:rPr lang="en-TW" dirty="0"/>
              <a:t>Neural Style Transfer</a:t>
            </a:r>
          </a:p>
          <a:p>
            <a:pPr lvl="1"/>
            <a:r>
              <a:rPr lang="en-TW" altLang="en-TW" dirty="0"/>
              <a:t>A Neural Algorithm of Artistic Style </a:t>
            </a:r>
          </a:p>
          <a:p>
            <a:pPr lvl="1"/>
            <a:r>
              <a:rPr lang="en-TW" dirty="0"/>
              <a:t>AdaIN (Adaptive Instance Normalization)</a:t>
            </a:r>
          </a:p>
        </p:txBody>
      </p:sp>
      <p:pic>
        <p:nvPicPr>
          <p:cNvPr id="1029" name="Picture 5" descr="page3image853840">
            <a:extLst>
              <a:ext uri="{FF2B5EF4-FFF2-40B4-BE49-F238E27FC236}">
                <a16:creationId xmlns:a16="http://schemas.microsoft.com/office/drawing/2014/main" id="{FB79422D-EFF6-3BB7-CC4C-E6AF7967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35433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EEFDDD6A-C4EA-B77C-C29E-A58D2114B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TW" altLang="en-TW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88663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Neural Style Transfer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Leon </a:t>
            </a:r>
            <a:r>
              <a:rPr lang="en-US" dirty="0" err="1"/>
              <a:t>Gatys</a:t>
            </a:r>
            <a:r>
              <a:rPr lang="en-US" dirty="0"/>
              <a:t> and his co-authors has a very interesting work called "</a:t>
            </a:r>
            <a:r>
              <a:rPr lang="en-US" dirty="0">
                <a:solidFill>
                  <a:srgbClr val="FF0000"/>
                </a:solidFill>
              </a:rPr>
              <a:t>A Neural Algorithm of Artistic Style</a:t>
            </a:r>
            <a:r>
              <a:rPr lang="en-US" dirty="0"/>
              <a:t>" that uses neural representations to separate and </a:t>
            </a:r>
            <a:r>
              <a:rPr lang="en-US" dirty="0">
                <a:solidFill>
                  <a:srgbClr val="FF0000"/>
                </a:solidFill>
              </a:rPr>
              <a:t>recombine content and style of arbitrary images</a:t>
            </a:r>
            <a:r>
              <a:rPr lang="en-US" dirty="0"/>
              <a:t>, providing a neural algorithm for the creation of artistic images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9" name="Picture 3" descr="page28image17464752">
            <a:extLst>
              <a:ext uri="{FF2B5EF4-FFF2-40B4-BE49-F238E27FC236}">
                <a16:creationId xmlns:a16="http://schemas.microsoft.com/office/drawing/2014/main" id="{A7E94FE6-AEA1-74A1-CA07-E61FF08D2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858" y="4185444"/>
            <a:ext cx="5850283" cy="230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7" name="Picture 1" descr="page28image768016">
            <a:extLst>
              <a:ext uri="{FF2B5EF4-FFF2-40B4-BE49-F238E27FC236}">
                <a16:creationId xmlns:a16="http://schemas.microsoft.com/office/drawing/2014/main" id="{DADACBDF-4190-5E2E-C571-37863183DB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1959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 Neural Style Transfer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579" name="Picture 3" descr="page28image17464752">
            <a:extLst>
              <a:ext uri="{FF2B5EF4-FFF2-40B4-BE49-F238E27FC236}">
                <a16:creationId xmlns:a16="http://schemas.microsoft.com/office/drawing/2014/main" id="{A7E94FE6-AEA1-74A1-CA07-E61FF08D22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6858" y="1825625"/>
            <a:ext cx="5850283" cy="23074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2" name="Picture 2" descr="page29image16881232">
            <a:extLst>
              <a:ext uri="{FF2B5EF4-FFF2-40B4-BE49-F238E27FC236}">
                <a16:creationId xmlns:a16="http://schemas.microsoft.com/office/drawing/2014/main" id="{B062C66E-848A-DD81-9FAB-E1FC97B8A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958" y="4267991"/>
            <a:ext cx="3262084" cy="2172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608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5E09-E4F8-AF92-D0F7-6ABA87F9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3E30-5FB9-41C9-72E0-9002CD3B6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Visualization</a:t>
            </a:r>
            <a:r>
              <a:rPr lang="en-TW" dirty="0"/>
              <a:t> </a:t>
            </a:r>
          </a:p>
          <a:p>
            <a:r>
              <a:rPr lang="en-TW" dirty="0"/>
              <a:t>Neural Style Transfer</a:t>
            </a:r>
          </a:p>
          <a:p>
            <a:pPr lvl="1"/>
            <a:r>
              <a:rPr lang="en-TW" altLang="en-TW" dirty="0"/>
              <a:t>A Neural Algorithm of Artistic Style </a:t>
            </a:r>
          </a:p>
          <a:p>
            <a:pPr lvl="1"/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AdaIN (Adaptive Instance Normalization)</a:t>
            </a:r>
          </a:p>
        </p:txBody>
      </p:sp>
      <p:pic>
        <p:nvPicPr>
          <p:cNvPr id="1029" name="Picture 5" descr="page3image853840">
            <a:extLst>
              <a:ext uri="{FF2B5EF4-FFF2-40B4-BE49-F238E27FC236}">
                <a16:creationId xmlns:a16="http://schemas.microsoft.com/office/drawing/2014/main" id="{FB79422D-EFF6-3BB7-CC4C-E6AF7967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35433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EEFDDD6A-C4EA-B77C-C29E-A58D2114B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TW" altLang="en-TW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6251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a high level, in order for a network to perform image classification, it must understand the image.</a:t>
            </a:r>
          </a:p>
          <a:p>
            <a:r>
              <a:rPr lang="en-US" dirty="0"/>
              <a:t>This requires taking the raw image as input pixels and building an internal representation that converts the raw image pixels into a complex understanding of the features present within the image.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924883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intermediate layers of the model to get the content and style representations of the image.</a:t>
            </a:r>
          </a:p>
          <a:p>
            <a:r>
              <a:rPr lang="en-US" dirty="0"/>
              <a:t>Content representation</a:t>
            </a:r>
          </a:p>
          <a:p>
            <a:r>
              <a:rPr lang="en-US" dirty="0"/>
              <a:t>Style representation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7767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intermediate layers of the model to get the content and style representations of the image.</a:t>
            </a:r>
          </a:p>
          <a:p>
            <a:r>
              <a:rPr lang="en-US" dirty="0"/>
              <a:t>Content representation</a:t>
            </a:r>
          </a:p>
          <a:p>
            <a:pPr lvl="1"/>
            <a:r>
              <a:rPr lang="en-US" dirty="0"/>
              <a:t>Content features of the content image is calculated by feeding the content image into the neural network, and extract the activations of those.</a:t>
            </a:r>
          </a:p>
          <a:p>
            <a:pPr marL="457200" lvl="1" indent="0">
              <a:buNone/>
            </a:pPr>
            <a:r>
              <a:rPr lang="en-US" sz="1800" dirty="0">
                <a:latin typeface="CourierNew"/>
              </a:rPr>
              <a:t>  </a:t>
            </a:r>
            <a:r>
              <a:rPr lang="en-US" sz="1800" dirty="0" err="1">
                <a:effectLst/>
                <a:highlight>
                  <a:srgbClr val="C0C0C0"/>
                </a:highlight>
                <a:latin typeface="CourierNew"/>
              </a:rPr>
              <a:t>content_layers</a:t>
            </a:r>
            <a:r>
              <a:rPr lang="en-US" sz="1800" dirty="0">
                <a:effectLst/>
                <a:latin typeface="CourierNew"/>
              </a:rPr>
              <a:t> </a:t>
            </a:r>
            <a:endParaRPr lang="en-US" dirty="0"/>
          </a:p>
          <a:p>
            <a:r>
              <a:rPr lang="en-US" dirty="0"/>
              <a:t>Style representation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99926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45EED8-6006-5967-F6D6-1C3FD8EA5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Use the intermediate layers of the model to get the content and style representations of the image.</a:t>
            </a:r>
          </a:p>
          <a:p>
            <a:r>
              <a:rPr lang="en-US" dirty="0"/>
              <a:t>Content representation</a:t>
            </a:r>
          </a:p>
          <a:p>
            <a:r>
              <a:rPr lang="en-US" dirty="0"/>
              <a:t>Style representation</a:t>
            </a:r>
          </a:p>
          <a:p>
            <a:pPr lvl="1"/>
            <a:r>
              <a:rPr lang="en-US" dirty="0"/>
              <a:t>For style features, we extract the </a:t>
            </a:r>
            <a:r>
              <a:rPr lang="en-US" dirty="0">
                <a:solidFill>
                  <a:srgbClr val="FF0000"/>
                </a:solidFill>
              </a:rPr>
              <a:t>correlation of the features </a:t>
            </a:r>
            <a:r>
              <a:rPr lang="en-US" dirty="0"/>
              <a:t>of the style-image layer-wise (gram matrix). By adding up the feature correlations of multiple layers, which corresponding to </a:t>
            </a:r>
            <a:r>
              <a:rPr lang="en-US" dirty="0" err="1">
                <a:solidFill>
                  <a:srgbClr val="FF0000"/>
                </a:solidFill>
              </a:rPr>
              <a:t>style_layers</a:t>
            </a:r>
            <a:r>
              <a:rPr lang="en-US" dirty="0"/>
              <a:t>, we obtain a multi-scale representation of the input image, which </a:t>
            </a:r>
            <a:r>
              <a:rPr lang="en-US" dirty="0">
                <a:solidFill>
                  <a:srgbClr val="FF0000"/>
                </a:solidFill>
              </a:rPr>
              <a:t>captures its texture information</a:t>
            </a:r>
            <a:r>
              <a:rPr lang="en-US" dirty="0"/>
              <a:t> instead of the object arrangement in the input image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2081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697" name="Picture 1" descr="page33image16962928">
            <a:extLst>
              <a:ext uri="{FF2B5EF4-FFF2-40B4-BE49-F238E27FC236}">
                <a16:creationId xmlns:a16="http://schemas.microsoft.com/office/drawing/2014/main" id="{95BD5384-72C9-8651-EF22-1C601998ACD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045" y="1690689"/>
            <a:ext cx="6613909" cy="4589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80553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4371-190D-F402-25A5-F97C60826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Our goal is to create an output image which is synthesized by finding an image that simultaneously matches the </a:t>
            </a:r>
            <a:r>
              <a:rPr lang="en-US" dirty="0">
                <a:solidFill>
                  <a:srgbClr val="FF0000"/>
                </a:solidFill>
              </a:rPr>
              <a:t>content</a:t>
            </a:r>
            <a:r>
              <a:rPr lang="en-US" dirty="0"/>
              <a:t> features of the photograph and the </a:t>
            </a:r>
            <a:r>
              <a:rPr lang="en-US" dirty="0">
                <a:solidFill>
                  <a:srgbClr val="FF0000"/>
                </a:solidFill>
              </a:rPr>
              <a:t>style</a:t>
            </a:r>
            <a:r>
              <a:rPr lang="en-US" dirty="0"/>
              <a:t> features of the respective piece of art.</a:t>
            </a:r>
          </a:p>
          <a:p>
            <a:r>
              <a:rPr lang="en-US" dirty="0"/>
              <a:t>We can define the loss function as the composition of the </a:t>
            </a:r>
            <a:r>
              <a:rPr lang="en-US" dirty="0">
                <a:solidFill>
                  <a:srgbClr val="FF0000"/>
                </a:solidFill>
              </a:rPr>
              <a:t>dissimilarity</a:t>
            </a:r>
            <a:r>
              <a:rPr lang="en-US" dirty="0"/>
              <a:t> of:</a:t>
            </a:r>
          </a:p>
          <a:p>
            <a:pPr lvl="1"/>
            <a:r>
              <a:rPr lang="en-US" dirty="0"/>
              <a:t>The content features between the output image and the content image.</a:t>
            </a:r>
          </a:p>
          <a:p>
            <a:pPr lvl="1"/>
            <a:r>
              <a:rPr lang="en-US" dirty="0"/>
              <a:t>The style features between the output image and the style image .</a:t>
            </a:r>
          </a:p>
          <a:p>
            <a:endParaRPr lang="en-TW" dirty="0"/>
          </a:p>
        </p:txBody>
      </p:sp>
    </p:spTree>
    <p:extLst>
      <p:ext uri="{BB962C8B-B14F-4D97-AF65-F5344CB8AC3E}">
        <p14:creationId xmlns:p14="http://schemas.microsoft.com/office/powerpoint/2010/main" val="17614694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4371-190D-F402-25A5-F97C60826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 loss</a:t>
            </a:r>
            <a:endParaRPr lang="en-TW" dirty="0"/>
          </a:p>
          <a:p>
            <a:pPr lvl="1"/>
            <a:r>
              <a:rPr lang="en-US" dirty="0"/>
              <a:t>Minimize squared-error loss between two feature representations, where F and P are the representations of original and the generated image respectively.</a:t>
            </a:r>
          </a:p>
        </p:txBody>
      </p:sp>
      <p:pic>
        <p:nvPicPr>
          <p:cNvPr id="31745" name="Picture 1" descr="page35image16883360">
            <a:extLst>
              <a:ext uri="{FF2B5EF4-FFF2-40B4-BE49-F238E27FC236}">
                <a16:creationId xmlns:a16="http://schemas.microsoft.com/office/drawing/2014/main" id="{EDB278BE-B37F-AFC1-AE99-4A4F47C08D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7926" y="3429000"/>
            <a:ext cx="3568148" cy="626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83880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BA4371-190D-F402-25A5-F97C608263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Style loss</a:t>
            </a:r>
          </a:p>
          <a:p>
            <a:pPr lvl="1"/>
            <a:r>
              <a:rPr lang="en-US" dirty="0"/>
              <a:t>Use </a:t>
            </a:r>
            <a:r>
              <a:rPr lang="en-US" dirty="0">
                <a:solidFill>
                  <a:srgbClr val="FF0000"/>
                </a:solidFill>
              </a:rPr>
              <a:t>Gram matrix </a:t>
            </a:r>
            <a:r>
              <a:rPr lang="en-US" dirty="0"/>
              <a:t>to calculate style loss, consisting feature correlations between the different filter responses. Minimize the mean-squared distance between two Gram matrices. A and G represents original and generated image respectively, and w are weighting factors</a:t>
            </a:r>
          </a:p>
        </p:txBody>
      </p:sp>
      <p:pic>
        <p:nvPicPr>
          <p:cNvPr id="33793" name="Picture 1" descr="page35image16884032">
            <a:extLst>
              <a:ext uri="{FF2B5EF4-FFF2-40B4-BE49-F238E27FC236}">
                <a16:creationId xmlns:a16="http://schemas.microsoft.com/office/drawing/2014/main" id="{828AA084-ABF4-755C-EA7E-B3A83614D0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599" y="4482548"/>
            <a:ext cx="1967948" cy="591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4" name="Picture 2" descr="page35image16891424">
            <a:extLst>
              <a:ext uri="{FF2B5EF4-FFF2-40B4-BE49-F238E27FC236}">
                <a16:creationId xmlns:a16="http://schemas.microsoft.com/office/drawing/2014/main" id="{57A40DD5-D87B-571D-664B-277DA99AFE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2496" y="4412974"/>
            <a:ext cx="3627783" cy="744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795" name="Picture 3" descr="page35image16880112">
            <a:extLst>
              <a:ext uri="{FF2B5EF4-FFF2-40B4-BE49-F238E27FC236}">
                <a16:creationId xmlns:a16="http://schemas.microsoft.com/office/drawing/2014/main" id="{B2A030A6-0A8C-0EA0-E4DF-B1A771CF5A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1748" y="5341197"/>
            <a:ext cx="2341496" cy="7345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12647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841" name="Picture 1" descr="page36image17548720">
            <a:extLst>
              <a:ext uri="{FF2B5EF4-FFF2-40B4-BE49-F238E27FC236}">
                <a16:creationId xmlns:a16="http://schemas.microsoft.com/office/drawing/2014/main" id="{FDBE66CD-6E0F-E099-20E8-9992121B8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300" y="1825625"/>
            <a:ext cx="7391400" cy="4103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0523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13A56E-ED08-2516-3A63-1D3D29AC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So far, we have learned how to train a neural network by using gradient descent to update the weights.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 to use the loss function we have defined?</a:t>
            </a:r>
          </a:p>
          <a:p>
            <a:pPr lvl="1"/>
            <a:r>
              <a:rPr lang="en-US" dirty="0"/>
              <a:t>We have to update our input image!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FE96C8-1383-D38E-0043-E4410C1DA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3760" y="3105978"/>
            <a:ext cx="520424" cy="6460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94D111-D89F-0B20-0E34-8E691B1BD1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93760" y="5032374"/>
            <a:ext cx="465151" cy="64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3362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6E227C7-0EE2-13FE-4308-0DC794BBC1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619664"/>
            <a:ext cx="7772400" cy="3414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790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DDF2774-6A4E-601A-A65A-366A71863C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274490"/>
            <a:ext cx="7772400" cy="5403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51849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FA2E-A955-35AE-27CA-7FD99F6D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Decrease these using an explicit regularization term on the high frequency components of the image. In style transfer, this is often called the total variation loss.</a:t>
            </a:r>
          </a:p>
        </p:txBody>
      </p:sp>
      <p:pic>
        <p:nvPicPr>
          <p:cNvPr id="39937" name="Picture 1" descr="page40image17338416">
            <a:extLst>
              <a:ext uri="{FF2B5EF4-FFF2-40B4-BE49-F238E27FC236}">
                <a16:creationId xmlns:a16="http://schemas.microsoft.com/office/drawing/2014/main" id="{A32C047D-2621-BA5B-36E8-C2DEBE9D1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7861" y="3594676"/>
            <a:ext cx="6268278" cy="23064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3197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Neural Algorithm of Artistic Style</a:t>
            </a:r>
            <a:endParaRPr lang="en-TW" dirty="0"/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FA2E-A955-35AE-27CA-7FD99F6D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w/ </a:t>
            </a:r>
            <a:r>
              <a:rPr lang="en-US" dirty="0" err="1"/>
              <a:t>total_loss</a:t>
            </a:r>
            <a:r>
              <a:rPr lang="en-US" dirty="0"/>
              <a:t>		   w/o </a:t>
            </a:r>
            <a:r>
              <a:rPr lang="en-US" dirty="0" err="1"/>
              <a:t>total_loss</a:t>
            </a:r>
            <a:endParaRPr lang="en-US" dirty="0"/>
          </a:p>
        </p:txBody>
      </p:sp>
      <p:pic>
        <p:nvPicPr>
          <p:cNvPr id="41985" name="Picture 1" descr="page41image16831296">
            <a:extLst>
              <a:ext uri="{FF2B5EF4-FFF2-40B4-BE49-F238E27FC236}">
                <a16:creationId xmlns:a16="http://schemas.microsoft.com/office/drawing/2014/main" id="{F8BA8EBC-0F8A-82C0-AF9F-780ADE297E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809" y="2376004"/>
            <a:ext cx="4091350" cy="273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986" name="Picture 2" descr="page41image16837568">
            <a:extLst>
              <a:ext uri="{FF2B5EF4-FFF2-40B4-BE49-F238E27FC236}">
                <a16:creationId xmlns:a16="http://schemas.microsoft.com/office/drawing/2014/main" id="{516EDED5-2875-9D86-C8DA-40508695D3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1757" y="2376004"/>
            <a:ext cx="4099892" cy="273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44454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C5E09-E4F8-AF92-D0F7-6ABA87F94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TW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63E30-5FB9-41C9-72E0-9002CD3B6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Visualization </a:t>
            </a:r>
          </a:p>
          <a:p>
            <a:r>
              <a:rPr lang="en-TW" dirty="0"/>
              <a:t>Neural Style Transfer</a:t>
            </a:r>
          </a:p>
          <a:p>
            <a:pPr lvl="1"/>
            <a:r>
              <a:rPr lang="en-TW" altLang="en-TW" dirty="0">
                <a:solidFill>
                  <a:schemeClr val="bg1">
                    <a:lumMod val="85000"/>
                  </a:schemeClr>
                </a:solidFill>
              </a:rPr>
              <a:t>A Neural Algorithm of Artistic Style </a:t>
            </a:r>
          </a:p>
          <a:p>
            <a:pPr lvl="1"/>
            <a:r>
              <a:rPr lang="en-TW" dirty="0"/>
              <a:t>AdaIN (Adaptive Instance Normalization)</a:t>
            </a:r>
          </a:p>
          <a:p>
            <a:r>
              <a:rPr lang="en-TW" dirty="0">
                <a:solidFill>
                  <a:schemeClr val="bg1">
                    <a:lumMod val="85000"/>
                  </a:schemeClr>
                </a:solidFill>
              </a:rPr>
              <a:t>Save and Load models (Checkpoints)</a:t>
            </a:r>
          </a:p>
        </p:txBody>
      </p:sp>
      <p:pic>
        <p:nvPicPr>
          <p:cNvPr id="1029" name="Picture 5" descr="page3image853840">
            <a:extLst>
              <a:ext uri="{FF2B5EF4-FFF2-40B4-BE49-F238E27FC236}">
                <a16:creationId xmlns:a16="http://schemas.microsoft.com/office/drawing/2014/main" id="{FB79422D-EFF6-3BB7-CC4C-E6AF7967F4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57250"/>
            <a:ext cx="3543300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6">
            <a:extLst>
              <a:ext uri="{FF2B5EF4-FFF2-40B4-BE49-F238E27FC236}">
                <a16:creationId xmlns:a16="http://schemas.microsoft.com/office/drawing/2014/main" id="{EEFDDD6A-C4EA-B77C-C29E-A58D2114BF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" y="890201"/>
            <a:ext cx="138564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</a:pPr>
            <a:endParaRPr lang="en-TW" altLang="en-TW" sz="135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19408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AdaIN</a:t>
            </a:r>
            <a:r>
              <a:rPr lang="en-US" dirty="0"/>
              <a:t> (Adaptive Instance Normalization)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FA2E-A955-35AE-27CA-7FD99F6D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The method we mentioned above requires a </a:t>
            </a:r>
            <a:r>
              <a:rPr lang="en-US" dirty="0">
                <a:solidFill>
                  <a:srgbClr val="FF0000"/>
                </a:solidFill>
              </a:rPr>
              <a:t>slow iterative optimization process</a:t>
            </a:r>
            <a:r>
              <a:rPr lang="en-US" dirty="0"/>
              <a:t>, which limits its practical application.</a:t>
            </a:r>
          </a:p>
          <a:p>
            <a:r>
              <a:rPr lang="en-US" dirty="0" err="1"/>
              <a:t>Xun</a:t>
            </a:r>
            <a:r>
              <a:rPr lang="en-US" dirty="0"/>
              <a:t> Huang and Serge </a:t>
            </a:r>
            <a:r>
              <a:rPr lang="en-US" dirty="0" err="1"/>
              <a:t>Belongie</a:t>
            </a:r>
            <a:r>
              <a:rPr lang="en-US" dirty="0"/>
              <a:t> from Cornell University propose another framework, which enables arbitrary style transfer in real-time, known as "</a:t>
            </a:r>
            <a:r>
              <a:rPr lang="en-US" dirty="0">
                <a:solidFill>
                  <a:srgbClr val="FF0000"/>
                </a:solidFill>
              </a:rPr>
              <a:t>Arbitrary Style Transfer in Real-time with Adaptive Instance Normalization</a:t>
            </a:r>
            <a:r>
              <a:rPr lang="en-US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1644859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AdaIN</a:t>
            </a:r>
            <a:r>
              <a:rPr lang="en-US" dirty="0"/>
              <a:t> (Adaptive Instance Normalization)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FA2E-A955-35AE-27CA-7FD99F6D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At the heart of this method is a novel Adaptive Instance Normalization (</a:t>
            </a:r>
            <a:r>
              <a:rPr lang="en-US" dirty="0" err="1"/>
              <a:t>AdaIN</a:t>
            </a:r>
            <a:r>
              <a:rPr lang="en-US" dirty="0"/>
              <a:t>) layer </a:t>
            </a:r>
            <a:r>
              <a:rPr lang="en-US" dirty="0">
                <a:solidFill>
                  <a:srgbClr val="FF0000"/>
                </a:solidFill>
              </a:rPr>
              <a:t>aligning the mean and variance</a:t>
            </a:r>
            <a:r>
              <a:rPr lang="en-US" dirty="0"/>
              <a:t> of the content features with those of the style features.</a:t>
            </a:r>
          </a:p>
          <a:p>
            <a:r>
              <a:rPr lang="en-US" dirty="0">
                <a:solidFill>
                  <a:srgbClr val="FF0000"/>
                </a:solidFill>
              </a:rPr>
              <a:t>Instance normalization </a:t>
            </a:r>
            <a:r>
              <a:rPr lang="en-US" dirty="0"/>
              <a:t>performs style normalization by normalizing feature statistics, which have been found to carry the style information of an image in the earlier works.</a:t>
            </a:r>
          </a:p>
        </p:txBody>
      </p:sp>
    </p:spTree>
    <p:extLst>
      <p:ext uri="{BB962C8B-B14F-4D97-AF65-F5344CB8AC3E}">
        <p14:creationId xmlns:p14="http://schemas.microsoft.com/office/powerpoint/2010/main" val="26378360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AdaIN</a:t>
            </a:r>
            <a:r>
              <a:rPr lang="en-US" dirty="0"/>
              <a:t> (Adaptive Instance Normalization)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057" name="Picture 1" descr="page45image17661808">
            <a:extLst>
              <a:ext uri="{FF2B5EF4-FFF2-40B4-BE49-F238E27FC236}">
                <a16:creationId xmlns:a16="http://schemas.microsoft.com/office/drawing/2014/main" id="{811BCAAF-0B75-3FFF-C498-8B600F1C6B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850" y="1862033"/>
            <a:ext cx="7988300" cy="3133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79884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AdaIN</a:t>
            </a:r>
            <a:r>
              <a:rPr lang="en-US" dirty="0"/>
              <a:t> (Adaptive Instance Normalization)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FA2E-A955-35AE-27CA-7FD99F6D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/>
              <a:t>What are encoder and decoder?</a:t>
            </a:r>
          </a:p>
          <a:p>
            <a:pPr lvl="1"/>
            <a:r>
              <a:rPr lang="en-US" dirty="0"/>
              <a:t>Take autoencoder as an example:</a:t>
            </a:r>
          </a:p>
        </p:txBody>
      </p:sp>
      <p:pic>
        <p:nvPicPr>
          <p:cNvPr id="46081" name="Picture 1" descr="page46image17191184">
            <a:extLst>
              <a:ext uri="{FF2B5EF4-FFF2-40B4-BE49-F238E27FC236}">
                <a16:creationId xmlns:a16="http://schemas.microsoft.com/office/drawing/2014/main" id="{0670D2B5-ED3F-E3E9-C1E1-65EA8D80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0398" y="3015259"/>
            <a:ext cx="6643204" cy="2386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22339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38C1-B1F0-8348-8BA8-4C298AD66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AdaIN</a:t>
            </a:r>
            <a:r>
              <a:rPr lang="en-US" dirty="0"/>
              <a:t> (Adaptive Instance Normalization)</a:t>
            </a:r>
          </a:p>
        </p:txBody>
      </p:sp>
      <p:pic>
        <p:nvPicPr>
          <p:cNvPr id="10241" name="Picture 1" descr="page11image797664">
            <a:extLst>
              <a:ext uri="{FF2B5EF4-FFF2-40B4-BE49-F238E27FC236}">
                <a16:creationId xmlns:a16="http://schemas.microsoft.com/office/drawing/2014/main" id="{3D932AD2-EE26-9857-98CF-560A76B9EE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072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601" name="Picture 1" descr="page28image768016">
            <a:extLst>
              <a:ext uri="{FF2B5EF4-FFF2-40B4-BE49-F238E27FC236}">
                <a16:creationId xmlns:a16="http://schemas.microsoft.com/office/drawing/2014/main" id="{2245643E-8D16-33C8-9DCC-838264C222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108700" cy="787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1FA2E-A955-35AE-27CA-7FD99F6D4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</p:spPr>
        <p:txBody>
          <a:bodyPr>
            <a:normAutofit/>
          </a:bodyPr>
          <a:lstStyle/>
          <a:p>
            <a:r>
              <a:rPr lang="en-US" dirty="0" err="1"/>
              <a:t>AdaIN</a:t>
            </a:r>
            <a:r>
              <a:rPr lang="en-US" dirty="0"/>
              <a:t> receives a content input and style input, and simply aligns the </a:t>
            </a:r>
            <a:r>
              <a:rPr lang="en-US" dirty="0">
                <a:solidFill>
                  <a:srgbClr val="FF0000"/>
                </a:solidFill>
              </a:rPr>
              <a:t>channel-wise mean and variance </a:t>
            </a:r>
            <a:r>
              <a:rPr lang="en-US" dirty="0"/>
              <a:t>of to match those of.</a:t>
            </a:r>
          </a:p>
          <a:p>
            <a:r>
              <a:rPr lang="en-US" dirty="0"/>
              <a:t>It is worth knowing that unlike BN(Batch Normalization), IN(Instance Normalization) or CIN(Conditional Instance Normalization), </a:t>
            </a:r>
            <a:r>
              <a:rPr lang="en-US" dirty="0" err="1"/>
              <a:t>AdaIN</a:t>
            </a:r>
            <a:r>
              <a:rPr lang="en-US" dirty="0"/>
              <a:t> has no learnable affine parameters. Instead, it adaptively computes the affine parameters from the style inputs:</a:t>
            </a:r>
          </a:p>
        </p:txBody>
      </p:sp>
      <p:pic>
        <p:nvPicPr>
          <p:cNvPr id="48129" name="Picture 1" descr="page47image17559584">
            <a:extLst>
              <a:ext uri="{FF2B5EF4-FFF2-40B4-BE49-F238E27FC236}">
                <a16:creationId xmlns:a16="http://schemas.microsoft.com/office/drawing/2014/main" id="{F1C13B75-2AE0-2032-2362-48DE1A801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7406" y="5438344"/>
            <a:ext cx="3489187" cy="101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5300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3" name="Picture 1" descr="page48image16879440">
            <a:extLst>
              <a:ext uri="{FF2B5EF4-FFF2-40B4-BE49-F238E27FC236}">
                <a16:creationId xmlns:a16="http://schemas.microsoft.com/office/drawing/2014/main" id="{ADCF7F70-AAD2-C1D7-C7C7-D0DCEFF71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261" y="430696"/>
            <a:ext cx="7995478" cy="5996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1314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1633</Words>
  <Application>Microsoft Macintosh PowerPoint</Application>
  <PresentationFormat>On-screen Show (4:3)</PresentationFormat>
  <Paragraphs>142</Paragraphs>
  <Slides>52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9" baseType="lpstr">
      <vt:lpstr>ArialMT</vt:lpstr>
      <vt:lpstr>CourierNew</vt:lpstr>
      <vt:lpstr>Aptos</vt:lpstr>
      <vt:lpstr>Arial</vt:lpstr>
      <vt:lpstr>Calibri</vt:lpstr>
      <vt:lpstr>Calibri Light</vt:lpstr>
      <vt:lpstr>Office Theme</vt:lpstr>
      <vt:lpstr>Deep Learning Lab 11-2  Visualization &amp; Style Transfer </vt:lpstr>
      <vt:lpstr>Outline</vt:lpstr>
      <vt:lpstr>VGG19</vt:lpstr>
      <vt:lpstr>VGG19</vt:lpstr>
      <vt:lpstr>VGG19</vt:lpstr>
      <vt:lpstr>More about Pretrained Networks...</vt:lpstr>
      <vt:lpstr>Outline</vt:lpstr>
      <vt:lpstr> Visualize Filters</vt:lpstr>
      <vt:lpstr> Visualize Filters</vt:lpstr>
      <vt:lpstr> Visualize Feature Maps</vt:lpstr>
      <vt:lpstr> Visualize Feature Maps</vt:lpstr>
      <vt:lpstr>Visualize “Deeper” Feature Maps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Visualize “Deeper” Feature Maps</vt:lpstr>
      <vt:lpstr>Visualize “Deeper” Feature Maps</vt:lpstr>
      <vt:lpstr> Visualize Gradients</vt:lpstr>
      <vt:lpstr> Visualize Gradients</vt:lpstr>
      <vt:lpstr> Visualize Gradients</vt:lpstr>
      <vt:lpstr> Visualize Gradients</vt:lpstr>
      <vt:lpstr> Guided-Backpropagation</vt:lpstr>
      <vt:lpstr> Guided-Backpropagation</vt:lpstr>
      <vt:lpstr> Guided-Backpropagation</vt:lpstr>
      <vt:lpstr> Guided-Backpropagation</vt:lpstr>
      <vt:lpstr>Outline</vt:lpstr>
      <vt:lpstr>  Neural Style Transfer</vt:lpstr>
      <vt:lpstr>  Neural Style Transfer</vt:lpstr>
      <vt:lpstr>Outline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A Neural Algorithm of Artistic Style</vt:lpstr>
      <vt:lpstr>Outline</vt:lpstr>
      <vt:lpstr>AdaIN (Adaptive Instance Normalization)</vt:lpstr>
      <vt:lpstr>AdaIN (Adaptive Instance Normalization)</vt:lpstr>
      <vt:lpstr>AdaIN (Adaptive Instance Normalization)</vt:lpstr>
      <vt:lpstr>AdaIN (Adaptive Instance Normalization)</vt:lpstr>
      <vt:lpstr>AdaIN (Adaptive Instance Normalization)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 Lab 12-2  Visualization &amp; Style Transfer </dc:title>
  <dc:creator>Microsoft Office User</dc:creator>
  <cp:lastModifiedBy>家昇 楊</cp:lastModifiedBy>
  <cp:revision>8</cp:revision>
  <cp:lastPrinted>2023-11-09T05:37:47Z</cp:lastPrinted>
  <dcterms:created xsi:type="dcterms:W3CDTF">2022-10-23T06:42:10Z</dcterms:created>
  <dcterms:modified xsi:type="dcterms:W3CDTF">2026-10-27T15:49:01Z</dcterms:modified>
</cp:coreProperties>
</file>